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Roboto"/>
      <p:regular r:id="rId28"/>
      <p:bold r:id="rId29"/>
      <p:italic r:id="rId30"/>
      <p:boldItalic r:id="rId31"/>
    </p:embeddedFont>
    <p:embeddedFont>
      <p:font typeface="Montserrat"/>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6" roundtripDataSignature="AMtx7mgz7HshSlTIsfJN4nnLfG4TPDQbn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Author clrIdx="0" id="0" initials="" lastIdx="3" name="William Wu"/>
  <p:cmAuthor clrIdx="1" id="1" initials="" lastIdx="2" name="Paul Cho"/>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F1D6D5C5-111E-48B5-814E-87AFD66F32DF}">
  <a:tblStyle styleId="{F1D6D5C5-111E-48B5-814E-87AFD66F32DF}" styleName="Table_0">
    <a:wholeTbl>
      <a:tcTxStyle b="off" i="off">
        <a:font>
          <a:latin typeface="Arial"/>
          <a:ea typeface="Arial"/>
          <a:cs typeface="Arial"/>
        </a:font>
        <a:srgbClr val="3F3F3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CE6E7"/>
          </a:solidFill>
        </a:fill>
      </a:tcStyle>
    </a:wholeTbl>
    <a:band1H>
      <a:tcTxStyle b="off" i="off"/>
      <a:tcStyle>
        <a:fill>
          <a:solidFill>
            <a:srgbClr val="D6CACB"/>
          </a:solidFill>
        </a:fill>
      </a:tcStyle>
    </a:band1H>
    <a:band2H>
      <a:tcTxStyle b="off" i="off"/>
    </a:band2H>
    <a:band1V>
      <a:tcTxStyle b="off" i="off"/>
      <a:tcStyle>
        <a:fill>
          <a:solidFill>
            <a:srgbClr val="D6CACB"/>
          </a:solidFill>
        </a:fill>
      </a:tcStyle>
    </a:band1V>
    <a:band2V>
      <a:tcTxStyle b="off" i="off"/>
    </a:band2V>
    <a:lastCol>
      <a:tcTxStyle b="on" i="off">
        <a:font>
          <a:latin typeface="Arial"/>
          <a:ea typeface="Arial"/>
          <a:cs typeface="Arial"/>
        </a:font>
        <a:srgbClr val="FFFFFF"/>
      </a:tcTxStyle>
      <a:tcStyle>
        <a:fill>
          <a:solidFill>
            <a:srgbClr val="7A0019"/>
          </a:solidFill>
        </a:fill>
      </a:tcStyle>
    </a:lastCol>
    <a:firstCol>
      <a:tcTxStyle b="on" i="off">
        <a:font>
          <a:latin typeface="Arial"/>
          <a:ea typeface="Arial"/>
          <a:cs typeface="Arial"/>
        </a:font>
        <a:srgbClr val="FFFFFF"/>
      </a:tcTxStyle>
      <a:tcStyle>
        <a:fill>
          <a:solidFill>
            <a:srgbClr val="7A0019"/>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7A0019"/>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7A0019"/>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 authorId="0" idx="1" dt="2020-04-10T01:17:04.807">
    <p:pos x="2889" y="1153"/>
    <p:text>Dont worry, there's text here, just covered up</p:text>
    <p:extLst>
      <p:ext uri="{C676402C-5697-4E1C-873F-D02D1690AC5C}">
        <p15:threadingInfo timeZoneBias="0"/>
      </p:ext>
      <p:ext uri="http://customooxmlschemas.google.com/">
        <go:slidesCustomData xmlns:go="http://customooxmlschemas.google.com/" commentPostId="AAAAJY-YGeU"/>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m authorId="0" idx="2" dt="2020-04-09T21:54:13.965">
    <p:pos x="2561" y="2512"/>
    <p:text>+choxx500@umn.edu do we have a timeline for when we'd expect to see this ROI?</p:text>
    <p:extLst>
      <p:ext uri="{C676402C-5697-4E1C-873F-D02D1690AC5C}">
        <p15:threadingInfo timeZoneBias="0"/>
      </p:ext>
      <p:ext uri="http://customooxmlschemas.google.com/">
        <go:slidesCustomData xmlns:go="http://customooxmlschemas.google.com/" commentPostId="AAAAJZO3P0s"/>
      </p:ext>
    </p:extLst>
  </p:cm>
  <p:cm authorId="0" idx="3" dt="2020-04-09T17:30:17.421">
    <p:pos x="2561" y="2512"/>
    <p:text>like, are we going to see this in 5 years or something?</p:text>
    <p:extLst>
      <p:ext uri="{C676402C-5697-4E1C-873F-D02D1690AC5C}">
        <p15:threadingInfo timeZoneBias="0">
          <p15:parentCm authorId="0" idx="2"/>
        </p15:threadingInfo>
      </p:ext>
      <p:ext uri="http://customooxmlschemas.google.com/">
        <go:slidesCustomData xmlns:go="http://customooxmlschemas.google.com/" commentPostId="AAAAJZO3P0w"/>
      </p:ext>
    </p:extLst>
  </p:cm>
  <p:cm authorId="1" idx="1" dt="2020-04-09T21:53:54.710">
    <p:pos x="2561" y="2512"/>
    <p:text>Ben says that it was over one year</p:text>
    <p:extLst>
      <p:ext uri="{C676402C-5697-4E1C-873F-D02D1690AC5C}">
        <p15:threadingInfo timeZoneBias="0">
          <p15:parentCm authorId="0" idx="2"/>
        </p15:threadingInfo>
      </p:ext>
      <p:ext uri="http://customooxmlschemas.google.com/">
        <go:slidesCustomData xmlns:go="http://customooxmlschemas.google.com/" commentPostId="AAAAJZLq6lk"/>
      </p:ext>
    </p:extLst>
  </p:cm>
  <p:cm authorId="1" idx="2" dt="2020-04-09T21:54:13.965">
    <p:pos x="2561" y="2512"/>
    <p:text>*the 5% decline in CHF hospitalizations</p:text>
    <p:extLst>
      <p:ext uri="{C676402C-5697-4E1C-873F-D02D1690AC5C}">
        <p15:threadingInfo timeZoneBias="0">
          <p15:parentCm authorId="0" idx="2"/>
        </p15:threadingInfo>
      </p:ext>
      <p:ext uri="http://customooxmlschemas.google.com/">
        <go:slidesCustomData xmlns:go="http://customooxmlschemas.google.com/" commentPostId="AAAAJZLq6l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dc.gov/nchs/data-visualization/mortality-leading-causes/index_2.htm" TargetMode="External"/><Relationship Id="rId3" Type="http://schemas.openxmlformats.org/officeDocument/2006/relationships/hyperlink" Target="https://www.acc.org/latest-in-cardiology/ten-points-to-remember/2019/02/15/14/39/aha-2019-heart-disease-and-stroke-statistics" TargetMode="External"/><Relationship Id="rId4" Type="http://schemas.openxmlformats.org/officeDocument/2006/relationships/hyperlink" Target="https://www.cdc.gov/nchs/data-visualization/mortality-leading-causes/index_2.htm"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ejm-org.ezp1.lib.umn.edu/doi/10.1056/NEJMp1613981" TargetMode="External"/><Relationship Id="rId3" Type="http://schemas.openxmlformats.org/officeDocument/2006/relationships/hyperlink" Target="https://www.health.state.mn.us/news/pressrel/2019/costs022819.html"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ejm-org.ezp1.lib.umn.edu/doi/10.1056/NEJMp1613981" TargetMode="External"/><Relationship Id="rId3" Type="http://schemas.openxmlformats.org/officeDocument/2006/relationships/hyperlink" Target="https://www.health.state.mn.us/news/pressrel/2019/costs022819.html" TargetMode="External"/><Relationship Id="rId4" Type="http://schemas.openxmlformats.org/officeDocument/2006/relationships/hyperlink" Target="https://www.health.state.mn.us/diseases/cardiovascular/data/heartdisease.html" TargetMode="External"/><Relationship Id="rId5" Type="http://schemas.openxmlformats.org/officeDocument/2006/relationships/hyperlink" Target="https://www.ncbi.nlm.nih.gov/pmc/articles/PMC5436769/"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dc.gov/heartdisease/prevention.htm" TargetMode="External"/><Relationship Id="rId3" Type="http://schemas.openxmlformats.org/officeDocument/2006/relationships/hyperlink" Target="https://www.ncbi.nlm.nih.gov/pmc/articles/PMC4318289/" TargetMode="External"/><Relationship Id="rId4" Type="http://schemas.openxmlformats.org/officeDocument/2006/relationships/hyperlink" Target="https://www.ncbi.nlm.nih.gov/pmc/articles/PMC4602927/"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6" name="Shape 156"/>
        <p:cNvGrpSpPr/>
        <p:nvPr/>
      </p:nvGrpSpPr>
      <p:grpSpPr>
        <a:xfrm>
          <a:off x="0" y="0"/>
          <a:ext cx="0" cy="0"/>
          <a:chOff x="0" y="0"/>
          <a:chExt cx="0" cy="0"/>
        </a:xfrm>
      </p:grpSpPr>
      <p:sp>
        <p:nvSpPr>
          <p:cNvPr id="157" name="Google Shape;157;g831aa77a85_2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831aa77a85_2_4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Don’t have a clear idea on the question we are trying to answer - need to clarify the question - data exploration to understand the disparity between coverage and large number of diseases</a:t>
            </a:r>
            <a:endParaRPr/>
          </a:p>
          <a:p>
            <a:pPr indent="0" lvl="0" marL="0" rtl="0" algn="l">
              <a:lnSpc>
                <a:spcPct val="80000"/>
              </a:lnSpc>
              <a:spcBef>
                <a:spcPts val="0"/>
              </a:spcBef>
              <a:spcAft>
                <a:spcPts val="0"/>
              </a:spcAft>
              <a:buClr>
                <a:schemeClr val="dk1"/>
              </a:buClr>
              <a:buSzPts val="3600"/>
              <a:buFont typeface="Arial"/>
              <a:buNone/>
            </a:pPr>
            <a:r>
              <a:rPr b="1" lang="en">
                <a:solidFill>
                  <a:schemeClr val="accent1"/>
                </a:solidFill>
                <a:latin typeface="Montserrat"/>
                <a:ea typeface="Montserrat"/>
                <a:cs typeface="Montserrat"/>
                <a:sym typeface="Montserrat"/>
              </a:rPr>
              <a:t>Addressing the Disparity Between Cardiovascular Prescription Utilization and Coverage</a:t>
            </a:r>
            <a:endParaRPr/>
          </a:p>
          <a:p>
            <a:pPr indent="0" lvl="0" marL="0" rtl="0" algn="l">
              <a:lnSpc>
                <a:spcPct val="100000"/>
              </a:lnSpc>
              <a:spcBef>
                <a:spcPts val="0"/>
              </a:spcBef>
              <a:spcAft>
                <a:spcPts val="0"/>
              </a:spcAft>
              <a:buSzPts val="1100"/>
              <a:buNone/>
            </a:pPr>
            <a:r>
              <a:rPr lang="en"/>
              <a:t>Cost-benefit analysis can still be done after making assumptions - if we increase coverage by 10% how much can we save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None/>
            </a:pPr>
            <a:r>
              <a:rPr lang="en"/>
              <a:t>Clustering</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4" name="Shape 164"/>
        <p:cNvGrpSpPr/>
        <p:nvPr/>
      </p:nvGrpSpPr>
      <p:grpSpPr>
        <a:xfrm>
          <a:off x="0" y="0"/>
          <a:ext cx="0" cy="0"/>
          <a:chOff x="0" y="0"/>
          <a:chExt cx="0" cy="0"/>
        </a:xfrm>
      </p:grpSpPr>
      <p:sp>
        <p:nvSpPr>
          <p:cNvPr id="165" name="Google Shape;165;g830c98ff86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830c98ff86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Source 1: </a:t>
            </a:r>
            <a:r>
              <a:rPr lang="en" u="sng">
                <a:solidFill>
                  <a:schemeClr val="hlink"/>
                </a:solidFill>
                <a:hlinkClick r:id="rId2"/>
              </a:rPr>
              <a:t>https://www.cdc.gov/nchs/data-visualization/mortality-leading-causes/index_2.htm</a:t>
            </a:r>
            <a:endParaRPr>
              <a:solidFill>
                <a:schemeClr val="dk1"/>
              </a:solidFill>
            </a:endParaRPr>
          </a:p>
          <a:p>
            <a:pPr indent="0" lvl="0" marL="0" rtl="0" algn="l">
              <a:spcBef>
                <a:spcPts val="0"/>
              </a:spcBef>
              <a:spcAft>
                <a:spcPts val="0"/>
              </a:spcAft>
              <a:buSzPts val="1100"/>
              <a:buNone/>
            </a:pPr>
            <a:r>
              <a:rPr lang="en">
                <a:solidFill>
                  <a:schemeClr val="dk1"/>
                </a:solidFill>
              </a:rPr>
              <a:t>Source 2: </a:t>
            </a:r>
            <a:r>
              <a:rPr lang="en" u="sng">
                <a:solidFill>
                  <a:schemeClr val="hlink"/>
                </a:solidFill>
                <a:hlinkClick r:id="rId3"/>
              </a:rPr>
              <a:t>https://www.acc.org/latest-in-cardiology/ten-points-to-remember/2019/02/15/14/39/aha-2019-heart-disease-and-stroke-statistics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Graph source: (Source 1) </a:t>
            </a:r>
            <a:r>
              <a:rPr lang="en">
                <a:solidFill>
                  <a:schemeClr val="dk1"/>
                </a:solidFill>
              </a:rPr>
              <a:t> </a:t>
            </a:r>
            <a:r>
              <a:rPr lang="en" u="sng">
                <a:solidFill>
                  <a:schemeClr val="hlink"/>
                </a:solidFill>
                <a:hlinkClick r:id="rId4"/>
              </a:rPr>
              <a:t>https://www.cdc.gov/nchs/data-visualization/mortality-leading-causes/index_2.htm</a:t>
            </a:r>
            <a:endParaRPr/>
          </a:p>
          <a:p>
            <a:pPr indent="0" lvl="0" marL="0" rtl="0" algn="l">
              <a:lnSpc>
                <a:spcPct val="100000"/>
              </a:lnSpc>
              <a:spcBef>
                <a:spcPts val="0"/>
              </a:spcBef>
              <a:spcAft>
                <a:spcPts val="0"/>
              </a:spcAft>
              <a:buSzPts val="1100"/>
              <a:buNone/>
            </a:pPr>
            <a:r>
              <a:rPr lang="en"/>
              <a:t>Source 3: https://data.web.health.state.mn.us/mci_hosp</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1" name="Shape 191"/>
        <p:cNvGrpSpPr/>
        <p:nvPr/>
      </p:nvGrpSpPr>
      <p:grpSpPr>
        <a:xfrm>
          <a:off x="0" y="0"/>
          <a:ext cx="0" cy="0"/>
          <a:chOff x="0" y="0"/>
          <a:chExt cx="0" cy="0"/>
        </a:xfrm>
      </p:grpSpPr>
      <p:sp>
        <p:nvSpPr>
          <p:cNvPr id="192" name="Google Shape;192;g830c98ff86_1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830c98ff86_1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Multiple forms of CVD exist, therefore risk factors for CVD is also varied. Most common risk factors include obesity, diabetes, family history, smoking, high cholesterol, and high blood pressure. Other factors, such as low SES, high stress, and other environmental factors must be considered as well. Battling these factors is still an ongoing battle and subject of furious research throughout the United States.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7" name="Shape 217"/>
        <p:cNvGrpSpPr/>
        <p:nvPr/>
      </p:nvGrpSpPr>
      <p:grpSpPr>
        <a:xfrm>
          <a:off x="0" y="0"/>
          <a:ext cx="0" cy="0"/>
          <a:chOff x="0" y="0"/>
          <a:chExt cx="0" cy="0"/>
        </a:xfrm>
      </p:grpSpPr>
      <p:sp>
        <p:nvSpPr>
          <p:cNvPr id="218" name="Google Shape;218;g82eb9f9b71_1_10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82eb9f9b71_1_10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lang="en" sz="1400">
                <a:solidFill>
                  <a:schemeClr val="accent2"/>
                </a:solidFill>
                <a:latin typeface="Montserrat"/>
                <a:ea typeface="Montserrat"/>
                <a:cs typeface="Montserrat"/>
                <a:sym typeface="Montserrat"/>
              </a:rPr>
              <a:t>Average Cardiovascular Insurance Coverage (2016): </a:t>
            </a:r>
            <a:r>
              <a:rPr b="1" lang="en" sz="1400">
                <a:solidFill>
                  <a:schemeClr val="accent2"/>
                </a:solidFill>
                <a:latin typeface="Montserrat"/>
                <a:ea typeface="Montserrat"/>
                <a:cs typeface="Montserrat"/>
                <a:sym typeface="Montserrat"/>
              </a:rPr>
              <a:t>65.26%</a:t>
            </a:r>
            <a:endParaRPr b="1" sz="1400">
              <a:solidFill>
                <a:schemeClr val="accent2"/>
              </a:solidFill>
              <a:latin typeface="Montserrat"/>
              <a:ea typeface="Montserrat"/>
              <a:cs typeface="Montserrat"/>
              <a:sym typeface="Montserrat"/>
            </a:endParaRPr>
          </a:p>
          <a:p>
            <a:pPr indent="0" lvl="0" marL="0" rtl="0" algn="l">
              <a:spcBef>
                <a:spcPts val="0"/>
              </a:spcBef>
              <a:spcAft>
                <a:spcPts val="0"/>
              </a:spcAft>
              <a:buClr>
                <a:schemeClr val="dk1"/>
              </a:buClr>
              <a:buSzPts val="1400"/>
              <a:buFont typeface="Arial"/>
              <a:buNone/>
            </a:pPr>
            <a:r>
              <a:t/>
            </a:r>
            <a:endParaRPr sz="1400">
              <a:solidFill>
                <a:schemeClr val="accent2"/>
              </a:solidFill>
              <a:latin typeface="Montserrat"/>
              <a:ea typeface="Montserrat"/>
              <a:cs typeface="Montserrat"/>
              <a:sym typeface="Montserrat"/>
            </a:endParaRPr>
          </a:p>
          <a:p>
            <a:pPr indent="0" lvl="0" marL="0" rtl="0" algn="l">
              <a:spcBef>
                <a:spcPts val="0"/>
              </a:spcBef>
              <a:spcAft>
                <a:spcPts val="0"/>
              </a:spcAft>
              <a:buClr>
                <a:schemeClr val="dk1"/>
              </a:buClr>
              <a:buSzPts val="1400"/>
              <a:buFont typeface="Arial"/>
              <a:buNone/>
            </a:pPr>
            <a:r>
              <a:rPr lang="en" sz="1400">
                <a:solidFill>
                  <a:schemeClr val="accent2"/>
                </a:solidFill>
                <a:latin typeface="Montserrat"/>
                <a:ea typeface="Montserrat"/>
                <a:cs typeface="Montserrat"/>
                <a:sym typeface="Montserrat"/>
              </a:rPr>
              <a:t>Number of Prescriptions (2016): </a:t>
            </a:r>
            <a:r>
              <a:rPr b="1" lang="en" sz="1400">
                <a:solidFill>
                  <a:schemeClr val="accent2"/>
                </a:solidFill>
                <a:latin typeface="Montserrat"/>
                <a:ea typeface="Montserrat"/>
                <a:cs typeface="Montserrat"/>
                <a:sym typeface="Montserrat"/>
              </a:rPr>
              <a:t>12,226,831</a:t>
            </a:r>
            <a:endParaRPr b="1" sz="1400">
              <a:solidFill>
                <a:schemeClr val="accent2"/>
              </a:solidFill>
              <a:latin typeface="Montserrat"/>
              <a:ea typeface="Montserrat"/>
              <a:cs typeface="Montserrat"/>
              <a:sym typeface="Montserrat"/>
            </a:endParaRPr>
          </a:p>
          <a:p>
            <a:pPr indent="0" lvl="0" marL="0" rtl="0" algn="l">
              <a:spcBef>
                <a:spcPts val="0"/>
              </a:spcBef>
              <a:spcAft>
                <a:spcPts val="0"/>
              </a:spcAft>
              <a:buClr>
                <a:schemeClr val="dk1"/>
              </a:buClr>
              <a:buSzPts val="1400"/>
              <a:buFont typeface="Arial"/>
              <a:buNone/>
            </a:pPr>
            <a:r>
              <a:t/>
            </a:r>
            <a:endParaRPr b="1" sz="1400">
              <a:solidFill>
                <a:schemeClr val="accent2"/>
              </a:solidFill>
              <a:latin typeface="Montserrat"/>
              <a:ea typeface="Montserrat"/>
              <a:cs typeface="Montserrat"/>
              <a:sym typeface="Montserrat"/>
            </a:endParaRPr>
          </a:p>
          <a:p>
            <a:pPr indent="0" lvl="0" marL="0" rtl="0" algn="l">
              <a:spcBef>
                <a:spcPts val="0"/>
              </a:spcBef>
              <a:spcAft>
                <a:spcPts val="0"/>
              </a:spcAft>
              <a:buClr>
                <a:schemeClr val="dk1"/>
              </a:buClr>
              <a:buSzPts val="1400"/>
              <a:buFont typeface="Arial"/>
              <a:buNone/>
            </a:pPr>
            <a:r>
              <a:rPr lang="en" sz="1400">
                <a:solidFill>
                  <a:schemeClr val="accent2"/>
                </a:solidFill>
                <a:latin typeface="Montserrat"/>
                <a:ea typeface="Montserrat"/>
                <a:cs typeface="Montserrat"/>
                <a:sym typeface="Montserrat"/>
              </a:rPr>
              <a:t>Average Cardiovascular Insurance Coverage (2012): </a:t>
            </a:r>
            <a:r>
              <a:rPr b="1" lang="en" sz="1400">
                <a:solidFill>
                  <a:schemeClr val="accent2"/>
                </a:solidFill>
                <a:latin typeface="Montserrat"/>
                <a:ea typeface="Montserrat"/>
                <a:cs typeface="Montserrat"/>
                <a:sym typeface="Montserrat"/>
              </a:rPr>
              <a:t>65.92%</a:t>
            </a:r>
            <a:endParaRPr b="1" sz="1400">
              <a:solidFill>
                <a:schemeClr val="accent2"/>
              </a:solidFill>
              <a:latin typeface="Montserrat"/>
              <a:ea typeface="Montserrat"/>
              <a:cs typeface="Montserrat"/>
              <a:sym typeface="Montserrat"/>
            </a:endParaRPr>
          </a:p>
          <a:p>
            <a:pPr indent="0" lvl="0" marL="0" rtl="0" algn="l">
              <a:spcBef>
                <a:spcPts val="0"/>
              </a:spcBef>
              <a:spcAft>
                <a:spcPts val="0"/>
              </a:spcAft>
              <a:buClr>
                <a:schemeClr val="dk1"/>
              </a:buClr>
              <a:buSzPts val="1400"/>
              <a:buFont typeface="Arial"/>
              <a:buNone/>
            </a:pPr>
            <a:r>
              <a:t/>
            </a:r>
            <a:endParaRPr sz="1400">
              <a:solidFill>
                <a:schemeClr val="accent2"/>
              </a:solidFill>
              <a:latin typeface="Montserrat"/>
              <a:ea typeface="Montserrat"/>
              <a:cs typeface="Montserrat"/>
              <a:sym typeface="Montserrat"/>
            </a:endParaRPr>
          </a:p>
          <a:p>
            <a:pPr indent="0" lvl="0" marL="0" rtl="0" algn="l">
              <a:spcBef>
                <a:spcPts val="0"/>
              </a:spcBef>
              <a:spcAft>
                <a:spcPts val="0"/>
              </a:spcAft>
              <a:buClr>
                <a:schemeClr val="dk1"/>
              </a:buClr>
              <a:buSzPts val="1400"/>
              <a:buFont typeface="Arial"/>
              <a:buNone/>
            </a:pPr>
            <a:r>
              <a:rPr lang="en" sz="1400">
                <a:solidFill>
                  <a:schemeClr val="accent2"/>
                </a:solidFill>
                <a:latin typeface="Montserrat"/>
                <a:ea typeface="Montserrat"/>
                <a:cs typeface="Montserrat"/>
                <a:sym typeface="Montserrat"/>
              </a:rPr>
              <a:t>Number of Prescriptions (2012): </a:t>
            </a:r>
            <a:r>
              <a:rPr b="1" lang="en" sz="1400">
                <a:solidFill>
                  <a:schemeClr val="accent2"/>
                </a:solidFill>
                <a:latin typeface="Montserrat"/>
                <a:ea typeface="Montserrat"/>
                <a:cs typeface="Montserrat"/>
                <a:sym typeface="Montserrat"/>
              </a:rPr>
              <a:t>12,265,559</a:t>
            </a:r>
            <a:endParaRPr b="1" sz="1400">
              <a:solidFill>
                <a:schemeClr val="accent2"/>
              </a:solidFill>
              <a:latin typeface="Montserrat"/>
              <a:ea typeface="Montserrat"/>
              <a:cs typeface="Montserrat"/>
              <a:sym typeface="Montserrat"/>
            </a:endParaRPr>
          </a:p>
          <a:p>
            <a:pPr indent="0" lvl="0" marL="0" rtl="0" algn="l">
              <a:spcBef>
                <a:spcPts val="0"/>
              </a:spcBef>
              <a:spcAft>
                <a:spcPts val="0"/>
              </a:spcAft>
              <a:buClr>
                <a:schemeClr val="dk1"/>
              </a:buClr>
              <a:buSzPts val="1400"/>
              <a:buFont typeface="Arial"/>
              <a:buNone/>
            </a:pPr>
            <a:r>
              <a:t/>
            </a:r>
            <a:endParaRPr b="1" sz="1400">
              <a:solidFill>
                <a:schemeClr val="accent2"/>
              </a:solidFill>
              <a:latin typeface="Montserrat"/>
              <a:ea typeface="Montserrat"/>
              <a:cs typeface="Montserrat"/>
              <a:sym typeface="Montserrat"/>
            </a:endParaRPr>
          </a:p>
          <a:p>
            <a:pPr indent="0" lvl="0" marL="0" rtl="0" algn="l">
              <a:spcBef>
                <a:spcPts val="0"/>
              </a:spcBef>
              <a:spcAft>
                <a:spcPts val="0"/>
              </a:spcAft>
              <a:buClr>
                <a:schemeClr val="dk1"/>
              </a:buClr>
              <a:buSzPts val="1400"/>
              <a:buFont typeface="Arial"/>
              <a:buNone/>
            </a:pPr>
            <a:r>
              <a:rPr b="1" lang="en" sz="1400">
                <a:solidFill>
                  <a:schemeClr val="accent2"/>
                </a:solidFill>
                <a:latin typeface="Montserrat"/>
                <a:ea typeface="Montserrat"/>
                <a:cs typeface="Montserrat"/>
                <a:sym typeface="Montserrat"/>
              </a:rPr>
              <a:t>How can we address this?</a:t>
            </a:r>
            <a:endParaRPr b="1" sz="1400">
              <a:solidFill>
                <a:schemeClr val="accent2"/>
              </a:solidFill>
              <a:latin typeface="Montserrat"/>
              <a:ea typeface="Montserrat"/>
              <a:cs typeface="Montserrat"/>
              <a:sym typeface="Montserra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2" name="Shape 252"/>
        <p:cNvGrpSpPr/>
        <p:nvPr/>
      </p:nvGrpSpPr>
      <p:grpSpPr>
        <a:xfrm>
          <a:off x="0" y="0"/>
          <a:ext cx="0" cy="0"/>
          <a:chOff x="0" y="0"/>
          <a:chExt cx="0" cy="0"/>
        </a:xfrm>
      </p:grpSpPr>
      <p:sp>
        <p:nvSpPr>
          <p:cNvPr id="253" name="Google Shape;253;g82f111712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g82f111712f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Increase coverage to improve patient health outcomes, reduce hospitalizations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1" name="Shape 281"/>
        <p:cNvGrpSpPr/>
        <p:nvPr/>
      </p:nvGrpSpPr>
      <p:grpSpPr>
        <a:xfrm>
          <a:off x="0" y="0"/>
          <a:ext cx="0" cy="0"/>
          <a:chOff x="0" y="0"/>
          <a:chExt cx="0" cy="0"/>
        </a:xfrm>
      </p:grpSpPr>
      <p:sp>
        <p:nvSpPr>
          <p:cNvPr id="282" name="Google Shape;282;g82eb9f9b71_1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82eb9f9b71_1_1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These research slides are good motivation for studying the question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9" name="Shape 309"/>
        <p:cNvGrpSpPr/>
        <p:nvPr/>
      </p:nvGrpSpPr>
      <p:grpSpPr>
        <a:xfrm>
          <a:off x="0" y="0"/>
          <a:ext cx="0" cy="0"/>
          <a:chOff x="0" y="0"/>
          <a:chExt cx="0" cy="0"/>
        </a:xfrm>
      </p:grpSpPr>
      <p:sp>
        <p:nvSpPr>
          <p:cNvPr id="310" name="Google Shape;310;g831aa77a85_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831aa77a85_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4" name="Shape 334"/>
        <p:cNvGrpSpPr/>
        <p:nvPr/>
      </p:nvGrpSpPr>
      <p:grpSpPr>
        <a:xfrm>
          <a:off x="0" y="0"/>
          <a:ext cx="0" cy="0"/>
          <a:chOff x="0" y="0"/>
          <a:chExt cx="0" cy="0"/>
        </a:xfrm>
      </p:grpSpPr>
      <p:sp>
        <p:nvSpPr>
          <p:cNvPr id="335" name="Google Shape;33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8" name="Shape 378"/>
        <p:cNvGrpSpPr/>
        <p:nvPr/>
      </p:nvGrpSpPr>
      <p:grpSpPr>
        <a:xfrm>
          <a:off x="0" y="0"/>
          <a:ext cx="0" cy="0"/>
          <a:chOff x="0" y="0"/>
          <a:chExt cx="0" cy="0"/>
        </a:xfrm>
      </p:grpSpPr>
      <p:sp>
        <p:nvSpPr>
          <p:cNvPr id="379" name="Google Shape;379;g82eb9f9b71_1_9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g82eb9f9b71_1_9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Prescription Join features: ['RECORD_TYPE','NPROPNAME', 'THER_CLASS','PAYER']</a:t>
            </a:r>
            <a:endParaRPr/>
          </a:p>
          <a:p>
            <a:pPr indent="0" lvl="0" marL="0" rtl="0" algn="l">
              <a:lnSpc>
                <a:spcPct val="100000"/>
              </a:lnSpc>
              <a:spcBef>
                <a:spcPts val="0"/>
              </a:spcBef>
              <a:spcAft>
                <a:spcPts val="0"/>
              </a:spcAft>
              <a:buSzPts val="1100"/>
              <a:buNone/>
            </a:pPr>
            <a:r>
              <a:rPr lang="en"/>
              <a:t>Drug Join features: ['NDC9','PRODUCT_NDC', 'RECORD_TYPE','NPROPNAME', 'THER_CLASS’, 'PAYER']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Percent Change computed for columns ‘COST_PER_SCRIPT’ and ‘COST_PER_SCRIPT_RANK’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5" name="Shape 415"/>
        <p:cNvGrpSpPr/>
        <p:nvPr/>
      </p:nvGrpSpPr>
      <p:grpSpPr>
        <a:xfrm>
          <a:off x="0" y="0"/>
          <a:ext cx="0" cy="0"/>
          <a:chOff x="0" y="0"/>
          <a:chExt cx="0" cy="0"/>
        </a:xfrm>
      </p:grpSpPr>
      <p:sp>
        <p:nvSpPr>
          <p:cNvPr id="416" name="Google Shape;416;g831aa77a85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g831aa77a85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49" name="Shape 449"/>
        <p:cNvGrpSpPr/>
        <p:nvPr/>
      </p:nvGrpSpPr>
      <p:grpSpPr>
        <a:xfrm>
          <a:off x="0" y="0"/>
          <a:ext cx="0" cy="0"/>
          <a:chOff x="0" y="0"/>
          <a:chExt cx="0" cy="0"/>
        </a:xfrm>
      </p:grpSpPr>
      <p:sp>
        <p:nvSpPr>
          <p:cNvPr id="450" name="Google Shape;450;g82eb9f9b71_1_10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g82eb9f9b71_1_10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What subset of the population tends to use the cardiovascular drug, and how are they covered? To start, we looked at what age made up the majority of cardiovascular patients.</a:t>
            </a:r>
            <a:endParaRPr/>
          </a:p>
          <a:p>
            <a:pPr indent="0" lvl="0" marL="0" rtl="0" algn="l">
              <a:spcBef>
                <a:spcPts val="0"/>
              </a:spcBef>
              <a:spcAft>
                <a:spcPts val="0"/>
              </a:spcAft>
              <a:buClr>
                <a:schemeClr val="dk1"/>
              </a:buClr>
              <a:buSzPts val="1100"/>
              <a:buFont typeface="Arial"/>
              <a:buNone/>
            </a:pPr>
            <a:r>
              <a:rPr lang="en"/>
              <a:t>We found that in 2012, the majority of the patients for cardiovascular drugs do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7" name="Shape 477"/>
        <p:cNvGrpSpPr/>
        <p:nvPr/>
      </p:nvGrpSpPr>
      <p:grpSpPr>
        <a:xfrm>
          <a:off x="0" y="0"/>
          <a:ext cx="0" cy="0"/>
          <a:chOff x="0" y="0"/>
          <a:chExt cx="0" cy="0"/>
        </a:xfrm>
      </p:grpSpPr>
      <p:sp>
        <p:nvSpPr>
          <p:cNvPr id="478" name="Google Shape;478;g830c98ff86_3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9" name="Google Shape;479;g830c98ff86_3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main users of </a:t>
            </a:r>
            <a:r>
              <a:rPr lang="en"/>
              <a:t>cardiovascular</a:t>
            </a:r>
            <a:r>
              <a:rPr lang="en"/>
              <a:t> drugs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5" name="Shape 505"/>
        <p:cNvGrpSpPr/>
        <p:nvPr/>
      </p:nvGrpSpPr>
      <p:grpSpPr>
        <a:xfrm>
          <a:off x="0" y="0"/>
          <a:ext cx="0" cy="0"/>
          <a:chOff x="0" y="0"/>
          <a:chExt cx="0" cy="0"/>
        </a:xfrm>
      </p:grpSpPr>
      <p:sp>
        <p:nvSpPr>
          <p:cNvPr id="506" name="Google Shape;506;g831aa77a8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g831aa77a85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So who’s utilizing the what coverage?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33" name="Shape 533"/>
        <p:cNvGrpSpPr/>
        <p:nvPr/>
      </p:nvGrpSpPr>
      <p:grpSpPr>
        <a:xfrm>
          <a:off x="0" y="0"/>
          <a:ext cx="0" cy="0"/>
          <a:chOff x="0" y="0"/>
          <a:chExt cx="0" cy="0"/>
        </a:xfrm>
      </p:grpSpPr>
      <p:sp>
        <p:nvSpPr>
          <p:cNvPr id="534" name="Google Shape;534;g73268491a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5" name="Google Shape;535;g73268491a6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66" name="Shape 566"/>
        <p:cNvGrpSpPr/>
        <p:nvPr/>
      </p:nvGrpSpPr>
      <p:grpSpPr>
        <a:xfrm>
          <a:off x="0" y="0"/>
          <a:ext cx="0" cy="0"/>
          <a:chOff x="0" y="0"/>
          <a:chExt cx="0" cy="0"/>
        </a:xfrm>
      </p:grpSpPr>
      <p:sp>
        <p:nvSpPr>
          <p:cNvPr id="567" name="Google Shape;567;g82eb9f9b71_1_1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8" name="Google Shape;568;g82eb9f9b71_1_1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Source: </a:t>
            </a:r>
            <a:r>
              <a:rPr lang="en" u="sng">
                <a:solidFill>
                  <a:schemeClr val="hlink"/>
                </a:solidFill>
                <a:hlinkClick r:id="rId2"/>
              </a:rPr>
              <a:t>https://www-nejm-org.ezp1.lib.umn.edu/doi/10.1056/NEJMp1613981</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u="sng">
                <a:solidFill>
                  <a:schemeClr val="hlink"/>
                </a:solidFill>
                <a:hlinkClick r:id="rId3"/>
              </a:rPr>
              <a:t>https://www.health.state.mn.us/news/pressrel/2019/costs022819.html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Numbers show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5" name="Shape 595"/>
        <p:cNvGrpSpPr/>
        <p:nvPr/>
      </p:nvGrpSpPr>
      <p:grpSpPr>
        <a:xfrm>
          <a:off x="0" y="0"/>
          <a:ext cx="0" cy="0"/>
          <a:chOff x="0" y="0"/>
          <a:chExt cx="0" cy="0"/>
        </a:xfrm>
      </p:grpSpPr>
      <p:sp>
        <p:nvSpPr>
          <p:cNvPr id="596" name="Google Shape;596;g831aa77a85_9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7" name="Google Shape;597;g831aa77a85_9_4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Source: </a:t>
            </a:r>
            <a:r>
              <a:rPr lang="en" u="sng">
                <a:solidFill>
                  <a:schemeClr val="hlink"/>
                </a:solidFill>
                <a:hlinkClick r:id="rId2"/>
              </a:rPr>
              <a:t>https://www-nejm-org.ezp1.lib.umn.edu/doi/10.1056/NEJMp1613981</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u="sng">
                <a:solidFill>
                  <a:schemeClr val="hlink"/>
                </a:solidFill>
                <a:hlinkClick r:id="rId3"/>
              </a:rPr>
              <a:t>https://www.health.state.mn.us/news/pressrel/2019/costs022819.html</a:t>
            </a:r>
            <a:r>
              <a:rPr lang="en"/>
              <a:t> (Source for total heart healthcare spending in MN in 2013) </a:t>
            </a:r>
            <a:endParaRPr/>
          </a:p>
          <a:p>
            <a:pPr indent="0" lvl="0" marL="0" rtl="0" algn="l">
              <a:lnSpc>
                <a:spcPct val="100000"/>
              </a:lnSpc>
              <a:spcBef>
                <a:spcPts val="0"/>
              </a:spcBef>
              <a:spcAft>
                <a:spcPts val="0"/>
              </a:spcAft>
              <a:buSzPts val="1100"/>
              <a:buNone/>
            </a:pPr>
            <a:r>
              <a:rPr lang="en" u="sng">
                <a:solidFill>
                  <a:schemeClr val="hlink"/>
                </a:solidFill>
                <a:hlinkClick r:id="rId4"/>
              </a:rPr>
              <a:t>https://www.health.state.mn.us/diseases/cardiovascular/data/heartdisease.html</a:t>
            </a:r>
            <a:r>
              <a:rPr lang="en"/>
              <a:t> (Source for CVD hospitalizations in MN)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u="sng">
                <a:solidFill>
                  <a:schemeClr val="hlink"/>
                </a:solidFill>
                <a:hlinkClick r:id="rId5"/>
              </a:rPr>
              <a:t>https://www.ncbi.nlm.nih.gov/pmc/articles/PMC5436769/</a:t>
            </a:r>
            <a:r>
              <a:rPr lang="en"/>
              <a:t> (Source showing cost of CVD hospitalization in USA)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Numbers show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58" name="Shape 658"/>
        <p:cNvGrpSpPr/>
        <p:nvPr/>
      </p:nvGrpSpPr>
      <p:grpSpPr>
        <a:xfrm>
          <a:off x="0" y="0"/>
          <a:ext cx="0" cy="0"/>
          <a:chOff x="0" y="0"/>
          <a:chExt cx="0" cy="0"/>
        </a:xfrm>
      </p:grpSpPr>
      <p:sp>
        <p:nvSpPr>
          <p:cNvPr id="659" name="Google Shape;659;g831aa77a85_9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0" name="Google Shape;660;g831aa77a85_9_5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5" name="Shape 695"/>
        <p:cNvGrpSpPr/>
        <p:nvPr/>
      </p:nvGrpSpPr>
      <p:grpSpPr>
        <a:xfrm>
          <a:off x="0" y="0"/>
          <a:ext cx="0" cy="0"/>
          <a:chOff x="0" y="0"/>
          <a:chExt cx="0" cy="0"/>
        </a:xfrm>
      </p:grpSpPr>
      <p:sp>
        <p:nvSpPr>
          <p:cNvPr id="696" name="Google Shape;696;g830c98ff86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7" name="Google Shape;697;g830c98ff86_1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4: </a:t>
            </a:r>
            <a:r>
              <a:rPr lang="en" u="sng">
                <a:solidFill>
                  <a:schemeClr val="hlink"/>
                </a:solidFill>
                <a:hlinkClick r:id="rId2"/>
              </a:rPr>
              <a:t>https://www.cdc.gov/heartdisease/prevention.htm</a:t>
            </a:r>
            <a:endParaRPr/>
          </a:p>
          <a:p>
            <a:pPr indent="0" lvl="0" marL="0" rtl="0" algn="l">
              <a:lnSpc>
                <a:spcPct val="100000"/>
              </a:lnSpc>
              <a:spcBef>
                <a:spcPts val="0"/>
              </a:spcBef>
              <a:spcAft>
                <a:spcPts val="0"/>
              </a:spcAft>
              <a:buSzPts val="1100"/>
              <a:buNone/>
            </a:pPr>
            <a:r>
              <a:rPr lang="en"/>
              <a:t>Source 5: </a:t>
            </a:r>
            <a:r>
              <a:rPr lang="en" u="sng">
                <a:solidFill>
                  <a:schemeClr val="hlink"/>
                </a:solidFill>
                <a:hlinkClick r:id="rId3"/>
              </a:rPr>
              <a:t>https://www.ncbi.nlm.nih.gov/pmc/articles/PMC4318289/</a:t>
            </a:r>
            <a:endParaRPr/>
          </a:p>
          <a:p>
            <a:pPr indent="0" lvl="0" marL="0" rtl="0" algn="l">
              <a:lnSpc>
                <a:spcPct val="100000"/>
              </a:lnSpc>
              <a:spcBef>
                <a:spcPts val="0"/>
              </a:spcBef>
              <a:spcAft>
                <a:spcPts val="0"/>
              </a:spcAft>
              <a:buSzPts val="1100"/>
              <a:buNone/>
            </a:pPr>
            <a:r>
              <a:rPr lang="en"/>
              <a:t>Source 6: </a:t>
            </a:r>
            <a:r>
              <a:rPr lang="en" u="sng">
                <a:solidFill>
                  <a:schemeClr val="hlink"/>
                </a:solidFill>
                <a:hlinkClick r:id="rId4"/>
              </a:rPr>
              <a:t>https://www.ncbi.nlm.nih.gov/pmc/articles/PMC4602927/</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Despite the many risk factors of CVD, evidence shows can be prevented through regular check ups/health </a:t>
            </a:r>
            <a:r>
              <a:rPr lang="en"/>
              <a:t>maintenance</a:t>
            </a:r>
            <a:r>
              <a:rPr lang="en"/>
              <a:t>, regular exercise, and a healthy diet. </a:t>
            </a:r>
            <a:r>
              <a:rPr lang="en"/>
              <a:t>Especially</a:t>
            </a:r>
            <a:r>
              <a:rPr lang="en"/>
              <a:t> important for medicinal and regular preventative medical care is insurance. Which has been shown to better outcomes for CVD.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47" name="Shape 747"/>
        <p:cNvGrpSpPr/>
        <p:nvPr/>
      </p:nvGrpSpPr>
      <p:grpSpPr>
        <a:xfrm>
          <a:off x="0" y="0"/>
          <a:ext cx="0" cy="0"/>
          <a:chOff x="0" y="0"/>
          <a:chExt cx="0" cy="0"/>
        </a:xfrm>
      </p:grpSpPr>
      <p:sp>
        <p:nvSpPr>
          <p:cNvPr id="748" name="Google Shape;748;g82eb9f9b71_1_1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9" name="Google Shape;749;g82eb9f9b71_1_12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0" name="Shape 790"/>
        <p:cNvGrpSpPr/>
        <p:nvPr/>
      </p:nvGrpSpPr>
      <p:grpSpPr>
        <a:xfrm>
          <a:off x="0" y="0"/>
          <a:ext cx="0" cy="0"/>
          <a:chOff x="0" y="0"/>
          <a:chExt cx="0" cy="0"/>
        </a:xfrm>
      </p:grpSpPr>
      <p:sp>
        <p:nvSpPr>
          <p:cNvPr id="791" name="Google Shape;791;g82eb9f9b71_1_1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2" name="Google Shape;792;g82eb9f9b71_1_1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7" name="Shape 797"/>
        <p:cNvGrpSpPr/>
        <p:nvPr/>
      </p:nvGrpSpPr>
      <p:grpSpPr>
        <a:xfrm>
          <a:off x="0" y="0"/>
          <a:ext cx="0" cy="0"/>
          <a:chOff x="0" y="0"/>
          <a:chExt cx="0" cy="0"/>
        </a:xfrm>
      </p:grpSpPr>
      <p:sp>
        <p:nvSpPr>
          <p:cNvPr id="798" name="Google Shape;79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9" name="Google Shape;79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47"/>
          <p:cNvSpPr txBox="1"/>
          <p:nvPr>
            <p:ph type="ctrTitle"/>
          </p:nvPr>
        </p:nvSpPr>
        <p:spPr>
          <a:xfrm>
            <a:off x="4987075" y="781525"/>
            <a:ext cx="3437100" cy="2052600"/>
          </a:xfrm>
          <a:prstGeom prst="rect">
            <a:avLst/>
          </a:prstGeom>
          <a:noFill/>
          <a:ln>
            <a:noFill/>
          </a:ln>
        </p:spPr>
        <p:txBody>
          <a:bodyPr anchorCtr="0" anchor="b" bIns="91425" lIns="91425" spcFirstLastPara="1" rIns="91425" wrap="square" tIns="91425">
            <a:noAutofit/>
          </a:bodyPr>
          <a:lstStyle>
            <a:lvl1pPr lvl="0" algn="l">
              <a:lnSpc>
                <a:spcPct val="80000"/>
              </a:lnSpc>
              <a:spcBef>
                <a:spcPts val="0"/>
              </a:spcBef>
              <a:spcAft>
                <a:spcPts val="0"/>
              </a:spcAft>
              <a:buSzPts val="3600"/>
              <a:buNone/>
              <a:defRPr sz="3600"/>
            </a:lvl1pPr>
            <a:lvl2pPr lvl="1" algn="l">
              <a:lnSpc>
                <a:spcPct val="80000"/>
              </a:lnSpc>
              <a:spcBef>
                <a:spcPts val="0"/>
              </a:spcBef>
              <a:spcAft>
                <a:spcPts val="0"/>
              </a:spcAft>
              <a:buSzPts val="3600"/>
              <a:buNone/>
              <a:defRPr sz="3600"/>
            </a:lvl2pPr>
            <a:lvl3pPr lvl="2" algn="l">
              <a:lnSpc>
                <a:spcPct val="80000"/>
              </a:lnSpc>
              <a:spcBef>
                <a:spcPts val="0"/>
              </a:spcBef>
              <a:spcAft>
                <a:spcPts val="0"/>
              </a:spcAft>
              <a:buSzPts val="3600"/>
              <a:buNone/>
              <a:defRPr sz="3600"/>
            </a:lvl3pPr>
            <a:lvl4pPr lvl="3" algn="l">
              <a:lnSpc>
                <a:spcPct val="80000"/>
              </a:lnSpc>
              <a:spcBef>
                <a:spcPts val="0"/>
              </a:spcBef>
              <a:spcAft>
                <a:spcPts val="0"/>
              </a:spcAft>
              <a:buSzPts val="3600"/>
              <a:buNone/>
              <a:defRPr sz="3600"/>
            </a:lvl4pPr>
            <a:lvl5pPr lvl="4" algn="l">
              <a:lnSpc>
                <a:spcPct val="80000"/>
              </a:lnSpc>
              <a:spcBef>
                <a:spcPts val="0"/>
              </a:spcBef>
              <a:spcAft>
                <a:spcPts val="0"/>
              </a:spcAft>
              <a:buSzPts val="3600"/>
              <a:buNone/>
              <a:defRPr sz="3600"/>
            </a:lvl5pPr>
            <a:lvl6pPr lvl="5" algn="l">
              <a:lnSpc>
                <a:spcPct val="80000"/>
              </a:lnSpc>
              <a:spcBef>
                <a:spcPts val="0"/>
              </a:spcBef>
              <a:spcAft>
                <a:spcPts val="0"/>
              </a:spcAft>
              <a:buSzPts val="3600"/>
              <a:buNone/>
              <a:defRPr sz="3600"/>
            </a:lvl6pPr>
            <a:lvl7pPr lvl="6" algn="l">
              <a:lnSpc>
                <a:spcPct val="80000"/>
              </a:lnSpc>
              <a:spcBef>
                <a:spcPts val="0"/>
              </a:spcBef>
              <a:spcAft>
                <a:spcPts val="0"/>
              </a:spcAft>
              <a:buSzPts val="3600"/>
              <a:buNone/>
              <a:defRPr sz="3600"/>
            </a:lvl7pPr>
            <a:lvl8pPr lvl="7" algn="l">
              <a:lnSpc>
                <a:spcPct val="80000"/>
              </a:lnSpc>
              <a:spcBef>
                <a:spcPts val="0"/>
              </a:spcBef>
              <a:spcAft>
                <a:spcPts val="0"/>
              </a:spcAft>
              <a:buSzPts val="3600"/>
              <a:buNone/>
              <a:defRPr sz="3600"/>
            </a:lvl8pPr>
            <a:lvl9pPr lvl="8" algn="l">
              <a:lnSpc>
                <a:spcPct val="80000"/>
              </a:lnSpc>
              <a:spcBef>
                <a:spcPts val="0"/>
              </a:spcBef>
              <a:spcAft>
                <a:spcPts val="0"/>
              </a:spcAft>
              <a:buSzPts val="3600"/>
              <a:buNone/>
              <a:defRPr sz="3600"/>
            </a:lvl9pPr>
          </a:lstStyle>
          <a:p/>
        </p:txBody>
      </p:sp>
      <p:sp>
        <p:nvSpPr>
          <p:cNvPr id="11" name="Google Shape;11;p47"/>
          <p:cNvSpPr txBox="1"/>
          <p:nvPr>
            <p:ph idx="1" type="subTitle"/>
          </p:nvPr>
        </p:nvSpPr>
        <p:spPr>
          <a:xfrm>
            <a:off x="4987075" y="2834125"/>
            <a:ext cx="2514600" cy="792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2800"/>
              <a:buNone/>
              <a:defRPr sz="2800"/>
            </a:lvl2pPr>
            <a:lvl3pPr lvl="2" algn="l">
              <a:lnSpc>
                <a:spcPct val="100000"/>
              </a:lnSpc>
              <a:spcBef>
                <a:spcPts val="0"/>
              </a:spcBef>
              <a:spcAft>
                <a:spcPts val="0"/>
              </a:spcAft>
              <a:buSzPts val="2800"/>
              <a:buNone/>
              <a:defRPr sz="2800"/>
            </a:lvl3pPr>
            <a:lvl4pPr lvl="3" algn="l">
              <a:lnSpc>
                <a:spcPct val="100000"/>
              </a:lnSpc>
              <a:spcBef>
                <a:spcPts val="0"/>
              </a:spcBef>
              <a:spcAft>
                <a:spcPts val="0"/>
              </a:spcAft>
              <a:buSzPts val="2800"/>
              <a:buNone/>
              <a:defRPr sz="2800"/>
            </a:lvl4pPr>
            <a:lvl5pPr lvl="4" algn="l">
              <a:lnSpc>
                <a:spcPct val="100000"/>
              </a:lnSpc>
              <a:spcBef>
                <a:spcPts val="0"/>
              </a:spcBef>
              <a:spcAft>
                <a:spcPts val="0"/>
              </a:spcAft>
              <a:buSzPts val="2800"/>
              <a:buNone/>
              <a:defRPr sz="2800"/>
            </a:lvl5pPr>
            <a:lvl6pPr lvl="5" algn="l">
              <a:lnSpc>
                <a:spcPct val="100000"/>
              </a:lnSpc>
              <a:spcBef>
                <a:spcPts val="0"/>
              </a:spcBef>
              <a:spcAft>
                <a:spcPts val="0"/>
              </a:spcAft>
              <a:buSzPts val="2800"/>
              <a:buNone/>
              <a:defRPr sz="2800"/>
            </a:lvl6pPr>
            <a:lvl7pPr lvl="6" algn="l">
              <a:lnSpc>
                <a:spcPct val="100000"/>
              </a:lnSpc>
              <a:spcBef>
                <a:spcPts val="0"/>
              </a:spcBef>
              <a:spcAft>
                <a:spcPts val="0"/>
              </a:spcAft>
              <a:buSzPts val="2800"/>
              <a:buNone/>
              <a:defRPr sz="2800"/>
            </a:lvl7pPr>
            <a:lvl8pPr lvl="7" algn="l">
              <a:lnSpc>
                <a:spcPct val="100000"/>
              </a:lnSpc>
              <a:spcBef>
                <a:spcPts val="0"/>
              </a:spcBef>
              <a:spcAft>
                <a:spcPts val="0"/>
              </a:spcAft>
              <a:buSzPts val="2800"/>
              <a:buNone/>
              <a:defRPr sz="2800"/>
            </a:lvl8pPr>
            <a:lvl9pPr lvl="8" algn="l">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2" name="Shape 12"/>
        <p:cNvGrpSpPr/>
        <p:nvPr/>
      </p:nvGrpSpPr>
      <p:grpSpPr>
        <a:xfrm>
          <a:off x="0" y="0"/>
          <a:ext cx="0" cy="0"/>
          <a:chOff x="0" y="0"/>
          <a:chExt cx="0" cy="0"/>
        </a:xfrm>
      </p:grpSpPr>
      <p:sp>
        <p:nvSpPr>
          <p:cNvPr id="13" name="Google Shape;13;p48"/>
          <p:cNvSpPr txBox="1"/>
          <p:nvPr>
            <p:ph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 name="Google Shape;14;p48"/>
          <p:cNvSpPr txBox="1"/>
          <p:nvPr>
            <p:ph idx="1" type="body"/>
          </p:nvPr>
        </p:nvSpPr>
        <p:spPr>
          <a:xfrm>
            <a:off x="818250" y="1236525"/>
            <a:ext cx="7245000" cy="3347100"/>
          </a:xfrm>
          <a:prstGeom prst="rect">
            <a:avLst/>
          </a:prstGeom>
          <a:noFill/>
          <a:ln>
            <a:noFill/>
          </a:ln>
        </p:spPr>
        <p:txBody>
          <a:bodyPr anchorCtr="0" anchor="t" bIns="91425" lIns="91425" spcFirstLastPara="1" rIns="91425" wrap="square" tIns="91425">
            <a:noAutofit/>
          </a:bodyPr>
          <a:lstStyle>
            <a:lvl1pPr indent="-292100" lvl="0" marL="457200" algn="l">
              <a:lnSpc>
                <a:spcPct val="115000"/>
              </a:lnSpc>
              <a:spcBef>
                <a:spcPts val="0"/>
              </a:spcBef>
              <a:spcAft>
                <a:spcPts val="0"/>
              </a:spcAft>
              <a:buSzPts val="1000"/>
              <a:buChar char="●"/>
              <a:defRPr sz="1000"/>
            </a:lvl1pPr>
            <a:lvl2pPr indent="-292100" lvl="1" marL="914400" algn="l">
              <a:lnSpc>
                <a:spcPct val="115000"/>
              </a:lnSpc>
              <a:spcBef>
                <a:spcPts val="1600"/>
              </a:spcBef>
              <a:spcAft>
                <a:spcPts val="0"/>
              </a:spcAft>
              <a:buSzPts val="1000"/>
              <a:buChar char="○"/>
              <a:defRPr sz="1000"/>
            </a:lvl2pPr>
            <a:lvl3pPr indent="-292100" lvl="2" marL="1371600" algn="l">
              <a:lnSpc>
                <a:spcPct val="115000"/>
              </a:lnSpc>
              <a:spcBef>
                <a:spcPts val="1600"/>
              </a:spcBef>
              <a:spcAft>
                <a:spcPts val="0"/>
              </a:spcAft>
              <a:buSzPts val="1000"/>
              <a:buChar char="■"/>
              <a:defRPr sz="1000"/>
            </a:lvl3pPr>
            <a:lvl4pPr indent="-292100" lvl="3" marL="1828800" algn="l">
              <a:lnSpc>
                <a:spcPct val="115000"/>
              </a:lnSpc>
              <a:spcBef>
                <a:spcPts val="1600"/>
              </a:spcBef>
              <a:spcAft>
                <a:spcPts val="0"/>
              </a:spcAft>
              <a:buSzPts val="1000"/>
              <a:buChar char="●"/>
              <a:defRPr sz="1000"/>
            </a:lvl4pPr>
            <a:lvl5pPr indent="-292100" lvl="4" marL="2286000" algn="l">
              <a:lnSpc>
                <a:spcPct val="115000"/>
              </a:lnSpc>
              <a:spcBef>
                <a:spcPts val="1600"/>
              </a:spcBef>
              <a:spcAft>
                <a:spcPts val="0"/>
              </a:spcAft>
              <a:buSzPts val="1000"/>
              <a:buChar char="○"/>
              <a:defRPr sz="1000"/>
            </a:lvl5pPr>
            <a:lvl6pPr indent="-292100" lvl="5" marL="2743200" algn="l">
              <a:lnSpc>
                <a:spcPct val="115000"/>
              </a:lnSpc>
              <a:spcBef>
                <a:spcPts val="1600"/>
              </a:spcBef>
              <a:spcAft>
                <a:spcPts val="0"/>
              </a:spcAft>
              <a:buSzPts val="1000"/>
              <a:buChar char="■"/>
              <a:defRPr sz="1000"/>
            </a:lvl6pPr>
            <a:lvl7pPr indent="-292100" lvl="6" marL="3200400" algn="l">
              <a:lnSpc>
                <a:spcPct val="115000"/>
              </a:lnSpc>
              <a:spcBef>
                <a:spcPts val="1600"/>
              </a:spcBef>
              <a:spcAft>
                <a:spcPts val="0"/>
              </a:spcAft>
              <a:buSzPts val="1000"/>
              <a:buChar char="●"/>
              <a:defRPr sz="1000"/>
            </a:lvl7pPr>
            <a:lvl8pPr indent="-292100" lvl="7" marL="3657600" algn="l">
              <a:lnSpc>
                <a:spcPct val="115000"/>
              </a:lnSpc>
              <a:spcBef>
                <a:spcPts val="1600"/>
              </a:spcBef>
              <a:spcAft>
                <a:spcPts val="0"/>
              </a:spcAft>
              <a:buSzPts val="1000"/>
              <a:buChar char="○"/>
              <a:defRPr sz="1000"/>
            </a:lvl8pPr>
            <a:lvl9pPr indent="-292100" lvl="8" marL="4114800" algn="l">
              <a:lnSpc>
                <a:spcPct val="115000"/>
              </a:lnSpc>
              <a:spcBef>
                <a:spcPts val="1600"/>
              </a:spcBef>
              <a:spcAft>
                <a:spcPts val="1600"/>
              </a:spcAft>
              <a:buSzPts val="1000"/>
              <a:buChar char="■"/>
              <a:defRPr sz="1000"/>
            </a:lvl9pPr>
          </a:lstStyle>
          <a:p/>
        </p:txBody>
      </p:sp>
      <p:sp>
        <p:nvSpPr>
          <p:cNvPr id="15" name="Google Shape;15;p4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able of contents">
  <p:cSld name="TITLE_AND_BODY_1">
    <p:spTree>
      <p:nvGrpSpPr>
        <p:cNvPr id="16" name="Shape 16"/>
        <p:cNvGrpSpPr/>
        <p:nvPr/>
      </p:nvGrpSpPr>
      <p:grpSpPr>
        <a:xfrm>
          <a:off x="0" y="0"/>
          <a:ext cx="0" cy="0"/>
          <a:chOff x="0" y="0"/>
          <a:chExt cx="0" cy="0"/>
        </a:xfrm>
      </p:grpSpPr>
      <p:sp>
        <p:nvSpPr>
          <p:cNvPr id="17" name="Google Shape;17;p49"/>
          <p:cNvSpPr txBox="1"/>
          <p:nvPr>
            <p:ph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9"/>
          <p:cNvSpPr txBox="1"/>
          <p:nvPr>
            <p:ph idx="2" type="title"/>
          </p:nvPr>
        </p:nvSpPr>
        <p:spPr>
          <a:xfrm>
            <a:off x="848400" y="2019475"/>
            <a:ext cx="1695900" cy="50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9" name="Google Shape;19;p49"/>
          <p:cNvSpPr txBox="1"/>
          <p:nvPr>
            <p:ph idx="3" type="title"/>
          </p:nvPr>
        </p:nvSpPr>
        <p:spPr>
          <a:xfrm>
            <a:off x="848400" y="2861100"/>
            <a:ext cx="1695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20" name="Google Shape;20;p49"/>
          <p:cNvSpPr txBox="1"/>
          <p:nvPr>
            <p:ph idx="1" type="subTitle"/>
          </p:nvPr>
        </p:nvSpPr>
        <p:spPr>
          <a:xfrm>
            <a:off x="848400" y="3365450"/>
            <a:ext cx="16959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1" name="Google Shape;21;p49"/>
          <p:cNvSpPr txBox="1"/>
          <p:nvPr>
            <p:ph idx="4" type="title"/>
          </p:nvPr>
        </p:nvSpPr>
        <p:spPr>
          <a:xfrm>
            <a:off x="2765499" y="2019475"/>
            <a:ext cx="1695900" cy="50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2" name="Google Shape;22;p49"/>
          <p:cNvSpPr txBox="1"/>
          <p:nvPr>
            <p:ph idx="5" type="title"/>
          </p:nvPr>
        </p:nvSpPr>
        <p:spPr>
          <a:xfrm>
            <a:off x="2765499" y="2861100"/>
            <a:ext cx="1695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23" name="Google Shape;23;p49"/>
          <p:cNvSpPr txBox="1"/>
          <p:nvPr>
            <p:ph idx="6" type="subTitle"/>
          </p:nvPr>
        </p:nvSpPr>
        <p:spPr>
          <a:xfrm>
            <a:off x="2765499" y="3365450"/>
            <a:ext cx="16959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4" name="Google Shape;24;p49"/>
          <p:cNvSpPr txBox="1"/>
          <p:nvPr>
            <p:ph idx="7" type="title"/>
          </p:nvPr>
        </p:nvSpPr>
        <p:spPr>
          <a:xfrm>
            <a:off x="4682598" y="2019475"/>
            <a:ext cx="1695900" cy="50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5" name="Google Shape;25;p49"/>
          <p:cNvSpPr txBox="1"/>
          <p:nvPr>
            <p:ph idx="8" type="title"/>
          </p:nvPr>
        </p:nvSpPr>
        <p:spPr>
          <a:xfrm>
            <a:off x="4682598" y="2861100"/>
            <a:ext cx="1695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26" name="Google Shape;26;p49"/>
          <p:cNvSpPr txBox="1"/>
          <p:nvPr>
            <p:ph idx="9" type="subTitle"/>
          </p:nvPr>
        </p:nvSpPr>
        <p:spPr>
          <a:xfrm>
            <a:off x="4682598" y="3365450"/>
            <a:ext cx="16959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7" name="Google Shape;27;p49"/>
          <p:cNvSpPr txBox="1"/>
          <p:nvPr>
            <p:ph idx="13" type="title"/>
          </p:nvPr>
        </p:nvSpPr>
        <p:spPr>
          <a:xfrm>
            <a:off x="6599697" y="2019475"/>
            <a:ext cx="1695900" cy="50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8" name="Google Shape;28;p49"/>
          <p:cNvSpPr txBox="1"/>
          <p:nvPr>
            <p:ph idx="14" type="title"/>
          </p:nvPr>
        </p:nvSpPr>
        <p:spPr>
          <a:xfrm>
            <a:off x="6599697" y="2861100"/>
            <a:ext cx="1695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29" name="Google Shape;29;p49"/>
          <p:cNvSpPr txBox="1"/>
          <p:nvPr>
            <p:ph idx="15" type="subTitle"/>
          </p:nvPr>
        </p:nvSpPr>
        <p:spPr>
          <a:xfrm>
            <a:off x="6599697" y="3365450"/>
            <a:ext cx="16959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30" name="Google Shape;30;p4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31" name="Shape 31"/>
        <p:cNvGrpSpPr/>
        <p:nvPr/>
      </p:nvGrpSpPr>
      <p:grpSpPr>
        <a:xfrm>
          <a:off x="0" y="0"/>
          <a:ext cx="0" cy="0"/>
          <a:chOff x="0" y="0"/>
          <a:chExt cx="0" cy="0"/>
        </a:xfrm>
      </p:grpSpPr>
      <p:sp>
        <p:nvSpPr>
          <p:cNvPr id="32" name="Google Shape;32;p50"/>
          <p:cNvSpPr txBox="1"/>
          <p:nvPr>
            <p:ph idx="1" type="body"/>
          </p:nvPr>
        </p:nvSpPr>
        <p:spPr>
          <a:xfrm>
            <a:off x="818250" y="1345650"/>
            <a:ext cx="2808000" cy="29043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3" name="Google Shape;33;p50"/>
          <p:cNvSpPr txBox="1"/>
          <p:nvPr>
            <p:ph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5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Quote">
  <p:cSld name="CAPTION_ONLY_1">
    <p:spTree>
      <p:nvGrpSpPr>
        <p:cNvPr id="35" name="Shape 35"/>
        <p:cNvGrpSpPr/>
        <p:nvPr/>
      </p:nvGrpSpPr>
      <p:grpSpPr>
        <a:xfrm>
          <a:off x="0" y="0"/>
          <a:ext cx="0" cy="0"/>
          <a:chOff x="0" y="0"/>
          <a:chExt cx="0" cy="0"/>
        </a:xfrm>
      </p:grpSpPr>
      <p:sp>
        <p:nvSpPr>
          <p:cNvPr id="36" name="Google Shape;36;p51"/>
          <p:cNvSpPr txBox="1"/>
          <p:nvPr>
            <p:ph type="title"/>
          </p:nvPr>
        </p:nvSpPr>
        <p:spPr>
          <a:xfrm>
            <a:off x="5786451" y="3831950"/>
            <a:ext cx="2522400" cy="710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1800"/>
              <a:buNone/>
              <a:defRPr b="0" sz="1800"/>
            </a:lvl1pPr>
            <a:lvl2pPr lvl="1" algn="r">
              <a:lnSpc>
                <a:spcPct val="100000"/>
              </a:lnSpc>
              <a:spcBef>
                <a:spcPts val="0"/>
              </a:spcBef>
              <a:spcAft>
                <a:spcPts val="0"/>
              </a:spcAft>
              <a:buClr>
                <a:schemeClr val="accent1"/>
              </a:buClr>
              <a:buSzPts val="1400"/>
              <a:buNone/>
              <a:defRPr sz="1400">
                <a:solidFill>
                  <a:schemeClr val="accent1"/>
                </a:solidFill>
              </a:defRPr>
            </a:lvl2pPr>
            <a:lvl3pPr lvl="2" algn="r">
              <a:lnSpc>
                <a:spcPct val="100000"/>
              </a:lnSpc>
              <a:spcBef>
                <a:spcPts val="0"/>
              </a:spcBef>
              <a:spcAft>
                <a:spcPts val="0"/>
              </a:spcAft>
              <a:buClr>
                <a:schemeClr val="accent1"/>
              </a:buClr>
              <a:buSzPts val="1400"/>
              <a:buNone/>
              <a:defRPr sz="1400">
                <a:solidFill>
                  <a:schemeClr val="accent1"/>
                </a:solidFill>
              </a:defRPr>
            </a:lvl3pPr>
            <a:lvl4pPr lvl="3" algn="r">
              <a:lnSpc>
                <a:spcPct val="100000"/>
              </a:lnSpc>
              <a:spcBef>
                <a:spcPts val="0"/>
              </a:spcBef>
              <a:spcAft>
                <a:spcPts val="0"/>
              </a:spcAft>
              <a:buClr>
                <a:schemeClr val="accent1"/>
              </a:buClr>
              <a:buSzPts val="1400"/>
              <a:buNone/>
              <a:defRPr sz="1400">
                <a:solidFill>
                  <a:schemeClr val="accent1"/>
                </a:solidFill>
              </a:defRPr>
            </a:lvl4pPr>
            <a:lvl5pPr lvl="4" algn="r">
              <a:lnSpc>
                <a:spcPct val="100000"/>
              </a:lnSpc>
              <a:spcBef>
                <a:spcPts val="0"/>
              </a:spcBef>
              <a:spcAft>
                <a:spcPts val="0"/>
              </a:spcAft>
              <a:buClr>
                <a:schemeClr val="accent1"/>
              </a:buClr>
              <a:buSzPts val="1400"/>
              <a:buNone/>
              <a:defRPr sz="1400">
                <a:solidFill>
                  <a:schemeClr val="accent1"/>
                </a:solidFill>
              </a:defRPr>
            </a:lvl5pPr>
            <a:lvl6pPr lvl="5" algn="r">
              <a:lnSpc>
                <a:spcPct val="100000"/>
              </a:lnSpc>
              <a:spcBef>
                <a:spcPts val="0"/>
              </a:spcBef>
              <a:spcAft>
                <a:spcPts val="0"/>
              </a:spcAft>
              <a:buClr>
                <a:schemeClr val="accent1"/>
              </a:buClr>
              <a:buSzPts val="1400"/>
              <a:buNone/>
              <a:defRPr sz="1400">
                <a:solidFill>
                  <a:schemeClr val="accent1"/>
                </a:solidFill>
              </a:defRPr>
            </a:lvl6pPr>
            <a:lvl7pPr lvl="6" algn="r">
              <a:lnSpc>
                <a:spcPct val="100000"/>
              </a:lnSpc>
              <a:spcBef>
                <a:spcPts val="0"/>
              </a:spcBef>
              <a:spcAft>
                <a:spcPts val="0"/>
              </a:spcAft>
              <a:buClr>
                <a:schemeClr val="accent1"/>
              </a:buClr>
              <a:buSzPts val="1400"/>
              <a:buNone/>
              <a:defRPr sz="1400">
                <a:solidFill>
                  <a:schemeClr val="accent1"/>
                </a:solidFill>
              </a:defRPr>
            </a:lvl7pPr>
            <a:lvl8pPr lvl="7" algn="r">
              <a:lnSpc>
                <a:spcPct val="100000"/>
              </a:lnSpc>
              <a:spcBef>
                <a:spcPts val="0"/>
              </a:spcBef>
              <a:spcAft>
                <a:spcPts val="0"/>
              </a:spcAft>
              <a:buClr>
                <a:schemeClr val="accent1"/>
              </a:buClr>
              <a:buSzPts val="1400"/>
              <a:buNone/>
              <a:defRPr sz="1400">
                <a:solidFill>
                  <a:schemeClr val="accent1"/>
                </a:solidFill>
              </a:defRPr>
            </a:lvl8pPr>
            <a:lvl9pPr lvl="8" algn="r">
              <a:lnSpc>
                <a:spcPct val="100000"/>
              </a:lnSpc>
              <a:spcBef>
                <a:spcPts val="0"/>
              </a:spcBef>
              <a:spcAft>
                <a:spcPts val="0"/>
              </a:spcAft>
              <a:buClr>
                <a:schemeClr val="accent1"/>
              </a:buClr>
              <a:buSzPts val="1400"/>
              <a:buNone/>
              <a:defRPr sz="1400">
                <a:solidFill>
                  <a:schemeClr val="accent1"/>
                </a:solidFill>
              </a:defRPr>
            </a:lvl9pPr>
          </a:lstStyle>
          <a:p/>
        </p:txBody>
      </p:sp>
      <p:sp>
        <p:nvSpPr>
          <p:cNvPr id="37" name="Google Shape;37;p51"/>
          <p:cNvSpPr txBox="1"/>
          <p:nvPr>
            <p:ph idx="2" type="title"/>
          </p:nvPr>
        </p:nvSpPr>
        <p:spPr>
          <a:xfrm>
            <a:off x="818250" y="459775"/>
            <a:ext cx="4579200" cy="2457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 name="Google Shape;38;p5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39" name="Shape 39"/>
        <p:cNvGrpSpPr/>
        <p:nvPr/>
      </p:nvGrpSpPr>
      <p:grpSpPr>
        <a:xfrm>
          <a:off x="0" y="0"/>
          <a:ext cx="0" cy="0"/>
          <a:chOff x="0" y="0"/>
          <a:chExt cx="0" cy="0"/>
        </a:xfrm>
      </p:grpSpPr>
      <p:sp>
        <p:nvSpPr>
          <p:cNvPr id="40" name="Google Shape;40;p52"/>
          <p:cNvSpPr txBox="1"/>
          <p:nvPr>
            <p:ph type="title"/>
          </p:nvPr>
        </p:nvSpPr>
        <p:spPr>
          <a:xfrm>
            <a:off x="895163" y="1690704"/>
            <a:ext cx="3247200" cy="1482300"/>
          </a:xfrm>
          <a:prstGeom prst="rect">
            <a:avLst/>
          </a:prstGeom>
          <a:noFill/>
          <a:ln>
            <a:noFill/>
          </a:ln>
        </p:spPr>
        <p:txBody>
          <a:bodyPr anchorCtr="0" anchor="b" bIns="91425" lIns="91425" spcFirstLastPara="1" rIns="91425" wrap="square" tIns="91425">
            <a:noAutofit/>
          </a:bodyPr>
          <a:lstStyle>
            <a:lvl1pPr lvl="0" algn="ctr">
              <a:lnSpc>
                <a:spcPct val="80000"/>
              </a:lnSpc>
              <a:spcBef>
                <a:spcPts val="0"/>
              </a:spcBef>
              <a:spcAft>
                <a:spcPts val="0"/>
              </a:spcAft>
              <a:buSzPts val="3600"/>
              <a:buNone/>
              <a:defRPr sz="3600"/>
            </a:lvl1pPr>
            <a:lvl2pPr lvl="1" algn="ctr">
              <a:lnSpc>
                <a:spcPct val="80000"/>
              </a:lnSpc>
              <a:spcBef>
                <a:spcPts val="0"/>
              </a:spcBef>
              <a:spcAft>
                <a:spcPts val="0"/>
              </a:spcAft>
              <a:buClr>
                <a:schemeClr val="accent1"/>
              </a:buClr>
              <a:buSzPts val="3600"/>
              <a:buNone/>
              <a:defRPr sz="3600">
                <a:solidFill>
                  <a:schemeClr val="accent1"/>
                </a:solidFill>
              </a:defRPr>
            </a:lvl2pPr>
            <a:lvl3pPr lvl="2" algn="ctr">
              <a:lnSpc>
                <a:spcPct val="80000"/>
              </a:lnSpc>
              <a:spcBef>
                <a:spcPts val="0"/>
              </a:spcBef>
              <a:spcAft>
                <a:spcPts val="0"/>
              </a:spcAft>
              <a:buClr>
                <a:schemeClr val="accent1"/>
              </a:buClr>
              <a:buSzPts val="3600"/>
              <a:buNone/>
              <a:defRPr sz="3600">
                <a:solidFill>
                  <a:schemeClr val="accent1"/>
                </a:solidFill>
              </a:defRPr>
            </a:lvl3pPr>
            <a:lvl4pPr lvl="3" algn="ctr">
              <a:lnSpc>
                <a:spcPct val="80000"/>
              </a:lnSpc>
              <a:spcBef>
                <a:spcPts val="0"/>
              </a:spcBef>
              <a:spcAft>
                <a:spcPts val="0"/>
              </a:spcAft>
              <a:buClr>
                <a:schemeClr val="accent1"/>
              </a:buClr>
              <a:buSzPts val="3600"/>
              <a:buNone/>
              <a:defRPr sz="3600">
                <a:solidFill>
                  <a:schemeClr val="accent1"/>
                </a:solidFill>
              </a:defRPr>
            </a:lvl4pPr>
            <a:lvl5pPr lvl="4" algn="ctr">
              <a:lnSpc>
                <a:spcPct val="80000"/>
              </a:lnSpc>
              <a:spcBef>
                <a:spcPts val="0"/>
              </a:spcBef>
              <a:spcAft>
                <a:spcPts val="0"/>
              </a:spcAft>
              <a:buClr>
                <a:schemeClr val="accent1"/>
              </a:buClr>
              <a:buSzPts val="3600"/>
              <a:buNone/>
              <a:defRPr sz="3600">
                <a:solidFill>
                  <a:schemeClr val="accent1"/>
                </a:solidFill>
              </a:defRPr>
            </a:lvl5pPr>
            <a:lvl6pPr lvl="5" algn="ctr">
              <a:lnSpc>
                <a:spcPct val="80000"/>
              </a:lnSpc>
              <a:spcBef>
                <a:spcPts val="0"/>
              </a:spcBef>
              <a:spcAft>
                <a:spcPts val="0"/>
              </a:spcAft>
              <a:buClr>
                <a:schemeClr val="accent1"/>
              </a:buClr>
              <a:buSzPts val="3600"/>
              <a:buNone/>
              <a:defRPr sz="3600">
                <a:solidFill>
                  <a:schemeClr val="accent1"/>
                </a:solidFill>
              </a:defRPr>
            </a:lvl6pPr>
            <a:lvl7pPr lvl="6" algn="ctr">
              <a:lnSpc>
                <a:spcPct val="80000"/>
              </a:lnSpc>
              <a:spcBef>
                <a:spcPts val="0"/>
              </a:spcBef>
              <a:spcAft>
                <a:spcPts val="0"/>
              </a:spcAft>
              <a:buClr>
                <a:schemeClr val="accent1"/>
              </a:buClr>
              <a:buSzPts val="3600"/>
              <a:buNone/>
              <a:defRPr sz="3600">
                <a:solidFill>
                  <a:schemeClr val="accent1"/>
                </a:solidFill>
              </a:defRPr>
            </a:lvl7pPr>
            <a:lvl8pPr lvl="7" algn="ctr">
              <a:lnSpc>
                <a:spcPct val="80000"/>
              </a:lnSpc>
              <a:spcBef>
                <a:spcPts val="0"/>
              </a:spcBef>
              <a:spcAft>
                <a:spcPts val="0"/>
              </a:spcAft>
              <a:buClr>
                <a:schemeClr val="accent1"/>
              </a:buClr>
              <a:buSzPts val="3600"/>
              <a:buNone/>
              <a:defRPr sz="3600">
                <a:solidFill>
                  <a:schemeClr val="accent1"/>
                </a:solidFill>
              </a:defRPr>
            </a:lvl8pPr>
            <a:lvl9pPr lvl="8" algn="ctr">
              <a:lnSpc>
                <a:spcPct val="80000"/>
              </a:lnSpc>
              <a:spcBef>
                <a:spcPts val="0"/>
              </a:spcBef>
              <a:spcAft>
                <a:spcPts val="0"/>
              </a:spcAft>
              <a:buClr>
                <a:schemeClr val="accent1"/>
              </a:buClr>
              <a:buSzPts val="3600"/>
              <a:buNone/>
              <a:defRPr sz="3600">
                <a:solidFill>
                  <a:schemeClr val="accent1"/>
                </a:solidFill>
              </a:defRPr>
            </a:lvl9pPr>
          </a:lstStyle>
          <a:p/>
        </p:txBody>
      </p:sp>
      <p:sp>
        <p:nvSpPr>
          <p:cNvPr id="41" name="Google Shape;41;p52"/>
          <p:cNvSpPr txBox="1"/>
          <p:nvPr>
            <p:ph idx="1" type="subTitle"/>
          </p:nvPr>
        </p:nvSpPr>
        <p:spPr>
          <a:xfrm>
            <a:off x="895163" y="3108204"/>
            <a:ext cx="3247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1"/>
              </a:buClr>
              <a:buSzPts val="1600"/>
              <a:buNone/>
              <a:defRPr sz="1600">
                <a:solidFill>
                  <a:schemeClr val="accent1"/>
                </a:solidFill>
              </a:defRPr>
            </a:lvl1pPr>
            <a:lvl2pPr lvl="1" algn="ctr">
              <a:lnSpc>
                <a:spcPct val="100000"/>
              </a:lnSpc>
              <a:spcBef>
                <a:spcPts val="0"/>
              </a:spcBef>
              <a:spcAft>
                <a:spcPts val="0"/>
              </a:spcAft>
              <a:buClr>
                <a:schemeClr val="accent1"/>
              </a:buClr>
              <a:buSzPts val="1600"/>
              <a:buNone/>
              <a:defRPr sz="1600">
                <a:solidFill>
                  <a:schemeClr val="accent1"/>
                </a:solidFill>
              </a:defRPr>
            </a:lvl2pPr>
            <a:lvl3pPr lvl="2" algn="ctr">
              <a:lnSpc>
                <a:spcPct val="100000"/>
              </a:lnSpc>
              <a:spcBef>
                <a:spcPts val="0"/>
              </a:spcBef>
              <a:spcAft>
                <a:spcPts val="0"/>
              </a:spcAft>
              <a:buClr>
                <a:schemeClr val="accent1"/>
              </a:buClr>
              <a:buSzPts val="1600"/>
              <a:buNone/>
              <a:defRPr sz="1600">
                <a:solidFill>
                  <a:schemeClr val="accent1"/>
                </a:solidFill>
              </a:defRPr>
            </a:lvl3pPr>
            <a:lvl4pPr lvl="3" algn="ctr">
              <a:lnSpc>
                <a:spcPct val="100000"/>
              </a:lnSpc>
              <a:spcBef>
                <a:spcPts val="0"/>
              </a:spcBef>
              <a:spcAft>
                <a:spcPts val="0"/>
              </a:spcAft>
              <a:buClr>
                <a:schemeClr val="accent1"/>
              </a:buClr>
              <a:buSzPts val="1600"/>
              <a:buNone/>
              <a:defRPr sz="1600">
                <a:solidFill>
                  <a:schemeClr val="accent1"/>
                </a:solidFill>
              </a:defRPr>
            </a:lvl4pPr>
            <a:lvl5pPr lvl="4" algn="ctr">
              <a:lnSpc>
                <a:spcPct val="100000"/>
              </a:lnSpc>
              <a:spcBef>
                <a:spcPts val="0"/>
              </a:spcBef>
              <a:spcAft>
                <a:spcPts val="0"/>
              </a:spcAft>
              <a:buClr>
                <a:schemeClr val="accent1"/>
              </a:buClr>
              <a:buSzPts val="1600"/>
              <a:buNone/>
              <a:defRPr sz="1600">
                <a:solidFill>
                  <a:schemeClr val="accent1"/>
                </a:solidFill>
              </a:defRPr>
            </a:lvl5pPr>
            <a:lvl6pPr lvl="5" algn="ctr">
              <a:lnSpc>
                <a:spcPct val="100000"/>
              </a:lnSpc>
              <a:spcBef>
                <a:spcPts val="0"/>
              </a:spcBef>
              <a:spcAft>
                <a:spcPts val="0"/>
              </a:spcAft>
              <a:buClr>
                <a:schemeClr val="accent1"/>
              </a:buClr>
              <a:buSzPts val="1600"/>
              <a:buNone/>
              <a:defRPr sz="1600">
                <a:solidFill>
                  <a:schemeClr val="accent1"/>
                </a:solidFill>
              </a:defRPr>
            </a:lvl6pPr>
            <a:lvl7pPr lvl="6" algn="ctr">
              <a:lnSpc>
                <a:spcPct val="100000"/>
              </a:lnSpc>
              <a:spcBef>
                <a:spcPts val="0"/>
              </a:spcBef>
              <a:spcAft>
                <a:spcPts val="0"/>
              </a:spcAft>
              <a:buClr>
                <a:schemeClr val="accent1"/>
              </a:buClr>
              <a:buSzPts val="1600"/>
              <a:buNone/>
              <a:defRPr sz="1600">
                <a:solidFill>
                  <a:schemeClr val="accent1"/>
                </a:solidFill>
              </a:defRPr>
            </a:lvl7pPr>
            <a:lvl8pPr lvl="7" algn="ctr">
              <a:lnSpc>
                <a:spcPct val="100000"/>
              </a:lnSpc>
              <a:spcBef>
                <a:spcPts val="0"/>
              </a:spcBef>
              <a:spcAft>
                <a:spcPts val="0"/>
              </a:spcAft>
              <a:buClr>
                <a:schemeClr val="accent1"/>
              </a:buClr>
              <a:buSzPts val="1600"/>
              <a:buNone/>
              <a:defRPr sz="1600">
                <a:solidFill>
                  <a:schemeClr val="accent1"/>
                </a:solidFill>
              </a:defRPr>
            </a:lvl8pPr>
            <a:lvl9pPr lvl="8" algn="ctr">
              <a:lnSpc>
                <a:spcPct val="100000"/>
              </a:lnSpc>
              <a:spcBef>
                <a:spcPts val="0"/>
              </a:spcBef>
              <a:spcAft>
                <a:spcPts val="0"/>
              </a:spcAft>
              <a:buClr>
                <a:schemeClr val="accent1"/>
              </a:buClr>
              <a:buSzPts val="1600"/>
              <a:buNone/>
              <a:defRPr sz="1600">
                <a:solidFill>
                  <a:schemeClr val="accent1"/>
                </a:solidFill>
              </a:defRPr>
            </a:lvl9pPr>
          </a:lstStyle>
          <a:p/>
        </p:txBody>
      </p:sp>
      <p:sp>
        <p:nvSpPr>
          <p:cNvPr id="42" name="Google Shape;42;p52"/>
          <p:cNvSpPr txBox="1"/>
          <p:nvPr>
            <p:ph idx="2" type="title"/>
          </p:nvPr>
        </p:nvSpPr>
        <p:spPr>
          <a:xfrm>
            <a:off x="1641413" y="1367754"/>
            <a:ext cx="1754700" cy="60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Clr>
                <a:schemeClr val="accent1"/>
              </a:buClr>
              <a:buSzPts val="12000"/>
              <a:buNone/>
              <a:defRPr sz="12000">
                <a:solidFill>
                  <a:schemeClr val="accent1"/>
                </a:solidFill>
              </a:defRPr>
            </a:lvl2pPr>
            <a:lvl3pPr lvl="2" algn="ctr">
              <a:lnSpc>
                <a:spcPct val="100000"/>
              </a:lnSpc>
              <a:spcBef>
                <a:spcPts val="0"/>
              </a:spcBef>
              <a:spcAft>
                <a:spcPts val="0"/>
              </a:spcAft>
              <a:buClr>
                <a:schemeClr val="accent1"/>
              </a:buClr>
              <a:buSzPts val="12000"/>
              <a:buNone/>
              <a:defRPr sz="12000">
                <a:solidFill>
                  <a:schemeClr val="accent1"/>
                </a:solidFill>
              </a:defRPr>
            </a:lvl3pPr>
            <a:lvl4pPr lvl="3" algn="ctr">
              <a:lnSpc>
                <a:spcPct val="100000"/>
              </a:lnSpc>
              <a:spcBef>
                <a:spcPts val="0"/>
              </a:spcBef>
              <a:spcAft>
                <a:spcPts val="0"/>
              </a:spcAft>
              <a:buClr>
                <a:schemeClr val="accent1"/>
              </a:buClr>
              <a:buSzPts val="12000"/>
              <a:buNone/>
              <a:defRPr sz="12000">
                <a:solidFill>
                  <a:schemeClr val="accent1"/>
                </a:solidFill>
              </a:defRPr>
            </a:lvl4pPr>
            <a:lvl5pPr lvl="4" algn="ctr">
              <a:lnSpc>
                <a:spcPct val="100000"/>
              </a:lnSpc>
              <a:spcBef>
                <a:spcPts val="0"/>
              </a:spcBef>
              <a:spcAft>
                <a:spcPts val="0"/>
              </a:spcAft>
              <a:buClr>
                <a:schemeClr val="accent1"/>
              </a:buClr>
              <a:buSzPts val="12000"/>
              <a:buNone/>
              <a:defRPr sz="12000">
                <a:solidFill>
                  <a:schemeClr val="accent1"/>
                </a:solidFill>
              </a:defRPr>
            </a:lvl5pPr>
            <a:lvl6pPr lvl="5" algn="ctr">
              <a:lnSpc>
                <a:spcPct val="100000"/>
              </a:lnSpc>
              <a:spcBef>
                <a:spcPts val="0"/>
              </a:spcBef>
              <a:spcAft>
                <a:spcPts val="0"/>
              </a:spcAft>
              <a:buClr>
                <a:schemeClr val="accent1"/>
              </a:buClr>
              <a:buSzPts val="12000"/>
              <a:buNone/>
              <a:defRPr sz="12000">
                <a:solidFill>
                  <a:schemeClr val="accent1"/>
                </a:solidFill>
              </a:defRPr>
            </a:lvl6pPr>
            <a:lvl7pPr lvl="6" algn="ctr">
              <a:lnSpc>
                <a:spcPct val="100000"/>
              </a:lnSpc>
              <a:spcBef>
                <a:spcPts val="0"/>
              </a:spcBef>
              <a:spcAft>
                <a:spcPts val="0"/>
              </a:spcAft>
              <a:buClr>
                <a:schemeClr val="accent1"/>
              </a:buClr>
              <a:buSzPts val="12000"/>
              <a:buNone/>
              <a:defRPr sz="12000">
                <a:solidFill>
                  <a:schemeClr val="accent1"/>
                </a:solidFill>
              </a:defRPr>
            </a:lvl7pPr>
            <a:lvl8pPr lvl="7" algn="ctr">
              <a:lnSpc>
                <a:spcPct val="100000"/>
              </a:lnSpc>
              <a:spcBef>
                <a:spcPts val="0"/>
              </a:spcBef>
              <a:spcAft>
                <a:spcPts val="0"/>
              </a:spcAft>
              <a:buClr>
                <a:schemeClr val="accent1"/>
              </a:buClr>
              <a:buSzPts val="12000"/>
              <a:buNone/>
              <a:defRPr sz="12000">
                <a:solidFill>
                  <a:schemeClr val="accent1"/>
                </a:solidFill>
              </a:defRPr>
            </a:lvl8pPr>
            <a:lvl9pPr lvl="8" algn="ctr">
              <a:lnSpc>
                <a:spcPct val="100000"/>
              </a:lnSpc>
              <a:spcBef>
                <a:spcPts val="0"/>
              </a:spcBef>
              <a:spcAft>
                <a:spcPts val="0"/>
              </a:spcAft>
              <a:buClr>
                <a:schemeClr val="accent1"/>
              </a:buClr>
              <a:buSzPts val="12000"/>
              <a:buNone/>
              <a:defRPr sz="12000">
                <a:solidFill>
                  <a:schemeClr val="accent1"/>
                </a:solidFill>
              </a:defRPr>
            </a:lvl9pPr>
          </a:lstStyle>
          <a:p/>
        </p:txBody>
      </p:sp>
      <p:sp>
        <p:nvSpPr>
          <p:cNvPr id="43" name="Google Shape;43;p5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text">
  <p:cSld name="SECTION_TITLE_AND_DESCRIPTION_1">
    <p:spTree>
      <p:nvGrpSpPr>
        <p:cNvPr id="44" name="Shape 44"/>
        <p:cNvGrpSpPr/>
        <p:nvPr/>
      </p:nvGrpSpPr>
      <p:grpSpPr>
        <a:xfrm>
          <a:off x="0" y="0"/>
          <a:ext cx="0" cy="0"/>
          <a:chOff x="0" y="0"/>
          <a:chExt cx="0" cy="0"/>
        </a:xfrm>
      </p:grpSpPr>
      <p:sp>
        <p:nvSpPr>
          <p:cNvPr id="45" name="Google Shape;45;p53"/>
          <p:cNvSpPr txBox="1"/>
          <p:nvPr>
            <p:ph type="title"/>
          </p:nvPr>
        </p:nvSpPr>
        <p:spPr>
          <a:xfrm>
            <a:off x="2674202" y="1469300"/>
            <a:ext cx="3795600" cy="1482300"/>
          </a:xfrm>
          <a:prstGeom prst="rect">
            <a:avLst/>
          </a:prstGeom>
          <a:noFill/>
          <a:ln>
            <a:noFill/>
          </a:ln>
        </p:spPr>
        <p:txBody>
          <a:bodyPr anchorCtr="0" anchor="b" bIns="91425" lIns="91425" spcFirstLastPara="1" rIns="91425" wrap="square" tIns="91425">
            <a:noAutofit/>
          </a:bodyPr>
          <a:lstStyle>
            <a:lvl1pPr lvl="0" algn="ctr">
              <a:lnSpc>
                <a:spcPct val="80000"/>
              </a:lnSpc>
              <a:spcBef>
                <a:spcPts val="0"/>
              </a:spcBef>
              <a:spcAft>
                <a:spcPts val="0"/>
              </a:spcAft>
              <a:buSzPts val="4800"/>
              <a:buNone/>
              <a:defRPr sz="4800"/>
            </a:lvl1pPr>
            <a:lvl2pPr lvl="1" algn="ctr">
              <a:lnSpc>
                <a:spcPct val="80000"/>
              </a:lnSpc>
              <a:spcBef>
                <a:spcPts val="0"/>
              </a:spcBef>
              <a:spcAft>
                <a:spcPts val="0"/>
              </a:spcAft>
              <a:buClr>
                <a:schemeClr val="accent1"/>
              </a:buClr>
              <a:buSzPts val="4800"/>
              <a:buNone/>
              <a:defRPr sz="4800">
                <a:solidFill>
                  <a:schemeClr val="accent1"/>
                </a:solidFill>
              </a:defRPr>
            </a:lvl2pPr>
            <a:lvl3pPr lvl="2" algn="ctr">
              <a:lnSpc>
                <a:spcPct val="80000"/>
              </a:lnSpc>
              <a:spcBef>
                <a:spcPts val="0"/>
              </a:spcBef>
              <a:spcAft>
                <a:spcPts val="0"/>
              </a:spcAft>
              <a:buClr>
                <a:schemeClr val="accent1"/>
              </a:buClr>
              <a:buSzPts val="4800"/>
              <a:buNone/>
              <a:defRPr sz="4800">
                <a:solidFill>
                  <a:schemeClr val="accent1"/>
                </a:solidFill>
              </a:defRPr>
            </a:lvl3pPr>
            <a:lvl4pPr lvl="3" algn="ctr">
              <a:lnSpc>
                <a:spcPct val="80000"/>
              </a:lnSpc>
              <a:spcBef>
                <a:spcPts val="0"/>
              </a:spcBef>
              <a:spcAft>
                <a:spcPts val="0"/>
              </a:spcAft>
              <a:buClr>
                <a:schemeClr val="accent1"/>
              </a:buClr>
              <a:buSzPts val="4800"/>
              <a:buNone/>
              <a:defRPr sz="4800">
                <a:solidFill>
                  <a:schemeClr val="accent1"/>
                </a:solidFill>
              </a:defRPr>
            </a:lvl4pPr>
            <a:lvl5pPr lvl="4" algn="ctr">
              <a:lnSpc>
                <a:spcPct val="80000"/>
              </a:lnSpc>
              <a:spcBef>
                <a:spcPts val="0"/>
              </a:spcBef>
              <a:spcAft>
                <a:spcPts val="0"/>
              </a:spcAft>
              <a:buClr>
                <a:schemeClr val="accent1"/>
              </a:buClr>
              <a:buSzPts val="4800"/>
              <a:buNone/>
              <a:defRPr sz="4800">
                <a:solidFill>
                  <a:schemeClr val="accent1"/>
                </a:solidFill>
              </a:defRPr>
            </a:lvl5pPr>
            <a:lvl6pPr lvl="5" algn="ctr">
              <a:lnSpc>
                <a:spcPct val="80000"/>
              </a:lnSpc>
              <a:spcBef>
                <a:spcPts val="0"/>
              </a:spcBef>
              <a:spcAft>
                <a:spcPts val="0"/>
              </a:spcAft>
              <a:buClr>
                <a:schemeClr val="accent1"/>
              </a:buClr>
              <a:buSzPts val="4800"/>
              <a:buNone/>
              <a:defRPr sz="4800">
                <a:solidFill>
                  <a:schemeClr val="accent1"/>
                </a:solidFill>
              </a:defRPr>
            </a:lvl6pPr>
            <a:lvl7pPr lvl="6" algn="ctr">
              <a:lnSpc>
                <a:spcPct val="80000"/>
              </a:lnSpc>
              <a:spcBef>
                <a:spcPts val="0"/>
              </a:spcBef>
              <a:spcAft>
                <a:spcPts val="0"/>
              </a:spcAft>
              <a:buClr>
                <a:schemeClr val="accent1"/>
              </a:buClr>
              <a:buSzPts val="4800"/>
              <a:buNone/>
              <a:defRPr sz="4800">
                <a:solidFill>
                  <a:schemeClr val="accent1"/>
                </a:solidFill>
              </a:defRPr>
            </a:lvl7pPr>
            <a:lvl8pPr lvl="7" algn="ctr">
              <a:lnSpc>
                <a:spcPct val="80000"/>
              </a:lnSpc>
              <a:spcBef>
                <a:spcPts val="0"/>
              </a:spcBef>
              <a:spcAft>
                <a:spcPts val="0"/>
              </a:spcAft>
              <a:buClr>
                <a:schemeClr val="accent1"/>
              </a:buClr>
              <a:buSzPts val="4800"/>
              <a:buNone/>
              <a:defRPr sz="4800">
                <a:solidFill>
                  <a:schemeClr val="accent1"/>
                </a:solidFill>
              </a:defRPr>
            </a:lvl8pPr>
            <a:lvl9pPr lvl="8" algn="ctr">
              <a:lnSpc>
                <a:spcPct val="80000"/>
              </a:lnSpc>
              <a:spcBef>
                <a:spcPts val="0"/>
              </a:spcBef>
              <a:spcAft>
                <a:spcPts val="0"/>
              </a:spcAft>
              <a:buClr>
                <a:schemeClr val="accent1"/>
              </a:buClr>
              <a:buSzPts val="4800"/>
              <a:buNone/>
              <a:defRPr sz="4800">
                <a:solidFill>
                  <a:schemeClr val="accent1"/>
                </a:solidFill>
              </a:defRPr>
            </a:lvl9pPr>
          </a:lstStyle>
          <a:p/>
        </p:txBody>
      </p:sp>
      <p:sp>
        <p:nvSpPr>
          <p:cNvPr id="46" name="Google Shape;46;p5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 Three columns">
  <p:cSld name="TITLE_AND_BODY_1_1">
    <p:spTree>
      <p:nvGrpSpPr>
        <p:cNvPr id="47" name="Shape 47"/>
        <p:cNvGrpSpPr/>
        <p:nvPr/>
      </p:nvGrpSpPr>
      <p:grpSpPr>
        <a:xfrm>
          <a:off x="0" y="0"/>
          <a:ext cx="0" cy="0"/>
          <a:chOff x="0" y="0"/>
          <a:chExt cx="0" cy="0"/>
        </a:xfrm>
      </p:grpSpPr>
      <p:sp>
        <p:nvSpPr>
          <p:cNvPr id="48" name="Google Shape;48;p54"/>
          <p:cNvSpPr txBox="1"/>
          <p:nvPr>
            <p:ph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9" name="Google Shape;49;p54"/>
          <p:cNvSpPr txBox="1"/>
          <p:nvPr>
            <p:ph idx="2" type="title"/>
          </p:nvPr>
        </p:nvSpPr>
        <p:spPr>
          <a:xfrm>
            <a:off x="1277050" y="3033233"/>
            <a:ext cx="18753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50" name="Google Shape;50;p54"/>
          <p:cNvSpPr txBox="1"/>
          <p:nvPr>
            <p:ph idx="1" type="subTitle"/>
          </p:nvPr>
        </p:nvSpPr>
        <p:spPr>
          <a:xfrm>
            <a:off x="1277050" y="3365450"/>
            <a:ext cx="18753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51" name="Google Shape;51;p54"/>
          <p:cNvSpPr txBox="1"/>
          <p:nvPr>
            <p:ph idx="3" type="title"/>
          </p:nvPr>
        </p:nvSpPr>
        <p:spPr>
          <a:xfrm>
            <a:off x="3634348" y="3033233"/>
            <a:ext cx="18753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52" name="Google Shape;52;p54"/>
          <p:cNvSpPr txBox="1"/>
          <p:nvPr>
            <p:ph idx="4" type="subTitle"/>
          </p:nvPr>
        </p:nvSpPr>
        <p:spPr>
          <a:xfrm>
            <a:off x="3634348" y="3365450"/>
            <a:ext cx="18753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53" name="Google Shape;53;p54"/>
          <p:cNvSpPr txBox="1"/>
          <p:nvPr>
            <p:ph idx="5" type="title"/>
          </p:nvPr>
        </p:nvSpPr>
        <p:spPr>
          <a:xfrm>
            <a:off x="5991647" y="3033233"/>
            <a:ext cx="18753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54" name="Google Shape;54;p54"/>
          <p:cNvSpPr txBox="1"/>
          <p:nvPr>
            <p:ph idx="6" type="subTitle"/>
          </p:nvPr>
        </p:nvSpPr>
        <p:spPr>
          <a:xfrm>
            <a:off x="5991647" y="3365450"/>
            <a:ext cx="18753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55" name="Google Shape;55;p5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6" name="Shape 56"/>
        <p:cNvGrpSpPr/>
        <p:nvPr/>
      </p:nvGrpSpPr>
      <p:grpSpPr>
        <a:xfrm>
          <a:off x="0" y="0"/>
          <a:ext cx="0" cy="0"/>
          <a:chOff x="0" y="0"/>
          <a:chExt cx="0" cy="0"/>
        </a:xfrm>
      </p:grpSpPr>
      <p:sp>
        <p:nvSpPr>
          <p:cNvPr id="57" name="Google Shape;57;p55"/>
          <p:cNvSpPr txBox="1"/>
          <p:nvPr>
            <p:ph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8" name="Google Shape;58;p5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59" name="Shape 59"/>
        <p:cNvGrpSpPr/>
        <p:nvPr/>
      </p:nvGrpSpPr>
      <p:grpSpPr>
        <a:xfrm>
          <a:off x="0" y="0"/>
          <a:ext cx="0" cy="0"/>
          <a:chOff x="0" y="0"/>
          <a:chExt cx="0" cy="0"/>
        </a:xfrm>
      </p:grpSpPr>
      <p:sp>
        <p:nvSpPr>
          <p:cNvPr id="60" name="Google Shape;60;p56"/>
          <p:cNvSpPr txBox="1"/>
          <p:nvPr>
            <p:ph hasCustomPrompt="1" type="title"/>
          </p:nvPr>
        </p:nvSpPr>
        <p:spPr>
          <a:xfrm>
            <a:off x="2417700" y="1859620"/>
            <a:ext cx="4308600" cy="112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r>
              <a:t>xx%</a:t>
            </a:r>
          </a:p>
        </p:txBody>
      </p:sp>
      <p:sp>
        <p:nvSpPr>
          <p:cNvPr id="61" name="Google Shape;61;p56"/>
          <p:cNvSpPr txBox="1"/>
          <p:nvPr>
            <p:ph idx="1" type="subTitle"/>
          </p:nvPr>
        </p:nvSpPr>
        <p:spPr>
          <a:xfrm>
            <a:off x="2799450" y="3211100"/>
            <a:ext cx="3545100" cy="648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62" name="Google Shape;62;p56"/>
          <p:cNvSpPr txBox="1"/>
          <p:nvPr>
            <p:ph idx="2"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5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Número grande 1">
  <p:cSld name="BIG_NUMBER_1">
    <p:spTree>
      <p:nvGrpSpPr>
        <p:cNvPr id="64" name="Shape 64"/>
        <p:cNvGrpSpPr/>
        <p:nvPr/>
      </p:nvGrpSpPr>
      <p:grpSpPr>
        <a:xfrm>
          <a:off x="0" y="0"/>
          <a:ext cx="0" cy="0"/>
          <a:chOff x="0" y="0"/>
          <a:chExt cx="0" cy="0"/>
        </a:xfrm>
      </p:grpSpPr>
      <p:sp>
        <p:nvSpPr>
          <p:cNvPr id="65" name="Google Shape;65;p57"/>
          <p:cNvSpPr txBox="1"/>
          <p:nvPr>
            <p:ph type="title"/>
          </p:nvPr>
        </p:nvSpPr>
        <p:spPr>
          <a:xfrm>
            <a:off x="3675900" y="1345956"/>
            <a:ext cx="1792200" cy="61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66" name="Google Shape;66;p57"/>
          <p:cNvSpPr txBox="1"/>
          <p:nvPr>
            <p:ph idx="2" type="title"/>
          </p:nvPr>
        </p:nvSpPr>
        <p:spPr>
          <a:xfrm>
            <a:off x="3358650" y="1798900"/>
            <a:ext cx="2426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67" name="Google Shape;67;p57"/>
          <p:cNvSpPr txBox="1"/>
          <p:nvPr>
            <p:ph idx="1" type="subTitle"/>
          </p:nvPr>
        </p:nvSpPr>
        <p:spPr>
          <a:xfrm>
            <a:off x="3642600" y="2074650"/>
            <a:ext cx="1858800" cy="341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68" name="Google Shape;68;p57"/>
          <p:cNvSpPr txBox="1"/>
          <p:nvPr>
            <p:ph idx="3"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57"/>
          <p:cNvSpPr txBox="1"/>
          <p:nvPr>
            <p:ph idx="4" type="title"/>
          </p:nvPr>
        </p:nvSpPr>
        <p:spPr>
          <a:xfrm>
            <a:off x="6162775" y="1294300"/>
            <a:ext cx="1792200" cy="61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70" name="Google Shape;70;p57"/>
          <p:cNvSpPr txBox="1"/>
          <p:nvPr>
            <p:ph idx="5" type="title"/>
          </p:nvPr>
        </p:nvSpPr>
        <p:spPr>
          <a:xfrm>
            <a:off x="5845525" y="1798900"/>
            <a:ext cx="2426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71" name="Google Shape;71;p57"/>
          <p:cNvSpPr txBox="1"/>
          <p:nvPr>
            <p:ph idx="6" type="subTitle"/>
          </p:nvPr>
        </p:nvSpPr>
        <p:spPr>
          <a:xfrm>
            <a:off x="6129475" y="2074650"/>
            <a:ext cx="1821900" cy="341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72" name="Google Shape;72;p57"/>
          <p:cNvSpPr txBox="1"/>
          <p:nvPr>
            <p:ph idx="7" type="title"/>
          </p:nvPr>
        </p:nvSpPr>
        <p:spPr>
          <a:xfrm>
            <a:off x="1189025" y="1294300"/>
            <a:ext cx="1792200" cy="617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73" name="Google Shape;73;p57"/>
          <p:cNvSpPr txBox="1"/>
          <p:nvPr>
            <p:ph idx="8" type="title"/>
          </p:nvPr>
        </p:nvSpPr>
        <p:spPr>
          <a:xfrm>
            <a:off x="871775" y="1798900"/>
            <a:ext cx="24267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74" name="Google Shape;74;p57"/>
          <p:cNvSpPr txBox="1"/>
          <p:nvPr>
            <p:ph idx="9" type="subTitle"/>
          </p:nvPr>
        </p:nvSpPr>
        <p:spPr>
          <a:xfrm>
            <a:off x="1155725" y="2074650"/>
            <a:ext cx="1858800" cy="341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75" name="Google Shape;75;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2">
  <p:cSld name="SECTION_TITLE_AND_DESCRIPTION_1_1">
    <p:spTree>
      <p:nvGrpSpPr>
        <p:cNvPr id="76" name="Shape 76"/>
        <p:cNvGrpSpPr/>
        <p:nvPr/>
      </p:nvGrpSpPr>
      <p:grpSpPr>
        <a:xfrm>
          <a:off x="0" y="0"/>
          <a:ext cx="0" cy="0"/>
          <a:chOff x="0" y="0"/>
          <a:chExt cx="0" cy="0"/>
        </a:xfrm>
      </p:grpSpPr>
      <p:sp>
        <p:nvSpPr>
          <p:cNvPr id="77" name="Google Shape;77;p58"/>
          <p:cNvSpPr/>
          <p:nvPr/>
        </p:nvSpPr>
        <p:spPr>
          <a:xfrm>
            <a:off x="-31750" y="-39675"/>
            <a:ext cx="6127800" cy="51831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58"/>
          <p:cNvSpPr txBox="1"/>
          <p:nvPr>
            <p:ph type="title"/>
          </p:nvPr>
        </p:nvSpPr>
        <p:spPr>
          <a:xfrm>
            <a:off x="774850" y="1698650"/>
            <a:ext cx="4129200" cy="1482300"/>
          </a:xfrm>
          <a:prstGeom prst="rect">
            <a:avLst/>
          </a:prstGeom>
          <a:noFill/>
          <a:ln>
            <a:noFill/>
          </a:ln>
        </p:spPr>
        <p:txBody>
          <a:bodyPr anchorCtr="0" anchor="b" bIns="91425" lIns="91425" spcFirstLastPara="1" rIns="91425" wrap="square" tIns="91425">
            <a:noAutofit/>
          </a:bodyPr>
          <a:lstStyle>
            <a:lvl1pPr lvl="0" algn="r">
              <a:lnSpc>
                <a:spcPct val="80000"/>
              </a:lnSpc>
              <a:spcBef>
                <a:spcPts val="0"/>
              </a:spcBef>
              <a:spcAft>
                <a:spcPts val="0"/>
              </a:spcAft>
              <a:buClr>
                <a:schemeClr val="lt1"/>
              </a:buClr>
              <a:buSzPts val="3600"/>
              <a:buNone/>
              <a:defRPr sz="3600">
                <a:solidFill>
                  <a:schemeClr val="lt1"/>
                </a:solidFill>
              </a:defRPr>
            </a:lvl1pPr>
            <a:lvl2pPr lvl="1" algn="r">
              <a:lnSpc>
                <a:spcPct val="80000"/>
              </a:lnSpc>
              <a:spcBef>
                <a:spcPts val="0"/>
              </a:spcBef>
              <a:spcAft>
                <a:spcPts val="0"/>
              </a:spcAft>
              <a:buClr>
                <a:schemeClr val="lt1"/>
              </a:buClr>
              <a:buSzPts val="3600"/>
              <a:buNone/>
              <a:defRPr sz="3600">
                <a:solidFill>
                  <a:schemeClr val="lt1"/>
                </a:solidFill>
              </a:defRPr>
            </a:lvl2pPr>
            <a:lvl3pPr lvl="2" algn="r">
              <a:lnSpc>
                <a:spcPct val="80000"/>
              </a:lnSpc>
              <a:spcBef>
                <a:spcPts val="0"/>
              </a:spcBef>
              <a:spcAft>
                <a:spcPts val="0"/>
              </a:spcAft>
              <a:buClr>
                <a:schemeClr val="lt1"/>
              </a:buClr>
              <a:buSzPts val="3600"/>
              <a:buNone/>
              <a:defRPr sz="3600">
                <a:solidFill>
                  <a:schemeClr val="lt1"/>
                </a:solidFill>
              </a:defRPr>
            </a:lvl3pPr>
            <a:lvl4pPr lvl="3" algn="r">
              <a:lnSpc>
                <a:spcPct val="80000"/>
              </a:lnSpc>
              <a:spcBef>
                <a:spcPts val="0"/>
              </a:spcBef>
              <a:spcAft>
                <a:spcPts val="0"/>
              </a:spcAft>
              <a:buClr>
                <a:schemeClr val="lt1"/>
              </a:buClr>
              <a:buSzPts val="3600"/>
              <a:buNone/>
              <a:defRPr sz="3600">
                <a:solidFill>
                  <a:schemeClr val="lt1"/>
                </a:solidFill>
              </a:defRPr>
            </a:lvl4pPr>
            <a:lvl5pPr lvl="4" algn="r">
              <a:lnSpc>
                <a:spcPct val="80000"/>
              </a:lnSpc>
              <a:spcBef>
                <a:spcPts val="0"/>
              </a:spcBef>
              <a:spcAft>
                <a:spcPts val="0"/>
              </a:spcAft>
              <a:buClr>
                <a:schemeClr val="lt1"/>
              </a:buClr>
              <a:buSzPts val="3600"/>
              <a:buNone/>
              <a:defRPr sz="3600">
                <a:solidFill>
                  <a:schemeClr val="lt1"/>
                </a:solidFill>
              </a:defRPr>
            </a:lvl5pPr>
            <a:lvl6pPr lvl="5" algn="r">
              <a:lnSpc>
                <a:spcPct val="80000"/>
              </a:lnSpc>
              <a:spcBef>
                <a:spcPts val="0"/>
              </a:spcBef>
              <a:spcAft>
                <a:spcPts val="0"/>
              </a:spcAft>
              <a:buClr>
                <a:schemeClr val="lt1"/>
              </a:buClr>
              <a:buSzPts val="3600"/>
              <a:buNone/>
              <a:defRPr sz="3600">
                <a:solidFill>
                  <a:schemeClr val="lt1"/>
                </a:solidFill>
              </a:defRPr>
            </a:lvl6pPr>
            <a:lvl7pPr lvl="6" algn="r">
              <a:lnSpc>
                <a:spcPct val="80000"/>
              </a:lnSpc>
              <a:spcBef>
                <a:spcPts val="0"/>
              </a:spcBef>
              <a:spcAft>
                <a:spcPts val="0"/>
              </a:spcAft>
              <a:buClr>
                <a:schemeClr val="lt1"/>
              </a:buClr>
              <a:buSzPts val="3600"/>
              <a:buNone/>
              <a:defRPr sz="3600">
                <a:solidFill>
                  <a:schemeClr val="lt1"/>
                </a:solidFill>
              </a:defRPr>
            </a:lvl7pPr>
            <a:lvl8pPr lvl="7" algn="r">
              <a:lnSpc>
                <a:spcPct val="80000"/>
              </a:lnSpc>
              <a:spcBef>
                <a:spcPts val="0"/>
              </a:spcBef>
              <a:spcAft>
                <a:spcPts val="0"/>
              </a:spcAft>
              <a:buClr>
                <a:schemeClr val="lt1"/>
              </a:buClr>
              <a:buSzPts val="3600"/>
              <a:buNone/>
              <a:defRPr sz="3600">
                <a:solidFill>
                  <a:schemeClr val="lt1"/>
                </a:solidFill>
              </a:defRPr>
            </a:lvl8pPr>
            <a:lvl9pPr lvl="8" algn="r">
              <a:lnSpc>
                <a:spcPct val="80000"/>
              </a:lnSpc>
              <a:spcBef>
                <a:spcPts val="0"/>
              </a:spcBef>
              <a:spcAft>
                <a:spcPts val="0"/>
              </a:spcAft>
              <a:buClr>
                <a:schemeClr val="lt1"/>
              </a:buClr>
              <a:buSzPts val="3600"/>
              <a:buNone/>
              <a:defRPr sz="3600">
                <a:solidFill>
                  <a:schemeClr val="lt1"/>
                </a:solidFill>
              </a:defRPr>
            </a:lvl9pPr>
          </a:lstStyle>
          <a:p/>
        </p:txBody>
      </p:sp>
      <p:sp>
        <p:nvSpPr>
          <p:cNvPr id="79" name="Google Shape;79;p58"/>
          <p:cNvSpPr txBox="1"/>
          <p:nvPr>
            <p:ph idx="1" type="subTitle"/>
          </p:nvPr>
        </p:nvSpPr>
        <p:spPr>
          <a:xfrm>
            <a:off x="1656850" y="3108204"/>
            <a:ext cx="3247200" cy="12351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chemeClr val="lt1"/>
              </a:buClr>
              <a:buSzPts val="1600"/>
              <a:buNone/>
              <a:defRPr sz="1600">
                <a:solidFill>
                  <a:schemeClr val="lt1"/>
                </a:solidFill>
              </a:defRPr>
            </a:lvl1pPr>
            <a:lvl2pPr lvl="1" algn="r">
              <a:lnSpc>
                <a:spcPct val="100000"/>
              </a:lnSpc>
              <a:spcBef>
                <a:spcPts val="0"/>
              </a:spcBef>
              <a:spcAft>
                <a:spcPts val="0"/>
              </a:spcAft>
              <a:buClr>
                <a:schemeClr val="lt1"/>
              </a:buClr>
              <a:buSzPts val="1600"/>
              <a:buNone/>
              <a:defRPr sz="1600">
                <a:solidFill>
                  <a:schemeClr val="lt1"/>
                </a:solidFill>
              </a:defRPr>
            </a:lvl2pPr>
            <a:lvl3pPr lvl="2" algn="r">
              <a:lnSpc>
                <a:spcPct val="100000"/>
              </a:lnSpc>
              <a:spcBef>
                <a:spcPts val="0"/>
              </a:spcBef>
              <a:spcAft>
                <a:spcPts val="0"/>
              </a:spcAft>
              <a:buClr>
                <a:schemeClr val="lt1"/>
              </a:buClr>
              <a:buSzPts val="1600"/>
              <a:buNone/>
              <a:defRPr sz="1600">
                <a:solidFill>
                  <a:schemeClr val="lt1"/>
                </a:solidFill>
              </a:defRPr>
            </a:lvl3pPr>
            <a:lvl4pPr lvl="3" algn="r">
              <a:lnSpc>
                <a:spcPct val="100000"/>
              </a:lnSpc>
              <a:spcBef>
                <a:spcPts val="0"/>
              </a:spcBef>
              <a:spcAft>
                <a:spcPts val="0"/>
              </a:spcAft>
              <a:buClr>
                <a:schemeClr val="lt1"/>
              </a:buClr>
              <a:buSzPts val="1600"/>
              <a:buNone/>
              <a:defRPr sz="1600">
                <a:solidFill>
                  <a:schemeClr val="lt1"/>
                </a:solidFill>
              </a:defRPr>
            </a:lvl4pPr>
            <a:lvl5pPr lvl="4" algn="r">
              <a:lnSpc>
                <a:spcPct val="100000"/>
              </a:lnSpc>
              <a:spcBef>
                <a:spcPts val="0"/>
              </a:spcBef>
              <a:spcAft>
                <a:spcPts val="0"/>
              </a:spcAft>
              <a:buClr>
                <a:schemeClr val="lt1"/>
              </a:buClr>
              <a:buSzPts val="1600"/>
              <a:buNone/>
              <a:defRPr sz="1600">
                <a:solidFill>
                  <a:schemeClr val="lt1"/>
                </a:solidFill>
              </a:defRPr>
            </a:lvl5pPr>
            <a:lvl6pPr lvl="5" algn="r">
              <a:lnSpc>
                <a:spcPct val="100000"/>
              </a:lnSpc>
              <a:spcBef>
                <a:spcPts val="0"/>
              </a:spcBef>
              <a:spcAft>
                <a:spcPts val="0"/>
              </a:spcAft>
              <a:buClr>
                <a:schemeClr val="lt1"/>
              </a:buClr>
              <a:buSzPts val="1600"/>
              <a:buNone/>
              <a:defRPr sz="1600">
                <a:solidFill>
                  <a:schemeClr val="lt1"/>
                </a:solidFill>
              </a:defRPr>
            </a:lvl6pPr>
            <a:lvl7pPr lvl="6" algn="r">
              <a:lnSpc>
                <a:spcPct val="100000"/>
              </a:lnSpc>
              <a:spcBef>
                <a:spcPts val="0"/>
              </a:spcBef>
              <a:spcAft>
                <a:spcPts val="0"/>
              </a:spcAft>
              <a:buClr>
                <a:schemeClr val="lt1"/>
              </a:buClr>
              <a:buSzPts val="1600"/>
              <a:buNone/>
              <a:defRPr sz="1600">
                <a:solidFill>
                  <a:schemeClr val="lt1"/>
                </a:solidFill>
              </a:defRPr>
            </a:lvl7pPr>
            <a:lvl8pPr lvl="7" algn="r">
              <a:lnSpc>
                <a:spcPct val="100000"/>
              </a:lnSpc>
              <a:spcBef>
                <a:spcPts val="0"/>
              </a:spcBef>
              <a:spcAft>
                <a:spcPts val="0"/>
              </a:spcAft>
              <a:buClr>
                <a:schemeClr val="lt1"/>
              </a:buClr>
              <a:buSzPts val="1600"/>
              <a:buNone/>
              <a:defRPr sz="1600">
                <a:solidFill>
                  <a:schemeClr val="lt1"/>
                </a:solidFill>
              </a:defRPr>
            </a:lvl8pPr>
            <a:lvl9pPr lvl="8" algn="r">
              <a:lnSpc>
                <a:spcPct val="100000"/>
              </a:lnSpc>
              <a:spcBef>
                <a:spcPts val="0"/>
              </a:spcBef>
              <a:spcAft>
                <a:spcPts val="0"/>
              </a:spcAft>
              <a:buClr>
                <a:schemeClr val="lt1"/>
              </a:buClr>
              <a:buSzPts val="1600"/>
              <a:buNone/>
              <a:defRPr sz="1600">
                <a:solidFill>
                  <a:schemeClr val="lt1"/>
                </a:solidFill>
              </a:defRPr>
            </a:lvl9pPr>
          </a:lstStyle>
          <a:p/>
        </p:txBody>
      </p:sp>
      <p:sp>
        <p:nvSpPr>
          <p:cNvPr id="80" name="Google Shape;80;p58"/>
          <p:cNvSpPr txBox="1"/>
          <p:nvPr>
            <p:ph idx="2" type="title"/>
          </p:nvPr>
        </p:nvSpPr>
        <p:spPr>
          <a:xfrm>
            <a:off x="3149350" y="1367754"/>
            <a:ext cx="1754700" cy="6048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Clr>
                <a:schemeClr val="lt1"/>
              </a:buClr>
              <a:buSzPts val="3600"/>
              <a:buNone/>
              <a:defRPr sz="3600">
                <a:solidFill>
                  <a:schemeClr val="lt1"/>
                </a:solidFill>
              </a:defRPr>
            </a:lvl1pPr>
            <a:lvl2pPr lvl="1" algn="r">
              <a:lnSpc>
                <a:spcPct val="100000"/>
              </a:lnSpc>
              <a:spcBef>
                <a:spcPts val="0"/>
              </a:spcBef>
              <a:spcAft>
                <a:spcPts val="0"/>
              </a:spcAft>
              <a:buClr>
                <a:schemeClr val="lt1"/>
              </a:buClr>
              <a:buSzPts val="12000"/>
              <a:buNone/>
              <a:defRPr sz="12000">
                <a:solidFill>
                  <a:schemeClr val="lt1"/>
                </a:solidFill>
              </a:defRPr>
            </a:lvl2pPr>
            <a:lvl3pPr lvl="2" algn="r">
              <a:lnSpc>
                <a:spcPct val="100000"/>
              </a:lnSpc>
              <a:spcBef>
                <a:spcPts val="0"/>
              </a:spcBef>
              <a:spcAft>
                <a:spcPts val="0"/>
              </a:spcAft>
              <a:buClr>
                <a:schemeClr val="lt1"/>
              </a:buClr>
              <a:buSzPts val="12000"/>
              <a:buNone/>
              <a:defRPr sz="12000">
                <a:solidFill>
                  <a:schemeClr val="lt1"/>
                </a:solidFill>
              </a:defRPr>
            </a:lvl3pPr>
            <a:lvl4pPr lvl="3" algn="r">
              <a:lnSpc>
                <a:spcPct val="100000"/>
              </a:lnSpc>
              <a:spcBef>
                <a:spcPts val="0"/>
              </a:spcBef>
              <a:spcAft>
                <a:spcPts val="0"/>
              </a:spcAft>
              <a:buClr>
                <a:schemeClr val="lt1"/>
              </a:buClr>
              <a:buSzPts val="12000"/>
              <a:buNone/>
              <a:defRPr sz="12000">
                <a:solidFill>
                  <a:schemeClr val="lt1"/>
                </a:solidFill>
              </a:defRPr>
            </a:lvl4pPr>
            <a:lvl5pPr lvl="4" algn="r">
              <a:lnSpc>
                <a:spcPct val="100000"/>
              </a:lnSpc>
              <a:spcBef>
                <a:spcPts val="0"/>
              </a:spcBef>
              <a:spcAft>
                <a:spcPts val="0"/>
              </a:spcAft>
              <a:buClr>
                <a:schemeClr val="lt1"/>
              </a:buClr>
              <a:buSzPts val="12000"/>
              <a:buNone/>
              <a:defRPr sz="12000">
                <a:solidFill>
                  <a:schemeClr val="lt1"/>
                </a:solidFill>
              </a:defRPr>
            </a:lvl5pPr>
            <a:lvl6pPr lvl="5" algn="r">
              <a:lnSpc>
                <a:spcPct val="100000"/>
              </a:lnSpc>
              <a:spcBef>
                <a:spcPts val="0"/>
              </a:spcBef>
              <a:spcAft>
                <a:spcPts val="0"/>
              </a:spcAft>
              <a:buClr>
                <a:schemeClr val="lt1"/>
              </a:buClr>
              <a:buSzPts val="12000"/>
              <a:buNone/>
              <a:defRPr sz="12000">
                <a:solidFill>
                  <a:schemeClr val="lt1"/>
                </a:solidFill>
              </a:defRPr>
            </a:lvl6pPr>
            <a:lvl7pPr lvl="6" algn="r">
              <a:lnSpc>
                <a:spcPct val="100000"/>
              </a:lnSpc>
              <a:spcBef>
                <a:spcPts val="0"/>
              </a:spcBef>
              <a:spcAft>
                <a:spcPts val="0"/>
              </a:spcAft>
              <a:buClr>
                <a:schemeClr val="lt1"/>
              </a:buClr>
              <a:buSzPts val="12000"/>
              <a:buNone/>
              <a:defRPr sz="12000">
                <a:solidFill>
                  <a:schemeClr val="lt1"/>
                </a:solidFill>
              </a:defRPr>
            </a:lvl7pPr>
            <a:lvl8pPr lvl="7" algn="r">
              <a:lnSpc>
                <a:spcPct val="100000"/>
              </a:lnSpc>
              <a:spcBef>
                <a:spcPts val="0"/>
              </a:spcBef>
              <a:spcAft>
                <a:spcPts val="0"/>
              </a:spcAft>
              <a:buClr>
                <a:schemeClr val="lt1"/>
              </a:buClr>
              <a:buSzPts val="12000"/>
              <a:buNone/>
              <a:defRPr sz="12000">
                <a:solidFill>
                  <a:schemeClr val="lt1"/>
                </a:solidFill>
              </a:defRPr>
            </a:lvl8pPr>
            <a:lvl9pPr lvl="8" algn="r">
              <a:lnSpc>
                <a:spcPct val="100000"/>
              </a:lnSpc>
              <a:spcBef>
                <a:spcPts val="0"/>
              </a:spcBef>
              <a:spcAft>
                <a:spcPts val="0"/>
              </a:spcAft>
              <a:buClr>
                <a:schemeClr val="lt1"/>
              </a:buClr>
              <a:buSzPts val="12000"/>
              <a:buNone/>
              <a:defRPr sz="12000">
                <a:solidFill>
                  <a:schemeClr val="lt1"/>
                </a:solidFill>
              </a:defRPr>
            </a:lvl9pPr>
          </a:lstStyle>
          <a:p/>
        </p:txBody>
      </p:sp>
      <p:sp>
        <p:nvSpPr>
          <p:cNvPr id="81" name="Google Shape;81;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 four columns">
  <p:cSld name="TITLE_AND_BODY_1_2">
    <p:spTree>
      <p:nvGrpSpPr>
        <p:cNvPr id="82" name="Shape 82"/>
        <p:cNvGrpSpPr/>
        <p:nvPr/>
      </p:nvGrpSpPr>
      <p:grpSpPr>
        <a:xfrm>
          <a:off x="0" y="0"/>
          <a:ext cx="0" cy="0"/>
          <a:chOff x="0" y="0"/>
          <a:chExt cx="0" cy="0"/>
        </a:xfrm>
      </p:grpSpPr>
      <p:sp>
        <p:nvSpPr>
          <p:cNvPr id="83" name="Google Shape;83;p59"/>
          <p:cNvSpPr txBox="1"/>
          <p:nvPr>
            <p:ph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4" name="Google Shape;84;p59"/>
          <p:cNvSpPr txBox="1"/>
          <p:nvPr>
            <p:ph idx="2" type="title"/>
          </p:nvPr>
        </p:nvSpPr>
        <p:spPr>
          <a:xfrm>
            <a:off x="848400" y="3013500"/>
            <a:ext cx="1695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85" name="Google Shape;85;p59"/>
          <p:cNvSpPr txBox="1"/>
          <p:nvPr>
            <p:ph idx="1" type="subTitle"/>
          </p:nvPr>
        </p:nvSpPr>
        <p:spPr>
          <a:xfrm>
            <a:off x="848400" y="3365450"/>
            <a:ext cx="16959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86" name="Google Shape;86;p59"/>
          <p:cNvSpPr txBox="1"/>
          <p:nvPr>
            <p:ph idx="3" type="title"/>
          </p:nvPr>
        </p:nvSpPr>
        <p:spPr>
          <a:xfrm>
            <a:off x="2765499" y="3013500"/>
            <a:ext cx="1695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87" name="Google Shape;87;p59"/>
          <p:cNvSpPr txBox="1"/>
          <p:nvPr>
            <p:ph idx="4" type="subTitle"/>
          </p:nvPr>
        </p:nvSpPr>
        <p:spPr>
          <a:xfrm>
            <a:off x="2765499" y="3365450"/>
            <a:ext cx="16959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88" name="Google Shape;88;p59"/>
          <p:cNvSpPr txBox="1"/>
          <p:nvPr>
            <p:ph idx="5" type="title"/>
          </p:nvPr>
        </p:nvSpPr>
        <p:spPr>
          <a:xfrm>
            <a:off x="4682598" y="3013500"/>
            <a:ext cx="1695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89" name="Google Shape;89;p59"/>
          <p:cNvSpPr txBox="1"/>
          <p:nvPr>
            <p:ph idx="6" type="subTitle"/>
          </p:nvPr>
        </p:nvSpPr>
        <p:spPr>
          <a:xfrm>
            <a:off x="4682598" y="3365450"/>
            <a:ext cx="16959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90" name="Google Shape;90;p59"/>
          <p:cNvSpPr txBox="1"/>
          <p:nvPr>
            <p:ph idx="7" type="title"/>
          </p:nvPr>
        </p:nvSpPr>
        <p:spPr>
          <a:xfrm>
            <a:off x="6599697" y="3013500"/>
            <a:ext cx="1695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91" name="Google Shape;91;p59"/>
          <p:cNvSpPr txBox="1"/>
          <p:nvPr>
            <p:ph idx="8" type="subTitle"/>
          </p:nvPr>
        </p:nvSpPr>
        <p:spPr>
          <a:xfrm>
            <a:off x="6599697" y="3365450"/>
            <a:ext cx="16959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92" name="Google Shape;92;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93" name="Shape 93"/>
        <p:cNvGrpSpPr/>
        <p:nvPr/>
      </p:nvGrpSpPr>
      <p:grpSpPr>
        <a:xfrm>
          <a:off x="0" y="0"/>
          <a:ext cx="0" cy="0"/>
          <a:chOff x="0" y="0"/>
          <a:chExt cx="0" cy="0"/>
        </a:xfrm>
      </p:grpSpPr>
      <p:sp>
        <p:nvSpPr>
          <p:cNvPr id="94" name="Google Shape;94;p60"/>
          <p:cNvSpPr txBox="1"/>
          <p:nvPr>
            <p:ph idx="1" type="body"/>
          </p:nvPr>
        </p:nvSpPr>
        <p:spPr>
          <a:xfrm>
            <a:off x="985975" y="2203400"/>
            <a:ext cx="3366900" cy="21369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5" name="Google Shape;95;p60"/>
          <p:cNvSpPr txBox="1"/>
          <p:nvPr>
            <p:ph idx="2" type="body"/>
          </p:nvPr>
        </p:nvSpPr>
        <p:spPr>
          <a:xfrm>
            <a:off x="4791124" y="2203400"/>
            <a:ext cx="3366900" cy="21369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6" name="Google Shape;96;p60"/>
          <p:cNvSpPr txBox="1"/>
          <p:nvPr>
            <p:ph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7" name="Google Shape;97;p60"/>
          <p:cNvSpPr txBox="1"/>
          <p:nvPr>
            <p:ph idx="3" type="title"/>
          </p:nvPr>
        </p:nvSpPr>
        <p:spPr>
          <a:xfrm>
            <a:off x="985975" y="1640473"/>
            <a:ext cx="3366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98" name="Google Shape;98;p60"/>
          <p:cNvSpPr txBox="1"/>
          <p:nvPr>
            <p:ph idx="4" type="title"/>
          </p:nvPr>
        </p:nvSpPr>
        <p:spPr>
          <a:xfrm>
            <a:off x="4791125" y="1640473"/>
            <a:ext cx="33669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99" name="Google Shape;99;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100" name="Shape 100"/>
        <p:cNvGrpSpPr/>
        <p:nvPr/>
      </p:nvGrpSpPr>
      <p:grpSpPr>
        <a:xfrm>
          <a:off x="0" y="0"/>
          <a:ext cx="0" cy="0"/>
          <a:chOff x="0" y="0"/>
          <a:chExt cx="0" cy="0"/>
        </a:xfrm>
      </p:grpSpPr>
      <p:sp>
        <p:nvSpPr>
          <p:cNvPr id="101" name="Google Shape;101;p61"/>
          <p:cNvSpPr txBox="1"/>
          <p:nvPr>
            <p:ph type="title"/>
          </p:nvPr>
        </p:nvSpPr>
        <p:spPr>
          <a:xfrm>
            <a:off x="818250" y="450150"/>
            <a:ext cx="3070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Clr>
                <a:schemeClr val="accent4"/>
              </a:buClr>
              <a:buSzPts val="3600"/>
              <a:buNone/>
              <a:defRPr sz="3600">
                <a:solidFill>
                  <a:schemeClr val="accent4"/>
                </a:solidFill>
              </a:defRPr>
            </a:lvl2pPr>
            <a:lvl3pPr lvl="2" algn="l">
              <a:lnSpc>
                <a:spcPct val="100000"/>
              </a:lnSpc>
              <a:spcBef>
                <a:spcPts val="0"/>
              </a:spcBef>
              <a:spcAft>
                <a:spcPts val="0"/>
              </a:spcAft>
              <a:buClr>
                <a:schemeClr val="accent4"/>
              </a:buClr>
              <a:buSzPts val="3600"/>
              <a:buNone/>
              <a:defRPr sz="3600">
                <a:solidFill>
                  <a:schemeClr val="accent4"/>
                </a:solidFill>
              </a:defRPr>
            </a:lvl3pPr>
            <a:lvl4pPr lvl="3" algn="l">
              <a:lnSpc>
                <a:spcPct val="100000"/>
              </a:lnSpc>
              <a:spcBef>
                <a:spcPts val="0"/>
              </a:spcBef>
              <a:spcAft>
                <a:spcPts val="0"/>
              </a:spcAft>
              <a:buClr>
                <a:schemeClr val="accent4"/>
              </a:buClr>
              <a:buSzPts val="3600"/>
              <a:buNone/>
              <a:defRPr sz="3600">
                <a:solidFill>
                  <a:schemeClr val="accent4"/>
                </a:solidFill>
              </a:defRPr>
            </a:lvl4pPr>
            <a:lvl5pPr lvl="4" algn="l">
              <a:lnSpc>
                <a:spcPct val="100000"/>
              </a:lnSpc>
              <a:spcBef>
                <a:spcPts val="0"/>
              </a:spcBef>
              <a:spcAft>
                <a:spcPts val="0"/>
              </a:spcAft>
              <a:buClr>
                <a:schemeClr val="accent4"/>
              </a:buClr>
              <a:buSzPts val="3600"/>
              <a:buNone/>
              <a:defRPr sz="3600">
                <a:solidFill>
                  <a:schemeClr val="accent4"/>
                </a:solidFill>
              </a:defRPr>
            </a:lvl5pPr>
            <a:lvl6pPr lvl="5" algn="l">
              <a:lnSpc>
                <a:spcPct val="100000"/>
              </a:lnSpc>
              <a:spcBef>
                <a:spcPts val="0"/>
              </a:spcBef>
              <a:spcAft>
                <a:spcPts val="0"/>
              </a:spcAft>
              <a:buClr>
                <a:schemeClr val="accent4"/>
              </a:buClr>
              <a:buSzPts val="3600"/>
              <a:buNone/>
              <a:defRPr sz="3600">
                <a:solidFill>
                  <a:schemeClr val="accent4"/>
                </a:solidFill>
              </a:defRPr>
            </a:lvl6pPr>
            <a:lvl7pPr lvl="6" algn="l">
              <a:lnSpc>
                <a:spcPct val="100000"/>
              </a:lnSpc>
              <a:spcBef>
                <a:spcPts val="0"/>
              </a:spcBef>
              <a:spcAft>
                <a:spcPts val="0"/>
              </a:spcAft>
              <a:buClr>
                <a:schemeClr val="accent4"/>
              </a:buClr>
              <a:buSzPts val="3600"/>
              <a:buNone/>
              <a:defRPr sz="3600">
                <a:solidFill>
                  <a:schemeClr val="accent4"/>
                </a:solidFill>
              </a:defRPr>
            </a:lvl7pPr>
            <a:lvl8pPr lvl="7" algn="l">
              <a:lnSpc>
                <a:spcPct val="100000"/>
              </a:lnSpc>
              <a:spcBef>
                <a:spcPts val="0"/>
              </a:spcBef>
              <a:spcAft>
                <a:spcPts val="0"/>
              </a:spcAft>
              <a:buClr>
                <a:schemeClr val="accent4"/>
              </a:buClr>
              <a:buSzPts val="3600"/>
              <a:buNone/>
              <a:defRPr sz="3600">
                <a:solidFill>
                  <a:schemeClr val="accent4"/>
                </a:solidFill>
              </a:defRPr>
            </a:lvl8pPr>
            <a:lvl9pPr lvl="8" algn="l">
              <a:lnSpc>
                <a:spcPct val="100000"/>
              </a:lnSpc>
              <a:spcBef>
                <a:spcPts val="0"/>
              </a:spcBef>
              <a:spcAft>
                <a:spcPts val="0"/>
              </a:spcAft>
              <a:buClr>
                <a:schemeClr val="accent4"/>
              </a:buClr>
              <a:buSzPts val="3600"/>
              <a:buNone/>
              <a:defRPr sz="3600">
                <a:solidFill>
                  <a:schemeClr val="accent4"/>
                </a:solidFill>
              </a:defRPr>
            </a:lvl9pPr>
          </a:lstStyle>
          <a:p/>
        </p:txBody>
      </p:sp>
      <p:sp>
        <p:nvSpPr>
          <p:cNvPr id="102" name="Google Shape;102;p6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103" name="Shape 103"/>
        <p:cNvGrpSpPr/>
        <p:nvPr/>
      </p:nvGrpSpPr>
      <p:grpSpPr>
        <a:xfrm>
          <a:off x="0" y="0"/>
          <a:ext cx="0" cy="0"/>
          <a:chOff x="0" y="0"/>
          <a:chExt cx="0" cy="0"/>
        </a:xfrm>
      </p:grpSpPr>
      <p:sp>
        <p:nvSpPr>
          <p:cNvPr id="104" name="Google Shape;104;p62"/>
          <p:cNvSpPr txBox="1"/>
          <p:nvPr>
            <p:ph idx="1" type="body"/>
          </p:nvPr>
        </p:nvSpPr>
        <p:spPr>
          <a:xfrm>
            <a:off x="818250" y="2097750"/>
            <a:ext cx="2539200" cy="1635900"/>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SzPts val="1600"/>
              <a:buNone/>
              <a:defRPr sz="1600"/>
            </a:lvl1pPr>
          </a:lstStyle>
          <a:p/>
        </p:txBody>
      </p:sp>
      <p:sp>
        <p:nvSpPr>
          <p:cNvPr id="105" name="Google Shape;105;p62"/>
          <p:cNvSpPr txBox="1"/>
          <p:nvPr>
            <p:ph type="title"/>
          </p:nvPr>
        </p:nvSpPr>
        <p:spPr>
          <a:xfrm>
            <a:off x="818250" y="459775"/>
            <a:ext cx="45687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6" name="Google Shape;106;p6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3">
  <p:cSld name="SECTION_TITLE_AND_DESCRIPTION_1_2">
    <p:spTree>
      <p:nvGrpSpPr>
        <p:cNvPr id="107" name="Shape 107"/>
        <p:cNvGrpSpPr/>
        <p:nvPr/>
      </p:nvGrpSpPr>
      <p:grpSpPr>
        <a:xfrm>
          <a:off x="0" y="0"/>
          <a:ext cx="0" cy="0"/>
          <a:chOff x="0" y="0"/>
          <a:chExt cx="0" cy="0"/>
        </a:xfrm>
      </p:grpSpPr>
      <p:sp>
        <p:nvSpPr>
          <p:cNvPr id="108" name="Google Shape;108;p63"/>
          <p:cNvSpPr txBox="1"/>
          <p:nvPr>
            <p:ph type="title"/>
          </p:nvPr>
        </p:nvSpPr>
        <p:spPr>
          <a:xfrm>
            <a:off x="895163" y="1690704"/>
            <a:ext cx="3247200" cy="1482300"/>
          </a:xfrm>
          <a:prstGeom prst="rect">
            <a:avLst/>
          </a:prstGeom>
          <a:noFill/>
          <a:ln>
            <a:noFill/>
          </a:ln>
        </p:spPr>
        <p:txBody>
          <a:bodyPr anchorCtr="0" anchor="b" bIns="91425" lIns="91425" spcFirstLastPara="1" rIns="91425" wrap="square" tIns="91425">
            <a:noAutofit/>
          </a:bodyPr>
          <a:lstStyle>
            <a:lvl1pPr lvl="0" algn="ctr">
              <a:lnSpc>
                <a:spcPct val="80000"/>
              </a:lnSpc>
              <a:spcBef>
                <a:spcPts val="0"/>
              </a:spcBef>
              <a:spcAft>
                <a:spcPts val="0"/>
              </a:spcAft>
              <a:buSzPts val="3600"/>
              <a:buNone/>
              <a:defRPr sz="3600"/>
            </a:lvl1pPr>
            <a:lvl2pPr lvl="1" algn="ctr">
              <a:lnSpc>
                <a:spcPct val="80000"/>
              </a:lnSpc>
              <a:spcBef>
                <a:spcPts val="0"/>
              </a:spcBef>
              <a:spcAft>
                <a:spcPts val="0"/>
              </a:spcAft>
              <a:buClr>
                <a:schemeClr val="accent1"/>
              </a:buClr>
              <a:buSzPts val="3600"/>
              <a:buNone/>
              <a:defRPr sz="3600">
                <a:solidFill>
                  <a:schemeClr val="accent1"/>
                </a:solidFill>
              </a:defRPr>
            </a:lvl2pPr>
            <a:lvl3pPr lvl="2" algn="ctr">
              <a:lnSpc>
                <a:spcPct val="80000"/>
              </a:lnSpc>
              <a:spcBef>
                <a:spcPts val="0"/>
              </a:spcBef>
              <a:spcAft>
                <a:spcPts val="0"/>
              </a:spcAft>
              <a:buClr>
                <a:schemeClr val="accent1"/>
              </a:buClr>
              <a:buSzPts val="3600"/>
              <a:buNone/>
              <a:defRPr sz="3600">
                <a:solidFill>
                  <a:schemeClr val="accent1"/>
                </a:solidFill>
              </a:defRPr>
            </a:lvl3pPr>
            <a:lvl4pPr lvl="3" algn="ctr">
              <a:lnSpc>
                <a:spcPct val="80000"/>
              </a:lnSpc>
              <a:spcBef>
                <a:spcPts val="0"/>
              </a:spcBef>
              <a:spcAft>
                <a:spcPts val="0"/>
              </a:spcAft>
              <a:buClr>
                <a:schemeClr val="accent1"/>
              </a:buClr>
              <a:buSzPts val="3600"/>
              <a:buNone/>
              <a:defRPr sz="3600">
                <a:solidFill>
                  <a:schemeClr val="accent1"/>
                </a:solidFill>
              </a:defRPr>
            </a:lvl4pPr>
            <a:lvl5pPr lvl="4" algn="ctr">
              <a:lnSpc>
                <a:spcPct val="80000"/>
              </a:lnSpc>
              <a:spcBef>
                <a:spcPts val="0"/>
              </a:spcBef>
              <a:spcAft>
                <a:spcPts val="0"/>
              </a:spcAft>
              <a:buClr>
                <a:schemeClr val="accent1"/>
              </a:buClr>
              <a:buSzPts val="3600"/>
              <a:buNone/>
              <a:defRPr sz="3600">
                <a:solidFill>
                  <a:schemeClr val="accent1"/>
                </a:solidFill>
              </a:defRPr>
            </a:lvl5pPr>
            <a:lvl6pPr lvl="5" algn="ctr">
              <a:lnSpc>
                <a:spcPct val="80000"/>
              </a:lnSpc>
              <a:spcBef>
                <a:spcPts val="0"/>
              </a:spcBef>
              <a:spcAft>
                <a:spcPts val="0"/>
              </a:spcAft>
              <a:buClr>
                <a:schemeClr val="accent1"/>
              </a:buClr>
              <a:buSzPts val="3600"/>
              <a:buNone/>
              <a:defRPr sz="3600">
                <a:solidFill>
                  <a:schemeClr val="accent1"/>
                </a:solidFill>
              </a:defRPr>
            </a:lvl6pPr>
            <a:lvl7pPr lvl="6" algn="ctr">
              <a:lnSpc>
                <a:spcPct val="80000"/>
              </a:lnSpc>
              <a:spcBef>
                <a:spcPts val="0"/>
              </a:spcBef>
              <a:spcAft>
                <a:spcPts val="0"/>
              </a:spcAft>
              <a:buClr>
                <a:schemeClr val="accent1"/>
              </a:buClr>
              <a:buSzPts val="3600"/>
              <a:buNone/>
              <a:defRPr sz="3600">
                <a:solidFill>
                  <a:schemeClr val="accent1"/>
                </a:solidFill>
              </a:defRPr>
            </a:lvl7pPr>
            <a:lvl8pPr lvl="7" algn="ctr">
              <a:lnSpc>
                <a:spcPct val="80000"/>
              </a:lnSpc>
              <a:spcBef>
                <a:spcPts val="0"/>
              </a:spcBef>
              <a:spcAft>
                <a:spcPts val="0"/>
              </a:spcAft>
              <a:buClr>
                <a:schemeClr val="accent1"/>
              </a:buClr>
              <a:buSzPts val="3600"/>
              <a:buNone/>
              <a:defRPr sz="3600">
                <a:solidFill>
                  <a:schemeClr val="accent1"/>
                </a:solidFill>
              </a:defRPr>
            </a:lvl8pPr>
            <a:lvl9pPr lvl="8" algn="ctr">
              <a:lnSpc>
                <a:spcPct val="80000"/>
              </a:lnSpc>
              <a:spcBef>
                <a:spcPts val="0"/>
              </a:spcBef>
              <a:spcAft>
                <a:spcPts val="0"/>
              </a:spcAft>
              <a:buClr>
                <a:schemeClr val="accent1"/>
              </a:buClr>
              <a:buSzPts val="3600"/>
              <a:buNone/>
              <a:defRPr sz="3600">
                <a:solidFill>
                  <a:schemeClr val="accent1"/>
                </a:solidFill>
              </a:defRPr>
            </a:lvl9pPr>
          </a:lstStyle>
          <a:p/>
        </p:txBody>
      </p:sp>
      <p:sp>
        <p:nvSpPr>
          <p:cNvPr id="109" name="Google Shape;109;p63"/>
          <p:cNvSpPr txBox="1"/>
          <p:nvPr>
            <p:ph idx="1" type="subTitle"/>
          </p:nvPr>
        </p:nvSpPr>
        <p:spPr>
          <a:xfrm>
            <a:off x="895163" y="3108204"/>
            <a:ext cx="3247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1"/>
              </a:buClr>
              <a:buSzPts val="1600"/>
              <a:buNone/>
              <a:defRPr sz="1600">
                <a:solidFill>
                  <a:schemeClr val="accent1"/>
                </a:solidFill>
              </a:defRPr>
            </a:lvl1pPr>
            <a:lvl2pPr lvl="1" algn="ctr">
              <a:lnSpc>
                <a:spcPct val="100000"/>
              </a:lnSpc>
              <a:spcBef>
                <a:spcPts val="0"/>
              </a:spcBef>
              <a:spcAft>
                <a:spcPts val="0"/>
              </a:spcAft>
              <a:buClr>
                <a:schemeClr val="accent1"/>
              </a:buClr>
              <a:buSzPts val="1600"/>
              <a:buNone/>
              <a:defRPr sz="1600">
                <a:solidFill>
                  <a:schemeClr val="accent1"/>
                </a:solidFill>
              </a:defRPr>
            </a:lvl2pPr>
            <a:lvl3pPr lvl="2" algn="ctr">
              <a:lnSpc>
                <a:spcPct val="100000"/>
              </a:lnSpc>
              <a:spcBef>
                <a:spcPts val="0"/>
              </a:spcBef>
              <a:spcAft>
                <a:spcPts val="0"/>
              </a:spcAft>
              <a:buClr>
                <a:schemeClr val="accent1"/>
              </a:buClr>
              <a:buSzPts val="1600"/>
              <a:buNone/>
              <a:defRPr sz="1600">
                <a:solidFill>
                  <a:schemeClr val="accent1"/>
                </a:solidFill>
              </a:defRPr>
            </a:lvl3pPr>
            <a:lvl4pPr lvl="3" algn="ctr">
              <a:lnSpc>
                <a:spcPct val="100000"/>
              </a:lnSpc>
              <a:spcBef>
                <a:spcPts val="0"/>
              </a:spcBef>
              <a:spcAft>
                <a:spcPts val="0"/>
              </a:spcAft>
              <a:buClr>
                <a:schemeClr val="accent1"/>
              </a:buClr>
              <a:buSzPts val="1600"/>
              <a:buNone/>
              <a:defRPr sz="1600">
                <a:solidFill>
                  <a:schemeClr val="accent1"/>
                </a:solidFill>
              </a:defRPr>
            </a:lvl4pPr>
            <a:lvl5pPr lvl="4" algn="ctr">
              <a:lnSpc>
                <a:spcPct val="100000"/>
              </a:lnSpc>
              <a:spcBef>
                <a:spcPts val="0"/>
              </a:spcBef>
              <a:spcAft>
                <a:spcPts val="0"/>
              </a:spcAft>
              <a:buClr>
                <a:schemeClr val="accent1"/>
              </a:buClr>
              <a:buSzPts val="1600"/>
              <a:buNone/>
              <a:defRPr sz="1600">
                <a:solidFill>
                  <a:schemeClr val="accent1"/>
                </a:solidFill>
              </a:defRPr>
            </a:lvl5pPr>
            <a:lvl6pPr lvl="5" algn="ctr">
              <a:lnSpc>
                <a:spcPct val="100000"/>
              </a:lnSpc>
              <a:spcBef>
                <a:spcPts val="0"/>
              </a:spcBef>
              <a:spcAft>
                <a:spcPts val="0"/>
              </a:spcAft>
              <a:buClr>
                <a:schemeClr val="accent1"/>
              </a:buClr>
              <a:buSzPts val="1600"/>
              <a:buNone/>
              <a:defRPr sz="1600">
                <a:solidFill>
                  <a:schemeClr val="accent1"/>
                </a:solidFill>
              </a:defRPr>
            </a:lvl6pPr>
            <a:lvl7pPr lvl="6" algn="ctr">
              <a:lnSpc>
                <a:spcPct val="100000"/>
              </a:lnSpc>
              <a:spcBef>
                <a:spcPts val="0"/>
              </a:spcBef>
              <a:spcAft>
                <a:spcPts val="0"/>
              </a:spcAft>
              <a:buClr>
                <a:schemeClr val="accent1"/>
              </a:buClr>
              <a:buSzPts val="1600"/>
              <a:buNone/>
              <a:defRPr sz="1600">
                <a:solidFill>
                  <a:schemeClr val="accent1"/>
                </a:solidFill>
              </a:defRPr>
            </a:lvl7pPr>
            <a:lvl8pPr lvl="7" algn="ctr">
              <a:lnSpc>
                <a:spcPct val="100000"/>
              </a:lnSpc>
              <a:spcBef>
                <a:spcPts val="0"/>
              </a:spcBef>
              <a:spcAft>
                <a:spcPts val="0"/>
              </a:spcAft>
              <a:buClr>
                <a:schemeClr val="accent1"/>
              </a:buClr>
              <a:buSzPts val="1600"/>
              <a:buNone/>
              <a:defRPr sz="1600">
                <a:solidFill>
                  <a:schemeClr val="accent1"/>
                </a:solidFill>
              </a:defRPr>
            </a:lvl8pPr>
            <a:lvl9pPr lvl="8" algn="ctr">
              <a:lnSpc>
                <a:spcPct val="100000"/>
              </a:lnSpc>
              <a:spcBef>
                <a:spcPts val="0"/>
              </a:spcBef>
              <a:spcAft>
                <a:spcPts val="0"/>
              </a:spcAft>
              <a:buClr>
                <a:schemeClr val="accent1"/>
              </a:buClr>
              <a:buSzPts val="1600"/>
              <a:buNone/>
              <a:defRPr sz="1600">
                <a:solidFill>
                  <a:schemeClr val="accent1"/>
                </a:solidFill>
              </a:defRPr>
            </a:lvl9pPr>
          </a:lstStyle>
          <a:p/>
        </p:txBody>
      </p:sp>
      <p:sp>
        <p:nvSpPr>
          <p:cNvPr id="110" name="Google Shape;110;p63"/>
          <p:cNvSpPr txBox="1"/>
          <p:nvPr>
            <p:ph idx="2" type="title"/>
          </p:nvPr>
        </p:nvSpPr>
        <p:spPr>
          <a:xfrm>
            <a:off x="1641413" y="1367754"/>
            <a:ext cx="1754700" cy="604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Clr>
                <a:schemeClr val="accent1"/>
              </a:buClr>
              <a:buSzPts val="12000"/>
              <a:buNone/>
              <a:defRPr sz="12000">
                <a:solidFill>
                  <a:schemeClr val="accent1"/>
                </a:solidFill>
              </a:defRPr>
            </a:lvl2pPr>
            <a:lvl3pPr lvl="2" algn="ctr">
              <a:lnSpc>
                <a:spcPct val="100000"/>
              </a:lnSpc>
              <a:spcBef>
                <a:spcPts val="0"/>
              </a:spcBef>
              <a:spcAft>
                <a:spcPts val="0"/>
              </a:spcAft>
              <a:buClr>
                <a:schemeClr val="accent1"/>
              </a:buClr>
              <a:buSzPts val="12000"/>
              <a:buNone/>
              <a:defRPr sz="12000">
                <a:solidFill>
                  <a:schemeClr val="accent1"/>
                </a:solidFill>
              </a:defRPr>
            </a:lvl3pPr>
            <a:lvl4pPr lvl="3" algn="ctr">
              <a:lnSpc>
                <a:spcPct val="100000"/>
              </a:lnSpc>
              <a:spcBef>
                <a:spcPts val="0"/>
              </a:spcBef>
              <a:spcAft>
                <a:spcPts val="0"/>
              </a:spcAft>
              <a:buClr>
                <a:schemeClr val="accent1"/>
              </a:buClr>
              <a:buSzPts val="12000"/>
              <a:buNone/>
              <a:defRPr sz="12000">
                <a:solidFill>
                  <a:schemeClr val="accent1"/>
                </a:solidFill>
              </a:defRPr>
            </a:lvl4pPr>
            <a:lvl5pPr lvl="4" algn="ctr">
              <a:lnSpc>
                <a:spcPct val="100000"/>
              </a:lnSpc>
              <a:spcBef>
                <a:spcPts val="0"/>
              </a:spcBef>
              <a:spcAft>
                <a:spcPts val="0"/>
              </a:spcAft>
              <a:buClr>
                <a:schemeClr val="accent1"/>
              </a:buClr>
              <a:buSzPts val="12000"/>
              <a:buNone/>
              <a:defRPr sz="12000">
                <a:solidFill>
                  <a:schemeClr val="accent1"/>
                </a:solidFill>
              </a:defRPr>
            </a:lvl5pPr>
            <a:lvl6pPr lvl="5" algn="ctr">
              <a:lnSpc>
                <a:spcPct val="100000"/>
              </a:lnSpc>
              <a:spcBef>
                <a:spcPts val="0"/>
              </a:spcBef>
              <a:spcAft>
                <a:spcPts val="0"/>
              </a:spcAft>
              <a:buClr>
                <a:schemeClr val="accent1"/>
              </a:buClr>
              <a:buSzPts val="12000"/>
              <a:buNone/>
              <a:defRPr sz="12000">
                <a:solidFill>
                  <a:schemeClr val="accent1"/>
                </a:solidFill>
              </a:defRPr>
            </a:lvl6pPr>
            <a:lvl7pPr lvl="6" algn="ctr">
              <a:lnSpc>
                <a:spcPct val="100000"/>
              </a:lnSpc>
              <a:spcBef>
                <a:spcPts val="0"/>
              </a:spcBef>
              <a:spcAft>
                <a:spcPts val="0"/>
              </a:spcAft>
              <a:buClr>
                <a:schemeClr val="accent1"/>
              </a:buClr>
              <a:buSzPts val="12000"/>
              <a:buNone/>
              <a:defRPr sz="12000">
                <a:solidFill>
                  <a:schemeClr val="accent1"/>
                </a:solidFill>
              </a:defRPr>
            </a:lvl7pPr>
            <a:lvl8pPr lvl="7" algn="ctr">
              <a:lnSpc>
                <a:spcPct val="100000"/>
              </a:lnSpc>
              <a:spcBef>
                <a:spcPts val="0"/>
              </a:spcBef>
              <a:spcAft>
                <a:spcPts val="0"/>
              </a:spcAft>
              <a:buClr>
                <a:schemeClr val="accent1"/>
              </a:buClr>
              <a:buSzPts val="12000"/>
              <a:buNone/>
              <a:defRPr sz="12000">
                <a:solidFill>
                  <a:schemeClr val="accent1"/>
                </a:solidFill>
              </a:defRPr>
            </a:lvl8pPr>
            <a:lvl9pPr lvl="8" algn="ctr">
              <a:lnSpc>
                <a:spcPct val="100000"/>
              </a:lnSpc>
              <a:spcBef>
                <a:spcPts val="0"/>
              </a:spcBef>
              <a:spcAft>
                <a:spcPts val="0"/>
              </a:spcAft>
              <a:buClr>
                <a:schemeClr val="accent1"/>
              </a:buClr>
              <a:buSzPts val="12000"/>
              <a:buNone/>
              <a:defRPr sz="12000">
                <a:solidFill>
                  <a:schemeClr val="accent1"/>
                </a:solidFill>
              </a:defRPr>
            </a:lvl9pPr>
          </a:lstStyle>
          <a:p/>
        </p:txBody>
      </p:sp>
      <p:sp>
        <p:nvSpPr>
          <p:cNvPr id="111" name="Google Shape;111;p63"/>
          <p:cNvSpPr/>
          <p:nvPr/>
        </p:nvSpPr>
        <p:spPr>
          <a:xfrm>
            <a:off x="6524625" y="0"/>
            <a:ext cx="26193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 six columns ">
  <p:cSld name="TITLE_AND_BODY_1_1_2">
    <p:spTree>
      <p:nvGrpSpPr>
        <p:cNvPr id="113" name="Shape 113"/>
        <p:cNvGrpSpPr/>
        <p:nvPr/>
      </p:nvGrpSpPr>
      <p:grpSpPr>
        <a:xfrm>
          <a:off x="0" y="0"/>
          <a:ext cx="0" cy="0"/>
          <a:chOff x="0" y="0"/>
          <a:chExt cx="0" cy="0"/>
        </a:xfrm>
      </p:grpSpPr>
      <p:sp>
        <p:nvSpPr>
          <p:cNvPr id="114" name="Google Shape;114;p64"/>
          <p:cNvSpPr txBox="1"/>
          <p:nvPr>
            <p:ph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5" name="Google Shape;115;p64"/>
          <p:cNvSpPr txBox="1"/>
          <p:nvPr>
            <p:ph idx="2" type="title"/>
          </p:nvPr>
        </p:nvSpPr>
        <p:spPr>
          <a:xfrm>
            <a:off x="669900" y="3453858"/>
            <a:ext cx="18753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16" name="Google Shape;116;p64"/>
          <p:cNvSpPr txBox="1"/>
          <p:nvPr>
            <p:ph idx="1" type="subTitle"/>
          </p:nvPr>
        </p:nvSpPr>
        <p:spPr>
          <a:xfrm>
            <a:off x="669900" y="3786075"/>
            <a:ext cx="18753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17" name="Google Shape;117;p64"/>
          <p:cNvSpPr txBox="1"/>
          <p:nvPr>
            <p:ph idx="3" type="title"/>
          </p:nvPr>
        </p:nvSpPr>
        <p:spPr>
          <a:xfrm>
            <a:off x="2646198" y="3453858"/>
            <a:ext cx="18753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18" name="Google Shape;118;p64"/>
          <p:cNvSpPr txBox="1"/>
          <p:nvPr>
            <p:ph idx="4" type="subTitle"/>
          </p:nvPr>
        </p:nvSpPr>
        <p:spPr>
          <a:xfrm>
            <a:off x="2646198" y="3786075"/>
            <a:ext cx="18753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19" name="Google Shape;119;p64"/>
          <p:cNvSpPr txBox="1"/>
          <p:nvPr>
            <p:ph idx="5" type="title"/>
          </p:nvPr>
        </p:nvSpPr>
        <p:spPr>
          <a:xfrm>
            <a:off x="4622497" y="3453858"/>
            <a:ext cx="18753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20" name="Google Shape;120;p64"/>
          <p:cNvSpPr txBox="1"/>
          <p:nvPr>
            <p:ph idx="6" type="subTitle"/>
          </p:nvPr>
        </p:nvSpPr>
        <p:spPr>
          <a:xfrm>
            <a:off x="4622497" y="3786075"/>
            <a:ext cx="18753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21" name="Google Shape;121;p64"/>
          <p:cNvSpPr txBox="1"/>
          <p:nvPr>
            <p:ph idx="7" type="title"/>
          </p:nvPr>
        </p:nvSpPr>
        <p:spPr>
          <a:xfrm>
            <a:off x="2646200" y="1778458"/>
            <a:ext cx="18753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22" name="Google Shape;122;p64"/>
          <p:cNvSpPr txBox="1"/>
          <p:nvPr>
            <p:ph idx="8" type="subTitle"/>
          </p:nvPr>
        </p:nvSpPr>
        <p:spPr>
          <a:xfrm>
            <a:off x="2646200" y="2110675"/>
            <a:ext cx="18753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23" name="Google Shape;123;p64"/>
          <p:cNvSpPr txBox="1"/>
          <p:nvPr>
            <p:ph idx="9" type="title"/>
          </p:nvPr>
        </p:nvSpPr>
        <p:spPr>
          <a:xfrm>
            <a:off x="4622498" y="1778458"/>
            <a:ext cx="18753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24" name="Google Shape;124;p64"/>
          <p:cNvSpPr txBox="1"/>
          <p:nvPr>
            <p:ph idx="13" type="subTitle"/>
          </p:nvPr>
        </p:nvSpPr>
        <p:spPr>
          <a:xfrm>
            <a:off x="4622498" y="2110675"/>
            <a:ext cx="18753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25" name="Google Shape;125;p64"/>
          <p:cNvSpPr txBox="1"/>
          <p:nvPr>
            <p:ph idx="14" type="title"/>
          </p:nvPr>
        </p:nvSpPr>
        <p:spPr>
          <a:xfrm>
            <a:off x="6598797" y="1778458"/>
            <a:ext cx="18753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26" name="Google Shape;126;p64"/>
          <p:cNvSpPr txBox="1"/>
          <p:nvPr>
            <p:ph idx="15" type="subTitle"/>
          </p:nvPr>
        </p:nvSpPr>
        <p:spPr>
          <a:xfrm>
            <a:off x="6598797" y="2110675"/>
            <a:ext cx="18753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27" name="Google Shape;127;p6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 Two columns ">
  <p:cSld name="TITLE_AND_BODY_1_1_1">
    <p:spTree>
      <p:nvGrpSpPr>
        <p:cNvPr id="128" name="Shape 128"/>
        <p:cNvGrpSpPr/>
        <p:nvPr/>
      </p:nvGrpSpPr>
      <p:grpSpPr>
        <a:xfrm>
          <a:off x="0" y="0"/>
          <a:ext cx="0" cy="0"/>
          <a:chOff x="0" y="0"/>
          <a:chExt cx="0" cy="0"/>
        </a:xfrm>
      </p:grpSpPr>
      <p:sp>
        <p:nvSpPr>
          <p:cNvPr id="129" name="Google Shape;129;p65"/>
          <p:cNvSpPr txBox="1"/>
          <p:nvPr>
            <p:ph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0" name="Google Shape;130;p65"/>
          <p:cNvSpPr txBox="1"/>
          <p:nvPr>
            <p:ph idx="2" type="title"/>
          </p:nvPr>
        </p:nvSpPr>
        <p:spPr>
          <a:xfrm>
            <a:off x="1454388" y="2583950"/>
            <a:ext cx="24933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65"/>
          <p:cNvSpPr txBox="1"/>
          <p:nvPr>
            <p:ph idx="1" type="subTitle"/>
          </p:nvPr>
        </p:nvSpPr>
        <p:spPr>
          <a:xfrm>
            <a:off x="1454388" y="2916172"/>
            <a:ext cx="24933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32" name="Google Shape;132;p65"/>
          <p:cNvSpPr txBox="1"/>
          <p:nvPr>
            <p:ph idx="3" type="title"/>
          </p:nvPr>
        </p:nvSpPr>
        <p:spPr>
          <a:xfrm>
            <a:off x="5196323" y="2583950"/>
            <a:ext cx="24933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3" name="Google Shape;133;p65"/>
          <p:cNvSpPr txBox="1"/>
          <p:nvPr>
            <p:ph idx="4" type="subTitle"/>
          </p:nvPr>
        </p:nvSpPr>
        <p:spPr>
          <a:xfrm>
            <a:off x="5196323" y="2916172"/>
            <a:ext cx="24933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34" name="Google Shape;134;p65"/>
          <p:cNvSpPr txBox="1"/>
          <p:nvPr>
            <p:ph idx="5" type="title"/>
          </p:nvPr>
        </p:nvSpPr>
        <p:spPr>
          <a:xfrm>
            <a:off x="1853100" y="1868675"/>
            <a:ext cx="1695900" cy="50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5" name="Google Shape;135;p65"/>
          <p:cNvSpPr txBox="1"/>
          <p:nvPr>
            <p:ph idx="6" type="title"/>
          </p:nvPr>
        </p:nvSpPr>
        <p:spPr>
          <a:xfrm>
            <a:off x="5595025" y="1868675"/>
            <a:ext cx="1695900" cy="504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6" name="Google Shape;136;p6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137" name="Shape 137"/>
        <p:cNvGrpSpPr/>
        <p:nvPr/>
      </p:nvGrpSpPr>
      <p:grpSpPr>
        <a:xfrm>
          <a:off x="0" y="0"/>
          <a:ext cx="0" cy="0"/>
          <a:chOff x="0" y="0"/>
          <a:chExt cx="0" cy="0"/>
        </a:xfrm>
      </p:grpSpPr>
      <p:sp>
        <p:nvSpPr>
          <p:cNvPr id="138" name="Google Shape;138;p66"/>
          <p:cNvSpPr txBox="1"/>
          <p:nvPr>
            <p:ph idx="1" type="subTitle"/>
          </p:nvPr>
        </p:nvSpPr>
        <p:spPr>
          <a:xfrm>
            <a:off x="818250" y="1755325"/>
            <a:ext cx="3492600" cy="123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9" name="Google Shape;139;p66"/>
          <p:cNvSpPr txBox="1"/>
          <p:nvPr>
            <p:ph idx="2" type="body"/>
          </p:nvPr>
        </p:nvSpPr>
        <p:spPr>
          <a:xfrm>
            <a:off x="4992700" y="1230025"/>
            <a:ext cx="3368100" cy="2913000"/>
          </a:xfrm>
          <a:prstGeom prst="rect">
            <a:avLst/>
          </a:prstGeom>
          <a:noFill/>
          <a:ln>
            <a:noFill/>
          </a:ln>
        </p:spPr>
        <p:txBody>
          <a:bodyPr anchorCtr="0" anchor="ctr"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40" name="Google Shape;140;p66"/>
          <p:cNvSpPr txBox="1"/>
          <p:nvPr>
            <p:ph type="title"/>
          </p:nvPr>
        </p:nvSpPr>
        <p:spPr>
          <a:xfrm>
            <a:off x="818250" y="459775"/>
            <a:ext cx="3539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1" name="Google Shape;141;p6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hanks and credits">
  <p:cSld name="SECTION_TITLE_AND_DESCRIPTION_2">
    <p:spTree>
      <p:nvGrpSpPr>
        <p:cNvPr id="142" name="Shape 142"/>
        <p:cNvGrpSpPr/>
        <p:nvPr/>
      </p:nvGrpSpPr>
      <p:grpSpPr>
        <a:xfrm>
          <a:off x="0" y="0"/>
          <a:ext cx="0" cy="0"/>
          <a:chOff x="0" y="0"/>
          <a:chExt cx="0" cy="0"/>
        </a:xfrm>
      </p:grpSpPr>
      <p:sp>
        <p:nvSpPr>
          <p:cNvPr id="143" name="Google Shape;143;p67"/>
          <p:cNvSpPr txBox="1"/>
          <p:nvPr>
            <p:ph idx="1" type="subTitle"/>
          </p:nvPr>
        </p:nvSpPr>
        <p:spPr>
          <a:xfrm>
            <a:off x="818250" y="1106038"/>
            <a:ext cx="3492600" cy="1235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44" name="Google Shape;144;p67"/>
          <p:cNvSpPr txBox="1"/>
          <p:nvPr>
            <p:ph type="title"/>
          </p:nvPr>
        </p:nvSpPr>
        <p:spPr>
          <a:xfrm>
            <a:off x="818250" y="459775"/>
            <a:ext cx="35394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5" name="Google Shape;145;p67"/>
          <p:cNvSpPr txBox="1"/>
          <p:nvPr/>
        </p:nvSpPr>
        <p:spPr>
          <a:xfrm>
            <a:off x="818250" y="3303950"/>
            <a:ext cx="3062400" cy="101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900"/>
              <a:buFont typeface="Arial"/>
              <a:buNone/>
            </a:pPr>
            <a:r>
              <a:rPr b="0" i="0" lang="en" sz="900" u="none" cap="none" strike="noStrike">
                <a:solidFill>
                  <a:schemeClr val="accent1"/>
                </a:solidFill>
                <a:latin typeface="Montserrat"/>
                <a:ea typeface="Montserrat"/>
                <a:cs typeface="Montserrat"/>
                <a:sym typeface="Montserrat"/>
              </a:rPr>
              <a:t>CREDITS: This presentation template was created by </a:t>
            </a:r>
            <a:r>
              <a:rPr b="0" i="0" lang="en" sz="900" u="none" cap="none" strike="noStrike">
                <a:solidFill>
                  <a:schemeClr val="accent1"/>
                </a:solidFill>
                <a:uFill>
                  <a:noFill/>
                </a:uFill>
                <a:latin typeface="Montserrat"/>
                <a:ea typeface="Montserrat"/>
                <a:cs typeface="Montserrat"/>
                <a:sym typeface="Montserrat"/>
                <a:hlinkClick r:id="rId2"/>
              </a:rPr>
              <a:t>Slidesgo</a:t>
            </a:r>
            <a:r>
              <a:rPr b="0" i="0" lang="en" sz="900" u="none" cap="none" strike="noStrike">
                <a:solidFill>
                  <a:schemeClr val="accent1"/>
                </a:solidFill>
                <a:latin typeface="Montserrat"/>
                <a:ea typeface="Montserrat"/>
                <a:cs typeface="Montserrat"/>
                <a:sym typeface="Montserrat"/>
              </a:rPr>
              <a:t>, including icons by </a:t>
            </a:r>
            <a:r>
              <a:rPr b="0" i="0" lang="en" sz="900" u="none" cap="none" strike="noStrike">
                <a:solidFill>
                  <a:schemeClr val="accent1"/>
                </a:solidFill>
                <a:uFill>
                  <a:noFill/>
                </a:uFill>
                <a:latin typeface="Montserrat"/>
                <a:ea typeface="Montserrat"/>
                <a:cs typeface="Montserrat"/>
                <a:sym typeface="Montserrat"/>
                <a:hlinkClick r:id="rId3"/>
              </a:rPr>
              <a:t>Flaticon</a:t>
            </a:r>
            <a:r>
              <a:rPr b="0" i="0" lang="en" sz="900" u="none" cap="none" strike="noStrike">
                <a:solidFill>
                  <a:schemeClr val="accent1"/>
                </a:solidFill>
                <a:latin typeface="Montserrat"/>
                <a:ea typeface="Montserrat"/>
                <a:cs typeface="Montserrat"/>
                <a:sym typeface="Montserrat"/>
              </a:rPr>
              <a:t>, and infographics &amp; images by </a:t>
            </a:r>
            <a:r>
              <a:rPr b="0" i="0" lang="en" sz="900" u="none" cap="none" strike="noStrike">
                <a:solidFill>
                  <a:schemeClr val="accent1"/>
                </a:solidFill>
                <a:uFill>
                  <a:noFill/>
                </a:uFill>
                <a:latin typeface="Montserrat"/>
                <a:ea typeface="Montserrat"/>
                <a:cs typeface="Montserrat"/>
                <a:sym typeface="Montserrat"/>
                <a:hlinkClick r:id="rId4"/>
              </a:rPr>
              <a:t>Freepik</a:t>
            </a:r>
            <a:r>
              <a:rPr b="0" i="0" lang="en" sz="900" u="none" cap="none" strike="noStrike">
                <a:solidFill>
                  <a:schemeClr val="accent1"/>
                </a:solidFill>
                <a:latin typeface="Montserrat"/>
                <a:ea typeface="Montserrat"/>
                <a:cs typeface="Montserrat"/>
                <a:sym typeface="Montserrat"/>
              </a:rPr>
              <a:t>. </a:t>
            </a:r>
            <a:endParaRPr b="0" i="0" sz="900" u="none" cap="none" strike="noStrike">
              <a:solidFill>
                <a:schemeClr val="accent1"/>
              </a:solidFill>
              <a:latin typeface="Montserrat"/>
              <a:ea typeface="Montserrat"/>
              <a:cs typeface="Montserrat"/>
              <a:sym typeface="Montserrat"/>
            </a:endParaRPr>
          </a:p>
          <a:p>
            <a:pPr indent="0" lvl="0" marL="0" marR="0" rtl="0" algn="l">
              <a:lnSpc>
                <a:spcPct val="100000"/>
              </a:lnSpc>
              <a:spcBef>
                <a:spcPts val="300"/>
              </a:spcBef>
              <a:spcAft>
                <a:spcPts val="0"/>
              </a:spcAft>
              <a:buClr>
                <a:srgbClr val="000000"/>
              </a:buClr>
              <a:buSzPts val="900"/>
              <a:buFont typeface="Arial"/>
              <a:buNone/>
            </a:pPr>
            <a:r>
              <a:t/>
            </a:r>
            <a:endParaRPr b="0" i="0" sz="900" u="none" cap="none" strike="noStrike">
              <a:solidFill>
                <a:schemeClr val="accent1"/>
              </a:solidFill>
              <a:latin typeface="Montserrat"/>
              <a:ea typeface="Montserrat"/>
              <a:cs typeface="Montserrat"/>
              <a:sym typeface="Montserrat"/>
            </a:endParaRPr>
          </a:p>
        </p:txBody>
      </p:sp>
      <p:sp>
        <p:nvSpPr>
          <p:cNvPr id="146" name="Google Shape;146;p6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 Bullet points">
  <p:cSld name="TITLE_AND_TWO_COLUMNS_1">
    <p:spTree>
      <p:nvGrpSpPr>
        <p:cNvPr id="147" name="Shape 147"/>
        <p:cNvGrpSpPr/>
        <p:nvPr/>
      </p:nvGrpSpPr>
      <p:grpSpPr>
        <a:xfrm>
          <a:off x="0" y="0"/>
          <a:ext cx="0" cy="0"/>
          <a:chOff x="0" y="0"/>
          <a:chExt cx="0" cy="0"/>
        </a:xfrm>
      </p:grpSpPr>
      <p:sp>
        <p:nvSpPr>
          <p:cNvPr id="148" name="Google Shape;148;p68"/>
          <p:cNvSpPr txBox="1"/>
          <p:nvPr>
            <p:ph idx="1" type="body"/>
          </p:nvPr>
        </p:nvSpPr>
        <p:spPr>
          <a:xfrm>
            <a:off x="985975" y="1185700"/>
            <a:ext cx="3366900" cy="30783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49" name="Google Shape;149;p68"/>
          <p:cNvSpPr txBox="1"/>
          <p:nvPr>
            <p:ph idx="2" type="body"/>
          </p:nvPr>
        </p:nvSpPr>
        <p:spPr>
          <a:xfrm>
            <a:off x="4791125" y="1185700"/>
            <a:ext cx="3366900" cy="30783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50" name="Google Shape;150;p68"/>
          <p:cNvSpPr txBox="1"/>
          <p:nvPr>
            <p:ph type="title"/>
          </p:nvPr>
        </p:nvSpPr>
        <p:spPr>
          <a:xfrm>
            <a:off x="818250" y="459775"/>
            <a:ext cx="7507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1" name="Google Shape;151;p6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bg>
      <p:bgPr>
        <a:solidFill>
          <a:srgbClr val="FFFFFF"/>
        </a:solidFill>
      </p:bgPr>
    </p:bg>
    <p:spTree>
      <p:nvGrpSpPr>
        <p:cNvPr id="152" name="Shape 152"/>
        <p:cNvGrpSpPr/>
        <p:nvPr/>
      </p:nvGrpSpPr>
      <p:grpSpPr>
        <a:xfrm>
          <a:off x="0" y="0"/>
          <a:ext cx="0" cy="0"/>
          <a:chOff x="0" y="0"/>
          <a:chExt cx="0" cy="0"/>
        </a:xfrm>
      </p:grpSpPr>
      <p:sp>
        <p:nvSpPr>
          <p:cNvPr id="153" name="Google Shape;153;p7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ackground">
  <p:cSld name="TITLE_AND_BODY_1_1_1_1">
    <p:spTree>
      <p:nvGrpSpPr>
        <p:cNvPr id="154" name="Shape 154"/>
        <p:cNvGrpSpPr/>
        <p:nvPr/>
      </p:nvGrpSpPr>
      <p:grpSpPr>
        <a:xfrm>
          <a:off x="0" y="0"/>
          <a:ext cx="0" cy="0"/>
          <a:chOff x="0" y="0"/>
          <a:chExt cx="0" cy="0"/>
        </a:xfrm>
      </p:grpSpPr>
      <p:sp>
        <p:nvSpPr>
          <p:cNvPr id="155" name="Google Shape;155;p7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rgbClr val="EFEFEF"/>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2800"/>
              <a:buFont typeface="Montserrat"/>
              <a:buNone/>
              <a:defRPr b="1" i="0" sz="28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accent2"/>
              </a:buClr>
              <a:buSzPts val="1800"/>
              <a:buFont typeface="Montserrat"/>
              <a:buChar char="●"/>
              <a:defRPr b="0" i="0" sz="1800" u="none" cap="none" strike="noStrike">
                <a:solidFill>
                  <a:schemeClr val="accent2"/>
                </a:solidFill>
                <a:latin typeface="Montserrat"/>
                <a:ea typeface="Montserrat"/>
                <a:cs typeface="Montserrat"/>
                <a:sym typeface="Montserrat"/>
              </a:defRPr>
            </a:lvl1pPr>
            <a:lvl2pPr indent="-317500" lvl="1" marL="914400" marR="0" rtl="0" algn="l">
              <a:lnSpc>
                <a:spcPct val="115000"/>
              </a:lnSpc>
              <a:spcBef>
                <a:spcPts val="1600"/>
              </a:spcBef>
              <a:spcAft>
                <a:spcPts val="0"/>
              </a:spcAft>
              <a:buClr>
                <a:schemeClr val="accent2"/>
              </a:buClr>
              <a:buSzPts val="1400"/>
              <a:buFont typeface="Montserrat"/>
              <a:buChar char="○"/>
              <a:defRPr b="0" i="0" sz="1400" u="none" cap="none" strike="noStrike">
                <a:solidFill>
                  <a:schemeClr val="accent2"/>
                </a:solidFill>
                <a:latin typeface="Montserrat"/>
                <a:ea typeface="Montserrat"/>
                <a:cs typeface="Montserrat"/>
                <a:sym typeface="Montserrat"/>
              </a:defRPr>
            </a:lvl2pPr>
            <a:lvl3pPr indent="-317500" lvl="2" marL="1371600" marR="0" rtl="0" algn="l">
              <a:lnSpc>
                <a:spcPct val="115000"/>
              </a:lnSpc>
              <a:spcBef>
                <a:spcPts val="1600"/>
              </a:spcBef>
              <a:spcAft>
                <a:spcPts val="0"/>
              </a:spcAft>
              <a:buClr>
                <a:schemeClr val="accent2"/>
              </a:buClr>
              <a:buSzPts val="1400"/>
              <a:buFont typeface="Montserrat"/>
              <a:buChar char="■"/>
              <a:defRPr b="0" i="0" sz="1400" u="none" cap="none" strike="noStrike">
                <a:solidFill>
                  <a:schemeClr val="accent2"/>
                </a:solidFill>
                <a:latin typeface="Montserrat"/>
                <a:ea typeface="Montserrat"/>
                <a:cs typeface="Montserrat"/>
                <a:sym typeface="Montserrat"/>
              </a:defRPr>
            </a:lvl3pPr>
            <a:lvl4pPr indent="-317500" lvl="3" marL="1828800" marR="0" rtl="0" algn="l">
              <a:lnSpc>
                <a:spcPct val="115000"/>
              </a:lnSpc>
              <a:spcBef>
                <a:spcPts val="1600"/>
              </a:spcBef>
              <a:spcAft>
                <a:spcPts val="0"/>
              </a:spcAft>
              <a:buClr>
                <a:schemeClr val="accent2"/>
              </a:buClr>
              <a:buSzPts val="1400"/>
              <a:buFont typeface="Montserrat"/>
              <a:buChar char="●"/>
              <a:defRPr b="0" i="0" sz="1400" u="none" cap="none" strike="noStrike">
                <a:solidFill>
                  <a:schemeClr val="accent2"/>
                </a:solidFill>
                <a:latin typeface="Montserrat"/>
                <a:ea typeface="Montserrat"/>
                <a:cs typeface="Montserrat"/>
                <a:sym typeface="Montserrat"/>
              </a:defRPr>
            </a:lvl4pPr>
            <a:lvl5pPr indent="-317500" lvl="4" marL="2286000" marR="0" rtl="0" algn="l">
              <a:lnSpc>
                <a:spcPct val="115000"/>
              </a:lnSpc>
              <a:spcBef>
                <a:spcPts val="1600"/>
              </a:spcBef>
              <a:spcAft>
                <a:spcPts val="0"/>
              </a:spcAft>
              <a:buClr>
                <a:schemeClr val="accent2"/>
              </a:buClr>
              <a:buSzPts val="1400"/>
              <a:buFont typeface="Montserrat"/>
              <a:buChar char="○"/>
              <a:defRPr b="0" i="0" sz="1400" u="none" cap="none" strike="noStrike">
                <a:solidFill>
                  <a:schemeClr val="accent2"/>
                </a:solidFill>
                <a:latin typeface="Montserrat"/>
                <a:ea typeface="Montserrat"/>
                <a:cs typeface="Montserrat"/>
                <a:sym typeface="Montserrat"/>
              </a:defRPr>
            </a:lvl5pPr>
            <a:lvl6pPr indent="-317500" lvl="5" marL="2743200" marR="0" rtl="0" algn="l">
              <a:lnSpc>
                <a:spcPct val="115000"/>
              </a:lnSpc>
              <a:spcBef>
                <a:spcPts val="1600"/>
              </a:spcBef>
              <a:spcAft>
                <a:spcPts val="0"/>
              </a:spcAft>
              <a:buClr>
                <a:schemeClr val="accent2"/>
              </a:buClr>
              <a:buSzPts val="1400"/>
              <a:buFont typeface="Montserrat"/>
              <a:buChar char="■"/>
              <a:defRPr b="0" i="0" sz="1400" u="none" cap="none" strike="noStrike">
                <a:solidFill>
                  <a:schemeClr val="accent2"/>
                </a:solidFill>
                <a:latin typeface="Montserrat"/>
                <a:ea typeface="Montserrat"/>
                <a:cs typeface="Montserrat"/>
                <a:sym typeface="Montserrat"/>
              </a:defRPr>
            </a:lvl6pPr>
            <a:lvl7pPr indent="-317500" lvl="6" marL="3200400" marR="0" rtl="0" algn="l">
              <a:lnSpc>
                <a:spcPct val="115000"/>
              </a:lnSpc>
              <a:spcBef>
                <a:spcPts val="1600"/>
              </a:spcBef>
              <a:spcAft>
                <a:spcPts val="0"/>
              </a:spcAft>
              <a:buClr>
                <a:schemeClr val="accent2"/>
              </a:buClr>
              <a:buSzPts val="1400"/>
              <a:buFont typeface="Montserrat"/>
              <a:buChar char="●"/>
              <a:defRPr b="0" i="0" sz="1400" u="none" cap="none" strike="noStrike">
                <a:solidFill>
                  <a:schemeClr val="accent2"/>
                </a:solidFill>
                <a:latin typeface="Montserrat"/>
                <a:ea typeface="Montserrat"/>
                <a:cs typeface="Montserrat"/>
                <a:sym typeface="Montserrat"/>
              </a:defRPr>
            </a:lvl7pPr>
            <a:lvl8pPr indent="-317500" lvl="7" marL="3657600" marR="0" rtl="0" algn="l">
              <a:lnSpc>
                <a:spcPct val="115000"/>
              </a:lnSpc>
              <a:spcBef>
                <a:spcPts val="1600"/>
              </a:spcBef>
              <a:spcAft>
                <a:spcPts val="0"/>
              </a:spcAft>
              <a:buClr>
                <a:schemeClr val="accent2"/>
              </a:buClr>
              <a:buSzPts val="1400"/>
              <a:buFont typeface="Montserrat"/>
              <a:buChar char="○"/>
              <a:defRPr b="0" i="0" sz="1400" u="none" cap="none" strike="noStrike">
                <a:solidFill>
                  <a:schemeClr val="accent2"/>
                </a:solidFill>
                <a:latin typeface="Montserrat"/>
                <a:ea typeface="Montserrat"/>
                <a:cs typeface="Montserrat"/>
                <a:sym typeface="Montserrat"/>
              </a:defRPr>
            </a:lvl8pPr>
            <a:lvl9pPr indent="-317500" lvl="8" marL="4114800" marR="0" rtl="0" algn="l">
              <a:lnSpc>
                <a:spcPct val="115000"/>
              </a:lnSpc>
              <a:spcBef>
                <a:spcPts val="1600"/>
              </a:spcBef>
              <a:spcAft>
                <a:spcPts val="1600"/>
              </a:spcAft>
              <a:buClr>
                <a:schemeClr val="accent2"/>
              </a:buClr>
              <a:buSzPts val="1400"/>
              <a:buFont typeface="Montserrat"/>
              <a:buChar char="■"/>
              <a:defRPr b="0" i="0" sz="1400" u="none" cap="none" strike="noStrike">
                <a:solidFill>
                  <a:schemeClr val="accent2"/>
                </a:solidFill>
                <a:latin typeface="Montserrat"/>
                <a:ea typeface="Montserrat"/>
                <a:cs typeface="Montserrat"/>
                <a:sym typeface="Montserrat"/>
              </a:defRPr>
            </a:lvl9pPr>
          </a:lstStyle>
          <a:p/>
        </p:txBody>
      </p:sp>
      <p:sp>
        <p:nvSpPr>
          <p:cNvPr id="8" name="Google Shape;8;p4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accent2"/>
                </a:solidFill>
                <a:latin typeface="Montserrat"/>
                <a:ea typeface="Montserrat"/>
                <a:cs typeface="Montserrat"/>
                <a:sym typeface="Montserrat"/>
              </a:defRPr>
            </a:lvl1pPr>
            <a:lvl2pPr lvl="1" algn="r">
              <a:buNone/>
              <a:defRPr sz="1300">
                <a:solidFill>
                  <a:schemeClr val="accent2"/>
                </a:solidFill>
                <a:latin typeface="Montserrat"/>
                <a:ea typeface="Montserrat"/>
                <a:cs typeface="Montserrat"/>
                <a:sym typeface="Montserrat"/>
              </a:defRPr>
            </a:lvl2pPr>
            <a:lvl3pPr lvl="2" algn="r">
              <a:buNone/>
              <a:defRPr sz="1300">
                <a:solidFill>
                  <a:schemeClr val="accent2"/>
                </a:solidFill>
                <a:latin typeface="Montserrat"/>
                <a:ea typeface="Montserrat"/>
                <a:cs typeface="Montserrat"/>
                <a:sym typeface="Montserrat"/>
              </a:defRPr>
            </a:lvl3pPr>
            <a:lvl4pPr lvl="3" algn="r">
              <a:buNone/>
              <a:defRPr sz="1300">
                <a:solidFill>
                  <a:schemeClr val="accent2"/>
                </a:solidFill>
                <a:latin typeface="Montserrat"/>
                <a:ea typeface="Montserrat"/>
                <a:cs typeface="Montserrat"/>
                <a:sym typeface="Montserrat"/>
              </a:defRPr>
            </a:lvl4pPr>
            <a:lvl5pPr lvl="4" algn="r">
              <a:buNone/>
              <a:defRPr sz="1300">
                <a:solidFill>
                  <a:schemeClr val="accent2"/>
                </a:solidFill>
                <a:latin typeface="Montserrat"/>
                <a:ea typeface="Montserrat"/>
                <a:cs typeface="Montserrat"/>
                <a:sym typeface="Montserrat"/>
              </a:defRPr>
            </a:lvl5pPr>
            <a:lvl6pPr lvl="5" algn="r">
              <a:buNone/>
              <a:defRPr sz="1300">
                <a:solidFill>
                  <a:schemeClr val="accent2"/>
                </a:solidFill>
                <a:latin typeface="Montserrat"/>
                <a:ea typeface="Montserrat"/>
                <a:cs typeface="Montserrat"/>
                <a:sym typeface="Montserrat"/>
              </a:defRPr>
            </a:lvl6pPr>
            <a:lvl7pPr lvl="6" algn="r">
              <a:buNone/>
              <a:defRPr sz="1300">
                <a:solidFill>
                  <a:schemeClr val="accent2"/>
                </a:solidFill>
                <a:latin typeface="Montserrat"/>
                <a:ea typeface="Montserrat"/>
                <a:cs typeface="Montserrat"/>
                <a:sym typeface="Montserrat"/>
              </a:defRPr>
            </a:lvl7pPr>
            <a:lvl8pPr lvl="7" algn="r">
              <a:buNone/>
              <a:defRPr sz="1300">
                <a:solidFill>
                  <a:schemeClr val="accent2"/>
                </a:solidFill>
                <a:latin typeface="Montserrat"/>
                <a:ea typeface="Montserrat"/>
                <a:cs typeface="Montserrat"/>
                <a:sym typeface="Montserrat"/>
              </a:defRPr>
            </a:lvl8pPr>
            <a:lvl9pPr lvl="8" algn="r">
              <a:buNone/>
              <a:defRPr sz="1300">
                <a:solidFill>
                  <a:schemeClr val="accent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1.png"/><Relationship Id="rId6"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25.png"/><Relationship Id="rId5" Type="http://schemas.openxmlformats.org/officeDocument/2006/relationships/image" Target="../media/image1.png"/><Relationship Id="rId6"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png"/><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png"/><Relationship Id="rId6"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comments" Target="../comments/comment1.xml"/><Relationship Id="rId4" Type="http://schemas.openxmlformats.org/officeDocument/2006/relationships/image" Target="../media/image1.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comments" Target="../comments/comment2.xml"/><Relationship Id="rId4" Type="http://schemas.openxmlformats.org/officeDocument/2006/relationships/image" Target="../media/image1.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9.png"/><Relationship Id="rId6" Type="http://schemas.openxmlformats.org/officeDocument/2006/relationships/image" Target="../media/image18.png"/><Relationship Id="rId7"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 Id="rId3" Type="http://schemas.openxmlformats.org/officeDocument/2006/relationships/hyperlink" Target="https://www.cdc.gov/nchs/data-visualization/mortality-leading-causes/index_2.htm" TargetMode="External"/><Relationship Id="rId4" Type="http://schemas.openxmlformats.org/officeDocument/2006/relationships/hyperlink" Target="https://www.cdc.gov/nchs/data_access/vitalstatsonline.htm." TargetMode="External"/><Relationship Id="rId5" Type="http://schemas.openxmlformats.org/officeDocument/2006/relationships/hyperlink" Target="https://www.health.state.mn.us/diseases/cardiovascular/data/heartdisease.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g831aa77a85_2_465"/>
          <p:cNvSpPr txBox="1"/>
          <p:nvPr>
            <p:ph type="ctrTitle"/>
          </p:nvPr>
        </p:nvSpPr>
        <p:spPr>
          <a:xfrm>
            <a:off x="4176350" y="2107975"/>
            <a:ext cx="5373000" cy="7044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600"/>
              <a:buNone/>
            </a:pPr>
            <a:r>
              <a:rPr lang="en"/>
              <a:t>Healing the Heart</a:t>
            </a:r>
            <a:endParaRPr/>
          </a:p>
        </p:txBody>
      </p:sp>
      <p:sp>
        <p:nvSpPr>
          <p:cNvPr id="161" name="Google Shape;161;g831aa77a85_2_465"/>
          <p:cNvSpPr txBox="1"/>
          <p:nvPr>
            <p:ph idx="1" type="subTitle"/>
          </p:nvPr>
        </p:nvSpPr>
        <p:spPr>
          <a:xfrm>
            <a:off x="3675475" y="4118700"/>
            <a:ext cx="5280900" cy="44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600"/>
              <a:buFont typeface="Arial"/>
              <a:buNone/>
            </a:pPr>
            <a:r>
              <a:rPr lang="en"/>
              <a:t>Team 1: Interdisciplinary Health Data Competition</a:t>
            </a:r>
            <a:endParaRPr/>
          </a:p>
        </p:txBody>
      </p:sp>
      <p:sp>
        <p:nvSpPr>
          <p:cNvPr id="162" name="Google Shape;162;g831aa77a85_2_465"/>
          <p:cNvSpPr txBox="1"/>
          <p:nvPr>
            <p:ph idx="1" type="subTitle"/>
          </p:nvPr>
        </p:nvSpPr>
        <p:spPr>
          <a:xfrm>
            <a:off x="3675600" y="4561800"/>
            <a:ext cx="4546500" cy="44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Ben, Boyang, Lauren, Paul, William</a:t>
            </a:r>
            <a:endParaRPr/>
          </a:p>
        </p:txBody>
      </p:sp>
      <p:sp>
        <p:nvSpPr>
          <p:cNvPr id="163" name="Google Shape;163;g831aa77a85_2_465"/>
          <p:cNvSpPr txBox="1"/>
          <p:nvPr>
            <p:ph type="ctrTitle"/>
          </p:nvPr>
        </p:nvSpPr>
        <p:spPr>
          <a:xfrm>
            <a:off x="4225075" y="2812375"/>
            <a:ext cx="4731300" cy="4431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600"/>
              <a:buNone/>
            </a:pPr>
            <a:r>
              <a:rPr lang="en" sz="1100"/>
              <a:t>Addressing the Disparity Between Cardiovascular Prescription Utilization and Coverage</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7" name="Shape 167"/>
        <p:cNvGrpSpPr/>
        <p:nvPr/>
      </p:nvGrpSpPr>
      <p:grpSpPr>
        <a:xfrm>
          <a:off x="0" y="0"/>
          <a:ext cx="0" cy="0"/>
          <a:chOff x="0" y="0"/>
          <a:chExt cx="0" cy="0"/>
        </a:xfrm>
      </p:grpSpPr>
      <p:sp>
        <p:nvSpPr>
          <p:cNvPr id="168" name="Google Shape;168;g830c98ff86_1_16"/>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2200"/>
              <a:t>BURDEN OF CARDIOVASCULAR DISEASE IN MINNESOTA</a:t>
            </a:r>
            <a:endParaRPr sz="2200"/>
          </a:p>
        </p:txBody>
      </p:sp>
      <p:cxnSp>
        <p:nvCxnSpPr>
          <p:cNvPr id="169" name="Google Shape;169;g830c98ff86_1_16"/>
          <p:cNvCxnSpPr/>
          <p:nvPr/>
        </p:nvCxnSpPr>
        <p:spPr>
          <a:xfrm flipH="1" rot="10800000">
            <a:off x="459400" y="872650"/>
            <a:ext cx="8266200" cy="13200"/>
          </a:xfrm>
          <a:prstGeom prst="straightConnector1">
            <a:avLst/>
          </a:prstGeom>
          <a:noFill/>
          <a:ln cap="flat" cmpd="sng" w="19050">
            <a:solidFill>
              <a:schemeClr val="accent3"/>
            </a:solidFill>
            <a:prstDash val="solid"/>
            <a:round/>
            <a:headEnd len="sm" w="sm" type="none"/>
            <a:tailEnd len="sm" w="sm" type="none"/>
          </a:ln>
        </p:spPr>
      </p:cxnSp>
      <p:sp>
        <p:nvSpPr>
          <p:cNvPr id="170" name="Google Shape;170;g830c98ff86_1_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71" name="Google Shape;171;g830c98ff86_1_16"/>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172" name="Google Shape;172;g830c98ff86_1_16"/>
          <p:cNvSpPr/>
          <p:nvPr/>
        </p:nvSpPr>
        <p:spPr>
          <a:xfrm>
            <a:off x="474725"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g830c98ff86_1_16"/>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g830c98ff86_1_16"/>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g830c98ff86_1_16"/>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g830c98ff86_1_16"/>
          <p:cNvSpPr txBox="1"/>
          <p:nvPr>
            <p:ph idx="4294967295"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177" name="Google Shape;177;g830c98ff86_1_16"/>
          <p:cNvSpPr txBox="1"/>
          <p:nvPr>
            <p:ph idx="4294967295"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178" name="Google Shape;178;g830c98ff86_1_16"/>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179" name="Google Shape;179;g830c98ff86_1_16"/>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180" name="Google Shape;180;g830c98ff86_1_16"/>
          <p:cNvGrpSpPr/>
          <p:nvPr/>
        </p:nvGrpSpPr>
        <p:grpSpPr>
          <a:xfrm>
            <a:off x="582066" y="4477985"/>
            <a:ext cx="244241" cy="263244"/>
            <a:chOff x="5027525" y="4402450"/>
            <a:chExt cx="477500" cy="496875"/>
          </a:xfrm>
        </p:grpSpPr>
        <p:sp>
          <p:nvSpPr>
            <p:cNvPr id="181" name="Google Shape;181;g830c98ff86_1_16"/>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830c98ff86_1_16"/>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g830c98ff86_1_16"/>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4" name="Google Shape;184;g830c98ff86_1_16"/>
          <p:cNvGrpSpPr/>
          <p:nvPr/>
        </p:nvGrpSpPr>
        <p:grpSpPr>
          <a:xfrm>
            <a:off x="2245632" y="4506289"/>
            <a:ext cx="258228" cy="227366"/>
            <a:chOff x="3539102" y="2427549"/>
            <a:chExt cx="355099" cy="355481"/>
          </a:xfrm>
        </p:grpSpPr>
        <p:sp>
          <p:nvSpPr>
            <p:cNvPr id="185" name="Google Shape;185;g830c98ff86_1_16"/>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g830c98ff86_1_16"/>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87" name="Google Shape;187;g830c98ff86_1_16"/>
          <p:cNvPicPr preferRelativeResize="0"/>
          <p:nvPr/>
        </p:nvPicPr>
        <p:blipFill>
          <a:blip r:embed="rId3">
            <a:alphaModFix/>
          </a:blip>
          <a:stretch>
            <a:fillRect/>
          </a:stretch>
        </p:blipFill>
        <p:spPr>
          <a:xfrm>
            <a:off x="3009546" y="4492026"/>
            <a:ext cx="258200" cy="255438"/>
          </a:xfrm>
          <a:prstGeom prst="rect">
            <a:avLst/>
          </a:prstGeom>
          <a:noFill/>
          <a:ln>
            <a:noFill/>
          </a:ln>
        </p:spPr>
      </p:pic>
      <p:pic>
        <p:nvPicPr>
          <p:cNvPr id="188" name="Google Shape;188;g830c98ff86_1_16"/>
          <p:cNvPicPr preferRelativeResize="0"/>
          <p:nvPr/>
        </p:nvPicPr>
        <p:blipFill>
          <a:blip r:embed="rId4">
            <a:alphaModFix/>
          </a:blip>
          <a:stretch>
            <a:fillRect/>
          </a:stretch>
        </p:blipFill>
        <p:spPr>
          <a:xfrm>
            <a:off x="1424264" y="4498930"/>
            <a:ext cx="303032" cy="241644"/>
          </a:xfrm>
          <a:prstGeom prst="rect">
            <a:avLst/>
          </a:prstGeom>
          <a:noFill/>
          <a:ln>
            <a:noFill/>
          </a:ln>
        </p:spPr>
      </p:pic>
      <p:sp>
        <p:nvSpPr>
          <p:cNvPr id="189" name="Google Shape;189;g830c98ff86_1_16"/>
          <p:cNvSpPr txBox="1"/>
          <p:nvPr/>
        </p:nvSpPr>
        <p:spPr>
          <a:xfrm>
            <a:off x="582075" y="1175150"/>
            <a:ext cx="2759400" cy="2954400"/>
          </a:xfrm>
          <a:prstGeom prst="rect">
            <a:avLst/>
          </a:prstGeom>
          <a:noFill/>
          <a:ln>
            <a:noFill/>
          </a:ln>
        </p:spPr>
        <p:txBody>
          <a:bodyPr anchorCtr="0" anchor="t" bIns="91425" lIns="91425" spcFirstLastPara="1" rIns="91425" wrap="square" tIns="91425">
            <a:noAutofit/>
          </a:bodyPr>
          <a:lstStyle/>
          <a:p>
            <a:pPr indent="-273050" lvl="0" marL="228600" rtl="0" algn="l">
              <a:lnSpc>
                <a:spcPct val="115000"/>
              </a:lnSpc>
              <a:spcBef>
                <a:spcPts val="0"/>
              </a:spcBef>
              <a:spcAft>
                <a:spcPts val="0"/>
              </a:spcAft>
              <a:buClr>
                <a:schemeClr val="accent2"/>
              </a:buClr>
              <a:buSzPts val="1600"/>
              <a:buFont typeface="Montserrat"/>
              <a:buChar char="●"/>
            </a:pPr>
            <a:r>
              <a:rPr lang="en" sz="1600">
                <a:solidFill>
                  <a:schemeClr val="accent2"/>
                </a:solidFill>
                <a:latin typeface="Montserrat"/>
                <a:ea typeface="Montserrat"/>
                <a:cs typeface="Montserrat"/>
                <a:sym typeface="Montserrat"/>
              </a:rPr>
              <a:t>Number </a:t>
            </a:r>
            <a:r>
              <a:rPr b="1" lang="en" sz="1600">
                <a:solidFill>
                  <a:schemeClr val="accent2"/>
                </a:solidFill>
                <a:latin typeface="Montserrat"/>
                <a:ea typeface="Montserrat"/>
                <a:cs typeface="Montserrat"/>
                <a:sym typeface="Montserrat"/>
              </a:rPr>
              <a:t>two</a:t>
            </a:r>
            <a:r>
              <a:rPr lang="en" sz="1600">
                <a:solidFill>
                  <a:schemeClr val="accent2"/>
                </a:solidFill>
                <a:latin typeface="Montserrat"/>
                <a:ea typeface="Montserrat"/>
                <a:cs typeface="Montserrat"/>
                <a:sym typeface="Montserrat"/>
              </a:rPr>
              <a:t> cause of mortality since 1999</a:t>
            </a:r>
            <a:r>
              <a:rPr baseline="30000" lang="en" sz="1600">
                <a:solidFill>
                  <a:schemeClr val="accent2"/>
                </a:solidFill>
                <a:latin typeface="Montserrat"/>
                <a:ea typeface="Montserrat"/>
                <a:cs typeface="Montserrat"/>
                <a:sym typeface="Montserrat"/>
              </a:rPr>
              <a:t>1</a:t>
            </a:r>
            <a:endParaRPr baseline="30000" sz="1600">
              <a:solidFill>
                <a:schemeClr val="accent2"/>
              </a:solidFill>
              <a:latin typeface="Montserrat"/>
              <a:ea typeface="Montserrat"/>
              <a:cs typeface="Montserrat"/>
              <a:sym typeface="Montserrat"/>
            </a:endParaRPr>
          </a:p>
          <a:p>
            <a:pPr indent="0" lvl="0" marL="457200" rtl="0" algn="l">
              <a:lnSpc>
                <a:spcPct val="115000"/>
              </a:lnSpc>
              <a:spcBef>
                <a:spcPts val="0"/>
              </a:spcBef>
              <a:spcAft>
                <a:spcPts val="0"/>
              </a:spcAft>
              <a:buNone/>
            </a:pPr>
            <a:r>
              <a:t/>
            </a:r>
            <a:endParaRPr baseline="30000" sz="1600">
              <a:solidFill>
                <a:schemeClr val="accent2"/>
              </a:solidFill>
              <a:latin typeface="Montserrat"/>
              <a:ea typeface="Montserrat"/>
              <a:cs typeface="Montserrat"/>
              <a:sym typeface="Montserrat"/>
            </a:endParaRPr>
          </a:p>
          <a:p>
            <a:pPr indent="-273050" lvl="0" marL="228600" rtl="0" algn="l">
              <a:lnSpc>
                <a:spcPct val="115000"/>
              </a:lnSpc>
              <a:spcBef>
                <a:spcPts val="0"/>
              </a:spcBef>
              <a:spcAft>
                <a:spcPts val="0"/>
              </a:spcAft>
              <a:buClr>
                <a:schemeClr val="accent2"/>
              </a:buClr>
              <a:buSzPts val="1600"/>
              <a:buFont typeface="Montserrat"/>
              <a:buChar char="●"/>
            </a:pPr>
            <a:r>
              <a:rPr lang="en" sz="1600">
                <a:solidFill>
                  <a:schemeClr val="accent2"/>
                </a:solidFill>
                <a:latin typeface="Montserrat"/>
                <a:ea typeface="Montserrat"/>
                <a:cs typeface="Montserrat"/>
                <a:sym typeface="Montserrat"/>
              </a:rPr>
              <a:t>Annual Cost of CVD hospitalizations in 2016 </a:t>
            </a:r>
            <a:r>
              <a:rPr b="1" lang="en" sz="1600">
                <a:solidFill>
                  <a:schemeClr val="accent2"/>
                </a:solidFill>
                <a:latin typeface="Montserrat"/>
                <a:ea typeface="Montserrat"/>
                <a:cs typeface="Montserrat"/>
                <a:sym typeface="Montserrat"/>
              </a:rPr>
              <a:t>$720 Million</a:t>
            </a:r>
            <a:endParaRPr b="1" sz="1600">
              <a:solidFill>
                <a:schemeClr val="accent2"/>
              </a:solidFill>
              <a:latin typeface="Montserrat"/>
              <a:ea typeface="Montserrat"/>
              <a:cs typeface="Montserrat"/>
              <a:sym typeface="Montserrat"/>
            </a:endParaRPr>
          </a:p>
          <a:p>
            <a:pPr indent="0" lvl="0" marL="457200" rtl="0" algn="l">
              <a:lnSpc>
                <a:spcPct val="115000"/>
              </a:lnSpc>
              <a:spcBef>
                <a:spcPts val="0"/>
              </a:spcBef>
              <a:spcAft>
                <a:spcPts val="0"/>
              </a:spcAft>
              <a:buNone/>
            </a:pPr>
            <a:r>
              <a:t/>
            </a:r>
            <a:endParaRPr b="1" sz="1600">
              <a:solidFill>
                <a:schemeClr val="accent2"/>
              </a:solidFill>
              <a:latin typeface="Montserrat"/>
              <a:ea typeface="Montserrat"/>
              <a:cs typeface="Montserrat"/>
              <a:sym typeface="Montserrat"/>
            </a:endParaRPr>
          </a:p>
          <a:p>
            <a:pPr indent="-273050" lvl="0" marL="228600" rtl="0" algn="l">
              <a:lnSpc>
                <a:spcPct val="115000"/>
              </a:lnSpc>
              <a:spcBef>
                <a:spcPts val="0"/>
              </a:spcBef>
              <a:spcAft>
                <a:spcPts val="0"/>
              </a:spcAft>
              <a:buClr>
                <a:schemeClr val="accent2"/>
              </a:buClr>
              <a:buSzPts val="1600"/>
              <a:buFont typeface="Montserrat"/>
              <a:buChar char="●"/>
            </a:pPr>
            <a:r>
              <a:rPr b="1" lang="en" sz="1600">
                <a:solidFill>
                  <a:schemeClr val="accent2"/>
                </a:solidFill>
                <a:latin typeface="Montserrat"/>
                <a:ea typeface="Montserrat"/>
                <a:cs typeface="Montserrat"/>
                <a:sym typeface="Montserrat"/>
              </a:rPr>
              <a:t>18% </a:t>
            </a:r>
            <a:r>
              <a:rPr lang="en" sz="1600">
                <a:solidFill>
                  <a:schemeClr val="accent2"/>
                </a:solidFill>
                <a:latin typeface="Montserrat"/>
                <a:ea typeface="Montserrat"/>
                <a:cs typeface="Montserrat"/>
                <a:sym typeface="Montserrat"/>
              </a:rPr>
              <a:t>Minnesotans</a:t>
            </a:r>
            <a:r>
              <a:rPr lang="en" sz="1600">
                <a:solidFill>
                  <a:schemeClr val="accent2"/>
                </a:solidFill>
                <a:latin typeface="Montserrat"/>
                <a:ea typeface="Montserrat"/>
                <a:cs typeface="Montserrat"/>
                <a:sym typeface="Montserrat"/>
              </a:rPr>
              <a:t> died of  a heart attack in 2017</a:t>
            </a:r>
            <a:r>
              <a:rPr baseline="30000" lang="en" sz="1600">
                <a:solidFill>
                  <a:schemeClr val="accent2"/>
                </a:solidFill>
                <a:latin typeface="Montserrat"/>
                <a:ea typeface="Montserrat"/>
                <a:cs typeface="Montserrat"/>
                <a:sym typeface="Montserrat"/>
              </a:rPr>
              <a:t>2</a:t>
            </a:r>
            <a:endParaRPr baseline="30000" sz="1600">
              <a:solidFill>
                <a:schemeClr val="accent2"/>
              </a:solidFill>
              <a:latin typeface="Montserrat"/>
              <a:ea typeface="Montserrat"/>
              <a:cs typeface="Montserrat"/>
              <a:sym typeface="Montserrat"/>
            </a:endParaRPr>
          </a:p>
        </p:txBody>
      </p:sp>
      <p:pic>
        <p:nvPicPr>
          <p:cNvPr id="190" name="Google Shape;190;g830c98ff86_1_16" title="Chart"/>
          <p:cNvPicPr preferRelativeResize="0"/>
          <p:nvPr/>
        </p:nvPicPr>
        <p:blipFill>
          <a:blip r:embed="rId5">
            <a:alphaModFix/>
          </a:blip>
          <a:stretch>
            <a:fillRect/>
          </a:stretch>
        </p:blipFill>
        <p:spPr>
          <a:xfrm>
            <a:off x="3341500" y="955525"/>
            <a:ext cx="5802501" cy="358785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4" name="Shape 194"/>
        <p:cNvGrpSpPr/>
        <p:nvPr/>
      </p:nvGrpSpPr>
      <p:grpSpPr>
        <a:xfrm>
          <a:off x="0" y="0"/>
          <a:ext cx="0" cy="0"/>
          <a:chOff x="0" y="0"/>
          <a:chExt cx="0" cy="0"/>
        </a:xfrm>
      </p:grpSpPr>
      <p:sp>
        <p:nvSpPr>
          <p:cNvPr id="195" name="Google Shape;195;g830c98ff86_1_1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196" name="Google Shape;196;g830c98ff86_1_117"/>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197" name="Google Shape;197;g830c98ff86_1_117"/>
          <p:cNvSpPr/>
          <p:nvPr/>
        </p:nvSpPr>
        <p:spPr>
          <a:xfrm>
            <a:off x="474725"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830c98ff86_1_117"/>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830c98ff86_1_117"/>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830c98ff86_1_117"/>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g830c98ff86_1_117"/>
          <p:cNvSpPr txBox="1"/>
          <p:nvPr>
            <p:ph idx="4294967295"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202" name="Google Shape;202;g830c98ff86_1_117"/>
          <p:cNvSpPr txBox="1"/>
          <p:nvPr>
            <p:ph idx="4294967295"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203" name="Google Shape;203;g830c98ff86_1_117"/>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204" name="Google Shape;204;g830c98ff86_1_117"/>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205" name="Google Shape;205;g830c98ff86_1_117"/>
          <p:cNvGrpSpPr/>
          <p:nvPr/>
        </p:nvGrpSpPr>
        <p:grpSpPr>
          <a:xfrm>
            <a:off x="582066" y="4477985"/>
            <a:ext cx="244241" cy="263244"/>
            <a:chOff x="5027525" y="4402450"/>
            <a:chExt cx="477500" cy="496875"/>
          </a:xfrm>
        </p:grpSpPr>
        <p:sp>
          <p:nvSpPr>
            <p:cNvPr id="206" name="Google Shape;206;g830c98ff86_1_117"/>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830c98ff86_1_117"/>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830c98ff86_1_117"/>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9" name="Google Shape;209;g830c98ff86_1_117"/>
          <p:cNvGrpSpPr/>
          <p:nvPr/>
        </p:nvGrpSpPr>
        <p:grpSpPr>
          <a:xfrm>
            <a:off x="2245632" y="4506289"/>
            <a:ext cx="258228" cy="227366"/>
            <a:chOff x="3539102" y="2427549"/>
            <a:chExt cx="355099" cy="355481"/>
          </a:xfrm>
        </p:grpSpPr>
        <p:sp>
          <p:nvSpPr>
            <p:cNvPr id="210" name="Google Shape;210;g830c98ff86_1_117"/>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g830c98ff86_1_117"/>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12" name="Google Shape;212;g830c98ff86_1_117"/>
          <p:cNvPicPr preferRelativeResize="0"/>
          <p:nvPr/>
        </p:nvPicPr>
        <p:blipFill>
          <a:blip r:embed="rId3">
            <a:alphaModFix/>
          </a:blip>
          <a:stretch>
            <a:fillRect/>
          </a:stretch>
        </p:blipFill>
        <p:spPr>
          <a:xfrm>
            <a:off x="3009546" y="4492026"/>
            <a:ext cx="258200" cy="255438"/>
          </a:xfrm>
          <a:prstGeom prst="rect">
            <a:avLst/>
          </a:prstGeom>
          <a:noFill/>
          <a:ln>
            <a:noFill/>
          </a:ln>
        </p:spPr>
      </p:pic>
      <p:pic>
        <p:nvPicPr>
          <p:cNvPr id="213" name="Google Shape;213;g830c98ff86_1_117"/>
          <p:cNvPicPr preferRelativeResize="0"/>
          <p:nvPr/>
        </p:nvPicPr>
        <p:blipFill>
          <a:blip r:embed="rId4">
            <a:alphaModFix/>
          </a:blip>
          <a:stretch>
            <a:fillRect/>
          </a:stretch>
        </p:blipFill>
        <p:spPr>
          <a:xfrm>
            <a:off x="1424264" y="4498930"/>
            <a:ext cx="303032" cy="241644"/>
          </a:xfrm>
          <a:prstGeom prst="rect">
            <a:avLst/>
          </a:prstGeom>
          <a:noFill/>
          <a:ln>
            <a:noFill/>
          </a:ln>
        </p:spPr>
      </p:pic>
      <p:sp>
        <p:nvSpPr>
          <p:cNvPr id="214" name="Google Shape;214;g830c98ff86_1_117"/>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2200"/>
              <a:t>CARDIOVASCULAR DISEASE IS VARIED</a:t>
            </a:r>
            <a:endParaRPr sz="2200"/>
          </a:p>
        </p:txBody>
      </p:sp>
      <p:cxnSp>
        <p:nvCxnSpPr>
          <p:cNvPr id="215" name="Google Shape;215;g830c98ff86_1_117"/>
          <p:cNvCxnSpPr/>
          <p:nvPr/>
        </p:nvCxnSpPr>
        <p:spPr>
          <a:xfrm flipH="1" rot="10800000">
            <a:off x="459400" y="876250"/>
            <a:ext cx="5636700" cy="9600"/>
          </a:xfrm>
          <a:prstGeom prst="straightConnector1">
            <a:avLst/>
          </a:prstGeom>
          <a:noFill/>
          <a:ln cap="flat" cmpd="sng" w="19050">
            <a:solidFill>
              <a:schemeClr val="accent3"/>
            </a:solidFill>
            <a:prstDash val="solid"/>
            <a:round/>
            <a:headEnd len="sm" w="sm" type="none"/>
            <a:tailEnd len="sm" w="sm" type="none"/>
          </a:ln>
        </p:spPr>
      </p:cxnSp>
      <p:pic>
        <p:nvPicPr>
          <p:cNvPr id="216" name="Google Shape;216;g830c98ff86_1_117"/>
          <p:cNvPicPr preferRelativeResize="0"/>
          <p:nvPr/>
        </p:nvPicPr>
        <p:blipFill>
          <a:blip r:embed="rId5">
            <a:alphaModFix/>
          </a:blip>
          <a:stretch>
            <a:fillRect/>
          </a:stretch>
        </p:blipFill>
        <p:spPr>
          <a:xfrm>
            <a:off x="2367525" y="1082725"/>
            <a:ext cx="4128741" cy="32238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EFEFEF"/>
        </a:solidFill>
      </p:bgPr>
    </p:bg>
    <p:spTree>
      <p:nvGrpSpPr>
        <p:cNvPr id="220" name="Shape 220"/>
        <p:cNvGrpSpPr/>
        <p:nvPr/>
      </p:nvGrpSpPr>
      <p:grpSpPr>
        <a:xfrm>
          <a:off x="0" y="0"/>
          <a:ext cx="0" cy="0"/>
          <a:chOff x="0" y="0"/>
          <a:chExt cx="0" cy="0"/>
        </a:xfrm>
      </p:grpSpPr>
      <p:cxnSp>
        <p:nvCxnSpPr>
          <p:cNvPr id="221" name="Google Shape;221;g82eb9f9b71_1_1019"/>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222" name="Google Shape;222;g82eb9f9b71_1_1019"/>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3" name="Google Shape;223;g82eb9f9b71_1_1019"/>
          <p:cNvPicPr preferRelativeResize="0"/>
          <p:nvPr/>
        </p:nvPicPr>
        <p:blipFill>
          <a:blip r:embed="rId3">
            <a:alphaModFix/>
          </a:blip>
          <a:stretch>
            <a:fillRect/>
          </a:stretch>
        </p:blipFill>
        <p:spPr>
          <a:xfrm>
            <a:off x="4566275" y="1027475"/>
            <a:ext cx="4377783" cy="3471451"/>
          </a:xfrm>
          <a:prstGeom prst="rect">
            <a:avLst/>
          </a:prstGeom>
          <a:noFill/>
          <a:ln>
            <a:noFill/>
          </a:ln>
        </p:spPr>
      </p:pic>
      <p:pic>
        <p:nvPicPr>
          <p:cNvPr id="224" name="Google Shape;224;g82eb9f9b71_1_1019"/>
          <p:cNvPicPr preferRelativeResize="0"/>
          <p:nvPr/>
        </p:nvPicPr>
        <p:blipFill>
          <a:blip r:embed="rId4">
            <a:alphaModFix/>
          </a:blip>
          <a:stretch>
            <a:fillRect/>
          </a:stretch>
        </p:blipFill>
        <p:spPr>
          <a:xfrm>
            <a:off x="4566275" y="1027475"/>
            <a:ext cx="4377775" cy="3471470"/>
          </a:xfrm>
          <a:prstGeom prst="rect">
            <a:avLst/>
          </a:prstGeom>
          <a:noFill/>
          <a:ln>
            <a:noFill/>
          </a:ln>
        </p:spPr>
      </p:pic>
      <p:sp>
        <p:nvSpPr>
          <p:cNvPr id="225" name="Google Shape;225;g82eb9f9b71_1_10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g82eb9f9b71_1_1019"/>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82eb9f9b71_1_1019"/>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g82eb9f9b71_1_1019"/>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g82eb9f9b71_1_1019"/>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230" name="Google Shape;230;g82eb9f9b71_1_1019"/>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231" name="Google Shape;231;g82eb9f9b71_1_1019"/>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232" name="Google Shape;232;g82eb9f9b71_1_1019"/>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233" name="Google Shape;233;g82eb9f9b71_1_1019"/>
          <p:cNvGrpSpPr/>
          <p:nvPr/>
        </p:nvGrpSpPr>
        <p:grpSpPr>
          <a:xfrm>
            <a:off x="582066" y="4477985"/>
            <a:ext cx="244241" cy="263244"/>
            <a:chOff x="5027525" y="4402450"/>
            <a:chExt cx="477500" cy="496875"/>
          </a:xfrm>
        </p:grpSpPr>
        <p:sp>
          <p:nvSpPr>
            <p:cNvPr id="234" name="Google Shape;234;g82eb9f9b71_1_1019"/>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g82eb9f9b71_1_1019"/>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82eb9f9b71_1_1019"/>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7" name="Google Shape;237;g82eb9f9b71_1_1019"/>
          <p:cNvGrpSpPr/>
          <p:nvPr/>
        </p:nvGrpSpPr>
        <p:grpSpPr>
          <a:xfrm>
            <a:off x="2245632" y="4506289"/>
            <a:ext cx="258228" cy="227366"/>
            <a:chOff x="3539102" y="2427549"/>
            <a:chExt cx="355099" cy="355481"/>
          </a:xfrm>
        </p:grpSpPr>
        <p:sp>
          <p:nvSpPr>
            <p:cNvPr id="238" name="Google Shape;238;g82eb9f9b71_1_1019"/>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g82eb9f9b71_1_1019"/>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40" name="Google Shape;240;g82eb9f9b71_1_1019"/>
          <p:cNvPicPr preferRelativeResize="0"/>
          <p:nvPr/>
        </p:nvPicPr>
        <p:blipFill>
          <a:blip r:embed="rId5">
            <a:alphaModFix/>
          </a:blip>
          <a:stretch>
            <a:fillRect/>
          </a:stretch>
        </p:blipFill>
        <p:spPr>
          <a:xfrm>
            <a:off x="3009546" y="4492026"/>
            <a:ext cx="258200" cy="255438"/>
          </a:xfrm>
          <a:prstGeom prst="rect">
            <a:avLst/>
          </a:prstGeom>
          <a:noFill/>
          <a:ln>
            <a:noFill/>
          </a:ln>
        </p:spPr>
      </p:pic>
      <p:pic>
        <p:nvPicPr>
          <p:cNvPr id="241" name="Google Shape;241;g82eb9f9b71_1_1019"/>
          <p:cNvPicPr preferRelativeResize="0"/>
          <p:nvPr/>
        </p:nvPicPr>
        <p:blipFill>
          <a:blip r:embed="rId6">
            <a:alphaModFix/>
          </a:blip>
          <a:stretch>
            <a:fillRect/>
          </a:stretch>
        </p:blipFill>
        <p:spPr>
          <a:xfrm>
            <a:off x="1424264" y="4498930"/>
            <a:ext cx="303032" cy="241644"/>
          </a:xfrm>
          <a:prstGeom prst="rect">
            <a:avLst/>
          </a:prstGeom>
          <a:noFill/>
          <a:ln>
            <a:noFill/>
          </a:ln>
        </p:spPr>
      </p:pic>
      <p:sp>
        <p:nvSpPr>
          <p:cNvPr id="242" name="Google Shape;242;g82eb9f9b71_1_1019"/>
          <p:cNvSpPr txBox="1"/>
          <p:nvPr>
            <p:ph idx="4294967295" type="body"/>
          </p:nvPr>
        </p:nvSpPr>
        <p:spPr>
          <a:xfrm>
            <a:off x="367750" y="2724350"/>
            <a:ext cx="4014000" cy="1221300"/>
          </a:xfrm>
          <a:prstGeom prst="rect">
            <a:avLst/>
          </a:prstGeom>
          <a:noFill/>
          <a:ln>
            <a:noFill/>
          </a:ln>
        </p:spPr>
        <p:txBody>
          <a:bodyPr anchorCtr="0" anchor="t" bIns="91425" lIns="91425" spcFirstLastPara="1" rIns="91425" wrap="square" tIns="91425">
            <a:noAutofit/>
          </a:bodyPr>
          <a:lstStyle/>
          <a:p>
            <a:pPr indent="-273050" lvl="0" marL="285750" rtl="0" algn="l">
              <a:lnSpc>
                <a:spcPct val="115000"/>
              </a:lnSpc>
              <a:spcBef>
                <a:spcPts val="0"/>
              </a:spcBef>
              <a:spcAft>
                <a:spcPts val="0"/>
              </a:spcAft>
              <a:buSzPts val="1600"/>
              <a:buChar char="●"/>
            </a:pPr>
            <a:r>
              <a:rPr lang="en" sz="1600"/>
              <a:t>Average </a:t>
            </a:r>
            <a:r>
              <a:rPr lang="en" sz="1600"/>
              <a:t>Cardiovascular Insurance Coverage (2016): </a:t>
            </a:r>
            <a:r>
              <a:rPr b="1" lang="en" sz="1600"/>
              <a:t>65.26%</a:t>
            </a:r>
            <a:endParaRPr b="1" sz="1600"/>
          </a:p>
          <a:p>
            <a:pPr indent="-273050" lvl="0" marL="285750" rtl="0" algn="l">
              <a:lnSpc>
                <a:spcPct val="115000"/>
              </a:lnSpc>
              <a:spcBef>
                <a:spcPts val="0"/>
              </a:spcBef>
              <a:spcAft>
                <a:spcPts val="0"/>
              </a:spcAft>
              <a:buSzPts val="1600"/>
              <a:buChar char="●"/>
            </a:pPr>
            <a:r>
              <a:rPr lang="en" sz="1600"/>
              <a:t>Number of Prescriptions (2016): </a:t>
            </a:r>
            <a:r>
              <a:rPr b="1" lang="en" sz="1600"/>
              <a:t>12,226,831</a:t>
            </a:r>
            <a:endParaRPr sz="1600"/>
          </a:p>
        </p:txBody>
      </p:sp>
      <p:sp>
        <p:nvSpPr>
          <p:cNvPr id="243" name="Google Shape;243;g82eb9f9b71_1_1019"/>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2200"/>
              <a:t>CARDIOVASCULAR AGENTS ARE THE MOST PRESCRIBED</a:t>
            </a:r>
            <a:endParaRPr sz="2200"/>
          </a:p>
          <a:p>
            <a:pPr indent="0" lvl="0" marL="0" rtl="0" algn="l">
              <a:lnSpc>
                <a:spcPct val="100000"/>
              </a:lnSpc>
              <a:spcBef>
                <a:spcPts val="0"/>
              </a:spcBef>
              <a:spcAft>
                <a:spcPts val="0"/>
              </a:spcAft>
              <a:buSzPts val="1100"/>
              <a:buNone/>
            </a:pPr>
            <a:r>
              <a:rPr lang="en" sz="2200"/>
              <a:t>BUT THE LEAST COVERED</a:t>
            </a:r>
            <a:endParaRPr sz="2200"/>
          </a:p>
        </p:txBody>
      </p:sp>
      <p:cxnSp>
        <p:nvCxnSpPr>
          <p:cNvPr id="244" name="Google Shape;244;g82eb9f9b71_1_1019"/>
          <p:cNvCxnSpPr/>
          <p:nvPr/>
        </p:nvCxnSpPr>
        <p:spPr>
          <a:xfrm flipH="1" rot="10800000">
            <a:off x="459400" y="1178650"/>
            <a:ext cx="3780900" cy="12000"/>
          </a:xfrm>
          <a:prstGeom prst="straightConnector1">
            <a:avLst/>
          </a:prstGeom>
          <a:noFill/>
          <a:ln cap="flat" cmpd="sng" w="19050">
            <a:solidFill>
              <a:schemeClr val="accent3"/>
            </a:solidFill>
            <a:prstDash val="solid"/>
            <a:round/>
            <a:headEnd len="sm" w="sm" type="none"/>
            <a:tailEnd len="sm" w="sm" type="none"/>
          </a:ln>
        </p:spPr>
      </p:cxnSp>
      <p:sp>
        <p:nvSpPr>
          <p:cNvPr id="245" name="Google Shape;245;g82eb9f9b71_1_1019"/>
          <p:cNvSpPr txBox="1"/>
          <p:nvPr/>
        </p:nvSpPr>
        <p:spPr>
          <a:xfrm>
            <a:off x="8048550" y="3459725"/>
            <a:ext cx="810600" cy="313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46" name="Google Shape;246;g82eb9f9b71_1_1019"/>
          <p:cNvSpPr txBox="1"/>
          <p:nvPr>
            <p:ph idx="4294967295" type="body"/>
          </p:nvPr>
        </p:nvSpPr>
        <p:spPr>
          <a:xfrm>
            <a:off x="367738" y="1413025"/>
            <a:ext cx="4014000" cy="1221300"/>
          </a:xfrm>
          <a:prstGeom prst="rect">
            <a:avLst/>
          </a:prstGeom>
          <a:noFill/>
          <a:ln>
            <a:noFill/>
          </a:ln>
        </p:spPr>
        <p:txBody>
          <a:bodyPr anchorCtr="0" anchor="t" bIns="91425" lIns="91425" spcFirstLastPara="1" rIns="91425" wrap="square" tIns="91425">
            <a:noAutofit/>
          </a:bodyPr>
          <a:lstStyle/>
          <a:p>
            <a:pPr indent="-273050" lvl="0" marL="285750" rtl="0" algn="l">
              <a:spcBef>
                <a:spcPts val="0"/>
              </a:spcBef>
              <a:spcAft>
                <a:spcPts val="0"/>
              </a:spcAft>
              <a:buSzPts val="1600"/>
              <a:buChar char="●"/>
            </a:pPr>
            <a:r>
              <a:rPr lang="en" sz="1600"/>
              <a:t>A</a:t>
            </a:r>
            <a:r>
              <a:rPr lang="en" sz="1600"/>
              <a:t>verage Cardiovascular Insurance Coverage (2012): </a:t>
            </a:r>
            <a:r>
              <a:rPr b="1" lang="en" sz="1600"/>
              <a:t>65.92%</a:t>
            </a:r>
            <a:endParaRPr b="1" sz="1600"/>
          </a:p>
          <a:p>
            <a:pPr indent="-273050" lvl="0" marL="285750" rtl="0" algn="l">
              <a:spcBef>
                <a:spcPts val="0"/>
              </a:spcBef>
              <a:spcAft>
                <a:spcPts val="0"/>
              </a:spcAft>
              <a:buSzPts val="1600"/>
              <a:buChar char="●"/>
            </a:pPr>
            <a:r>
              <a:rPr lang="en" sz="1600"/>
              <a:t>Number of Prescriptions (2012): </a:t>
            </a:r>
            <a:r>
              <a:rPr b="1" lang="en" sz="1600"/>
              <a:t>12,265,559</a:t>
            </a:r>
            <a:endParaRPr sz="1600"/>
          </a:p>
        </p:txBody>
      </p:sp>
      <p:sp>
        <p:nvSpPr>
          <p:cNvPr id="247" name="Google Shape;247;g82eb9f9b71_1_1019"/>
          <p:cNvSpPr/>
          <p:nvPr/>
        </p:nvSpPr>
        <p:spPr>
          <a:xfrm>
            <a:off x="474725"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8" name="Google Shape;248;g82eb9f9b71_1_1019"/>
          <p:cNvGrpSpPr/>
          <p:nvPr/>
        </p:nvGrpSpPr>
        <p:grpSpPr>
          <a:xfrm>
            <a:off x="582066" y="4477985"/>
            <a:ext cx="244241" cy="263244"/>
            <a:chOff x="5027525" y="4402450"/>
            <a:chExt cx="477500" cy="496875"/>
          </a:xfrm>
        </p:grpSpPr>
        <p:sp>
          <p:nvSpPr>
            <p:cNvPr id="249" name="Google Shape;249;g82eb9f9b71_1_1019"/>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g82eb9f9b71_1_1019"/>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82eb9f9b71_1_1019"/>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5" name="Shape 255"/>
        <p:cNvGrpSpPr/>
        <p:nvPr/>
      </p:nvGrpSpPr>
      <p:grpSpPr>
        <a:xfrm>
          <a:off x="0" y="0"/>
          <a:ext cx="0" cy="0"/>
          <a:chOff x="0" y="0"/>
          <a:chExt cx="0" cy="0"/>
        </a:xfrm>
      </p:grpSpPr>
      <p:sp>
        <p:nvSpPr>
          <p:cNvPr id="256" name="Google Shape;256;g82f111712f_0_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g82f111712f_0_25"/>
          <p:cNvSpPr txBox="1"/>
          <p:nvPr/>
        </p:nvSpPr>
        <p:spPr>
          <a:xfrm>
            <a:off x="459400" y="3263163"/>
            <a:ext cx="4074300" cy="12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aseline="30000" lang="en" sz="2400">
                <a:solidFill>
                  <a:schemeClr val="accent2"/>
                </a:solidFill>
                <a:latin typeface="Montserrat"/>
                <a:ea typeface="Montserrat"/>
                <a:cs typeface="Montserrat"/>
                <a:sym typeface="Montserrat"/>
              </a:rPr>
              <a:t>Initiation of Medicare Part D resulted in an </a:t>
            </a:r>
            <a:r>
              <a:rPr b="1" baseline="30000" lang="en" sz="2400">
                <a:solidFill>
                  <a:schemeClr val="accent2"/>
                </a:solidFill>
                <a:latin typeface="Montserrat"/>
                <a:ea typeface="Montserrat"/>
                <a:cs typeface="Montserrat"/>
                <a:sym typeface="Montserrat"/>
              </a:rPr>
              <a:t>increased in drug coverage</a:t>
            </a:r>
            <a:r>
              <a:rPr baseline="30000" lang="en" sz="2400">
                <a:solidFill>
                  <a:schemeClr val="accent2"/>
                </a:solidFill>
                <a:latin typeface="Montserrat"/>
                <a:ea typeface="Montserrat"/>
                <a:cs typeface="Montserrat"/>
                <a:sym typeface="Montserrat"/>
              </a:rPr>
              <a:t> among the elderly (23-state sample)  </a:t>
            </a:r>
            <a:r>
              <a:rPr b="1" baseline="30000" lang="en" sz="2400">
                <a:solidFill>
                  <a:schemeClr val="accent2"/>
                </a:solidFill>
                <a:latin typeface="Montserrat"/>
                <a:ea typeface="Montserrat"/>
                <a:cs typeface="Montserrat"/>
                <a:sym typeface="Montserrat"/>
              </a:rPr>
              <a:t>61% to 88%.</a:t>
            </a:r>
            <a:endParaRPr b="1" baseline="30000" sz="2600">
              <a:solidFill>
                <a:schemeClr val="accent2"/>
              </a:solidFill>
              <a:latin typeface="Montserrat"/>
              <a:ea typeface="Montserrat"/>
              <a:cs typeface="Montserrat"/>
              <a:sym typeface="Montserrat"/>
            </a:endParaRPr>
          </a:p>
          <a:p>
            <a:pPr indent="0" lvl="0" marL="0" rtl="0" algn="l">
              <a:spcBef>
                <a:spcPts val="0"/>
              </a:spcBef>
              <a:spcAft>
                <a:spcPts val="0"/>
              </a:spcAft>
              <a:buNone/>
            </a:pPr>
            <a:r>
              <a:t/>
            </a:r>
            <a:endParaRPr baseline="30000" sz="1800">
              <a:solidFill>
                <a:schemeClr val="accent2"/>
              </a:solidFill>
              <a:latin typeface="Montserrat"/>
              <a:ea typeface="Montserrat"/>
              <a:cs typeface="Montserrat"/>
              <a:sym typeface="Montserrat"/>
            </a:endParaRPr>
          </a:p>
        </p:txBody>
      </p:sp>
      <p:sp>
        <p:nvSpPr>
          <p:cNvPr id="258" name="Google Shape;258;g82f111712f_0_25"/>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000"/>
              <a:t>DRUG INSURANCE EXPANSIONS AND PATIENT HEALTH OUTCOMES</a:t>
            </a:r>
            <a:endParaRPr sz="2000"/>
          </a:p>
        </p:txBody>
      </p:sp>
      <p:cxnSp>
        <p:nvCxnSpPr>
          <p:cNvPr id="259" name="Google Shape;259;g82f111712f_0_25"/>
          <p:cNvCxnSpPr/>
          <p:nvPr/>
        </p:nvCxnSpPr>
        <p:spPr>
          <a:xfrm>
            <a:off x="459400" y="1114450"/>
            <a:ext cx="1347000" cy="18300"/>
          </a:xfrm>
          <a:prstGeom prst="straightConnector1">
            <a:avLst/>
          </a:prstGeom>
          <a:noFill/>
          <a:ln cap="flat" cmpd="sng" w="19050">
            <a:solidFill>
              <a:schemeClr val="accent3"/>
            </a:solidFill>
            <a:prstDash val="solid"/>
            <a:round/>
            <a:headEnd len="sm" w="sm" type="none"/>
            <a:tailEnd len="sm" w="sm" type="none"/>
          </a:ln>
        </p:spPr>
      </p:cxnSp>
      <p:pic>
        <p:nvPicPr>
          <p:cNvPr id="260" name="Google Shape;260;g82f111712f_0_25"/>
          <p:cNvPicPr preferRelativeResize="0"/>
          <p:nvPr/>
        </p:nvPicPr>
        <p:blipFill>
          <a:blip r:embed="rId3">
            <a:alphaModFix/>
          </a:blip>
          <a:stretch>
            <a:fillRect/>
          </a:stretch>
        </p:blipFill>
        <p:spPr>
          <a:xfrm>
            <a:off x="712388" y="1273812"/>
            <a:ext cx="3568325" cy="1848300"/>
          </a:xfrm>
          <a:prstGeom prst="rect">
            <a:avLst/>
          </a:prstGeom>
          <a:noFill/>
          <a:ln>
            <a:noFill/>
          </a:ln>
        </p:spPr>
      </p:pic>
      <p:pic>
        <p:nvPicPr>
          <p:cNvPr id="261" name="Google Shape;261;g82f111712f_0_25"/>
          <p:cNvPicPr preferRelativeResize="0"/>
          <p:nvPr/>
        </p:nvPicPr>
        <p:blipFill>
          <a:blip r:embed="rId4">
            <a:alphaModFix/>
          </a:blip>
          <a:stretch>
            <a:fillRect/>
          </a:stretch>
        </p:blipFill>
        <p:spPr>
          <a:xfrm>
            <a:off x="4624800" y="1286650"/>
            <a:ext cx="4234350" cy="3015576"/>
          </a:xfrm>
          <a:prstGeom prst="rect">
            <a:avLst/>
          </a:prstGeom>
          <a:noFill/>
          <a:ln>
            <a:noFill/>
          </a:ln>
        </p:spPr>
      </p:pic>
      <p:cxnSp>
        <p:nvCxnSpPr>
          <p:cNvPr id="262" name="Google Shape;262;g82f111712f_0_25"/>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263" name="Google Shape;263;g82f111712f_0_25"/>
          <p:cNvSpPr/>
          <p:nvPr/>
        </p:nvSpPr>
        <p:spPr>
          <a:xfrm>
            <a:off x="474725"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82f111712f_0_25"/>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82f111712f_0_25"/>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82f111712f_0_25"/>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82f111712f_0_25"/>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268" name="Google Shape;268;g82f111712f_0_25"/>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269" name="Google Shape;269;g82f111712f_0_25"/>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270" name="Google Shape;270;g82f111712f_0_25"/>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271" name="Google Shape;271;g82f111712f_0_25"/>
          <p:cNvGrpSpPr/>
          <p:nvPr/>
        </p:nvGrpSpPr>
        <p:grpSpPr>
          <a:xfrm>
            <a:off x="2245632" y="4506289"/>
            <a:ext cx="258228" cy="227366"/>
            <a:chOff x="3539102" y="2427549"/>
            <a:chExt cx="355099" cy="355481"/>
          </a:xfrm>
        </p:grpSpPr>
        <p:sp>
          <p:nvSpPr>
            <p:cNvPr id="272" name="Google Shape;272;g82f111712f_0_25"/>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g82f111712f_0_25"/>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274" name="Google Shape;274;g82f111712f_0_25"/>
          <p:cNvPicPr preferRelativeResize="0"/>
          <p:nvPr/>
        </p:nvPicPr>
        <p:blipFill>
          <a:blip r:embed="rId5">
            <a:alphaModFix/>
          </a:blip>
          <a:stretch>
            <a:fillRect/>
          </a:stretch>
        </p:blipFill>
        <p:spPr>
          <a:xfrm>
            <a:off x="3009546" y="4492026"/>
            <a:ext cx="258200" cy="255438"/>
          </a:xfrm>
          <a:prstGeom prst="rect">
            <a:avLst/>
          </a:prstGeom>
          <a:noFill/>
          <a:ln>
            <a:noFill/>
          </a:ln>
        </p:spPr>
      </p:pic>
      <p:pic>
        <p:nvPicPr>
          <p:cNvPr id="275" name="Google Shape;275;g82f111712f_0_25"/>
          <p:cNvPicPr preferRelativeResize="0"/>
          <p:nvPr/>
        </p:nvPicPr>
        <p:blipFill>
          <a:blip r:embed="rId6">
            <a:alphaModFix/>
          </a:blip>
          <a:stretch>
            <a:fillRect/>
          </a:stretch>
        </p:blipFill>
        <p:spPr>
          <a:xfrm>
            <a:off x="1424264" y="4498930"/>
            <a:ext cx="303032" cy="241644"/>
          </a:xfrm>
          <a:prstGeom prst="rect">
            <a:avLst/>
          </a:prstGeom>
          <a:noFill/>
          <a:ln>
            <a:noFill/>
          </a:ln>
        </p:spPr>
      </p:pic>
      <p:grpSp>
        <p:nvGrpSpPr>
          <p:cNvPr id="276" name="Google Shape;276;g82f111712f_0_25"/>
          <p:cNvGrpSpPr/>
          <p:nvPr/>
        </p:nvGrpSpPr>
        <p:grpSpPr>
          <a:xfrm>
            <a:off x="582066" y="4477985"/>
            <a:ext cx="244241" cy="263244"/>
            <a:chOff x="5027525" y="4402450"/>
            <a:chExt cx="477500" cy="496875"/>
          </a:xfrm>
        </p:grpSpPr>
        <p:sp>
          <p:nvSpPr>
            <p:cNvPr id="277" name="Google Shape;277;g82f111712f_0_25"/>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g82f111712f_0_25"/>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g82f111712f_0_25"/>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0" name="Google Shape;280;g82f111712f_0_25"/>
          <p:cNvSpPr txBox="1"/>
          <p:nvPr/>
        </p:nvSpPr>
        <p:spPr>
          <a:xfrm>
            <a:off x="3865675" y="3896850"/>
            <a:ext cx="244200" cy="2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aseline="30000" lang="en">
                <a:latin typeface="Montserrat"/>
                <a:ea typeface="Montserrat"/>
                <a:cs typeface="Montserrat"/>
                <a:sym typeface="Montserrat"/>
              </a:rPr>
              <a:t>3</a:t>
            </a:r>
            <a:endParaRPr baseline="30000">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4" name="Shape 284"/>
        <p:cNvGrpSpPr/>
        <p:nvPr/>
      </p:nvGrpSpPr>
      <p:grpSpPr>
        <a:xfrm>
          <a:off x="0" y="0"/>
          <a:ext cx="0" cy="0"/>
          <a:chOff x="0" y="0"/>
          <a:chExt cx="0" cy="0"/>
        </a:xfrm>
      </p:grpSpPr>
      <p:sp>
        <p:nvSpPr>
          <p:cNvPr id="285" name="Google Shape;285;g82eb9f9b71_1_116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286" name="Google Shape;286;g82eb9f9b71_1_1169"/>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287" name="Google Shape;287;g82eb9f9b71_1_1169"/>
          <p:cNvSpPr/>
          <p:nvPr/>
        </p:nvSpPr>
        <p:spPr>
          <a:xfrm>
            <a:off x="474725"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g82eb9f9b71_1_1169"/>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g82eb9f9b71_1_1169"/>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g82eb9f9b71_1_1169"/>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g82eb9f9b71_1_1169"/>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292" name="Google Shape;292;g82eb9f9b71_1_1169"/>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293" name="Google Shape;293;g82eb9f9b71_1_1169"/>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294" name="Google Shape;294;g82eb9f9b71_1_1169"/>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295" name="Google Shape;295;g82eb9f9b71_1_1169"/>
          <p:cNvGrpSpPr/>
          <p:nvPr/>
        </p:nvGrpSpPr>
        <p:grpSpPr>
          <a:xfrm>
            <a:off x="582066" y="4477985"/>
            <a:ext cx="244241" cy="263244"/>
            <a:chOff x="5027525" y="4402450"/>
            <a:chExt cx="477500" cy="496875"/>
          </a:xfrm>
        </p:grpSpPr>
        <p:sp>
          <p:nvSpPr>
            <p:cNvPr id="296" name="Google Shape;296;g82eb9f9b71_1_1169"/>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82eb9f9b71_1_1169"/>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g82eb9f9b71_1_1169"/>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9" name="Google Shape;299;g82eb9f9b71_1_1169"/>
          <p:cNvGrpSpPr/>
          <p:nvPr/>
        </p:nvGrpSpPr>
        <p:grpSpPr>
          <a:xfrm>
            <a:off x="2245632" y="4506289"/>
            <a:ext cx="258228" cy="227366"/>
            <a:chOff x="3539102" y="2427549"/>
            <a:chExt cx="355099" cy="355481"/>
          </a:xfrm>
        </p:grpSpPr>
        <p:sp>
          <p:nvSpPr>
            <p:cNvPr id="300" name="Google Shape;300;g82eb9f9b71_1_1169"/>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g82eb9f9b71_1_1169"/>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302" name="Google Shape;302;g82eb9f9b71_1_1169"/>
          <p:cNvPicPr preferRelativeResize="0"/>
          <p:nvPr/>
        </p:nvPicPr>
        <p:blipFill>
          <a:blip r:embed="rId3">
            <a:alphaModFix/>
          </a:blip>
          <a:stretch>
            <a:fillRect/>
          </a:stretch>
        </p:blipFill>
        <p:spPr>
          <a:xfrm>
            <a:off x="3009546" y="4492026"/>
            <a:ext cx="258200" cy="255438"/>
          </a:xfrm>
          <a:prstGeom prst="rect">
            <a:avLst/>
          </a:prstGeom>
          <a:noFill/>
          <a:ln>
            <a:noFill/>
          </a:ln>
        </p:spPr>
      </p:pic>
      <p:pic>
        <p:nvPicPr>
          <p:cNvPr id="303" name="Google Shape;303;g82eb9f9b71_1_1169"/>
          <p:cNvPicPr preferRelativeResize="0"/>
          <p:nvPr/>
        </p:nvPicPr>
        <p:blipFill>
          <a:blip r:embed="rId4">
            <a:alphaModFix/>
          </a:blip>
          <a:stretch>
            <a:fillRect/>
          </a:stretch>
        </p:blipFill>
        <p:spPr>
          <a:xfrm>
            <a:off x="1424264" y="4498930"/>
            <a:ext cx="303032" cy="241644"/>
          </a:xfrm>
          <a:prstGeom prst="rect">
            <a:avLst/>
          </a:prstGeom>
          <a:noFill/>
          <a:ln>
            <a:noFill/>
          </a:ln>
        </p:spPr>
      </p:pic>
      <p:pic>
        <p:nvPicPr>
          <p:cNvPr id="304" name="Google Shape;304;g82eb9f9b71_1_1169"/>
          <p:cNvPicPr preferRelativeResize="0"/>
          <p:nvPr/>
        </p:nvPicPr>
        <p:blipFill>
          <a:blip r:embed="rId5">
            <a:alphaModFix/>
          </a:blip>
          <a:stretch>
            <a:fillRect/>
          </a:stretch>
        </p:blipFill>
        <p:spPr>
          <a:xfrm>
            <a:off x="2280150" y="1298938"/>
            <a:ext cx="4761550" cy="2986589"/>
          </a:xfrm>
          <a:prstGeom prst="rect">
            <a:avLst/>
          </a:prstGeom>
          <a:noFill/>
          <a:ln>
            <a:noFill/>
          </a:ln>
        </p:spPr>
      </p:pic>
      <p:sp>
        <p:nvSpPr>
          <p:cNvPr id="305" name="Google Shape;305;g82eb9f9b71_1_1169"/>
          <p:cNvSpPr txBox="1"/>
          <p:nvPr>
            <p:ph idx="4294967295" type="body"/>
          </p:nvPr>
        </p:nvSpPr>
        <p:spPr>
          <a:xfrm>
            <a:off x="7186375" y="3677125"/>
            <a:ext cx="1919100" cy="45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400"/>
              <a:buNone/>
            </a:pPr>
            <a:r>
              <a:rPr lang="en" sz="1600"/>
              <a:t>Heisler et. al (2004)</a:t>
            </a:r>
            <a:r>
              <a:rPr baseline="30000" lang="en" sz="1600"/>
              <a:t>4</a:t>
            </a:r>
            <a:endParaRPr baseline="30000" sz="1600"/>
          </a:p>
        </p:txBody>
      </p:sp>
      <p:sp>
        <p:nvSpPr>
          <p:cNvPr id="306" name="Google Shape;306;g82eb9f9b71_1_1169"/>
          <p:cNvSpPr txBox="1"/>
          <p:nvPr/>
        </p:nvSpPr>
        <p:spPr>
          <a:xfrm>
            <a:off x="6417287" y="2356261"/>
            <a:ext cx="544500" cy="14019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307" name="Google Shape;307;g82eb9f9b71_1_1169"/>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200"/>
              <a:t>HEALTH EFFECTS OF RESTRICTING PRESCRIPTION MEDICATION COVERAGE</a:t>
            </a:r>
            <a:endParaRPr sz="2200"/>
          </a:p>
        </p:txBody>
      </p:sp>
      <p:cxnSp>
        <p:nvCxnSpPr>
          <p:cNvPr id="308" name="Google Shape;308;g82eb9f9b71_1_1169"/>
          <p:cNvCxnSpPr/>
          <p:nvPr/>
        </p:nvCxnSpPr>
        <p:spPr>
          <a:xfrm>
            <a:off x="459400" y="1190650"/>
            <a:ext cx="3658500" cy="3300"/>
          </a:xfrm>
          <a:prstGeom prst="straightConnector1">
            <a:avLst/>
          </a:prstGeom>
          <a:noFill/>
          <a:ln cap="flat" cmpd="sng" w="19050">
            <a:solidFill>
              <a:schemeClr val="accent3"/>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2" name="Shape 312"/>
        <p:cNvGrpSpPr/>
        <p:nvPr/>
      </p:nvGrpSpPr>
      <p:grpSpPr>
        <a:xfrm>
          <a:off x="0" y="0"/>
          <a:ext cx="0" cy="0"/>
          <a:chOff x="0" y="0"/>
          <a:chExt cx="0" cy="0"/>
        </a:xfrm>
      </p:grpSpPr>
      <p:sp>
        <p:nvSpPr>
          <p:cNvPr id="313" name="Google Shape;313;g831aa77a85_4_1"/>
          <p:cNvSpPr txBox="1"/>
          <p:nvPr>
            <p:ph idx="2" type="title"/>
          </p:nvPr>
        </p:nvSpPr>
        <p:spPr>
          <a:xfrm>
            <a:off x="3535900" y="857375"/>
            <a:ext cx="5530500" cy="73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What trends can we uncover that explains the disparity in cardiovascular drug coverage and what can we do to address it? </a:t>
            </a:r>
            <a:endParaRPr sz="3000"/>
          </a:p>
        </p:txBody>
      </p:sp>
      <p:sp>
        <p:nvSpPr>
          <p:cNvPr id="314" name="Google Shape;314;g831aa77a85_4_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315" name="Google Shape;315;g831aa77a85_4_1"/>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316" name="Google Shape;316;g831aa77a85_4_1"/>
          <p:cNvSpPr/>
          <p:nvPr/>
        </p:nvSpPr>
        <p:spPr>
          <a:xfrm>
            <a:off x="474725"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831aa77a85_4_1"/>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g831aa77a85_4_1"/>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g831aa77a85_4_1"/>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g831aa77a85_4_1"/>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321" name="Google Shape;321;g831aa77a85_4_1"/>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322" name="Google Shape;322;g831aa77a85_4_1"/>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323" name="Google Shape;323;g831aa77a85_4_1"/>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324" name="Google Shape;324;g831aa77a85_4_1"/>
          <p:cNvGrpSpPr/>
          <p:nvPr/>
        </p:nvGrpSpPr>
        <p:grpSpPr>
          <a:xfrm>
            <a:off x="582066" y="4477985"/>
            <a:ext cx="244241" cy="263244"/>
            <a:chOff x="5027525" y="4402450"/>
            <a:chExt cx="477500" cy="496875"/>
          </a:xfrm>
        </p:grpSpPr>
        <p:sp>
          <p:nvSpPr>
            <p:cNvPr id="325" name="Google Shape;325;g831aa77a85_4_1"/>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g831aa77a85_4_1"/>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g831aa77a85_4_1"/>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8" name="Google Shape;328;g831aa77a85_4_1"/>
          <p:cNvGrpSpPr/>
          <p:nvPr/>
        </p:nvGrpSpPr>
        <p:grpSpPr>
          <a:xfrm>
            <a:off x="2245632" y="4506289"/>
            <a:ext cx="258228" cy="227366"/>
            <a:chOff x="3539102" y="2427549"/>
            <a:chExt cx="355099" cy="355481"/>
          </a:xfrm>
        </p:grpSpPr>
        <p:sp>
          <p:nvSpPr>
            <p:cNvPr id="329" name="Google Shape;329;g831aa77a85_4_1"/>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831aa77a85_4_1"/>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331" name="Google Shape;331;g831aa77a85_4_1"/>
          <p:cNvPicPr preferRelativeResize="0"/>
          <p:nvPr/>
        </p:nvPicPr>
        <p:blipFill>
          <a:blip r:embed="rId3">
            <a:alphaModFix/>
          </a:blip>
          <a:stretch>
            <a:fillRect/>
          </a:stretch>
        </p:blipFill>
        <p:spPr>
          <a:xfrm>
            <a:off x="3009546" y="4492026"/>
            <a:ext cx="258200" cy="255438"/>
          </a:xfrm>
          <a:prstGeom prst="rect">
            <a:avLst/>
          </a:prstGeom>
          <a:noFill/>
          <a:ln>
            <a:noFill/>
          </a:ln>
        </p:spPr>
      </p:pic>
      <p:pic>
        <p:nvPicPr>
          <p:cNvPr id="332" name="Google Shape;332;g831aa77a85_4_1"/>
          <p:cNvPicPr preferRelativeResize="0"/>
          <p:nvPr/>
        </p:nvPicPr>
        <p:blipFill>
          <a:blip r:embed="rId4">
            <a:alphaModFix/>
          </a:blip>
          <a:stretch>
            <a:fillRect/>
          </a:stretch>
        </p:blipFill>
        <p:spPr>
          <a:xfrm>
            <a:off x="1424264" y="4498930"/>
            <a:ext cx="303032" cy="241644"/>
          </a:xfrm>
          <a:prstGeom prst="rect">
            <a:avLst/>
          </a:prstGeom>
          <a:noFill/>
          <a:ln>
            <a:noFill/>
          </a:ln>
        </p:spPr>
      </p:pic>
      <p:pic>
        <p:nvPicPr>
          <p:cNvPr id="333" name="Google Shape;333;g831aa77a85_4_1"/>
          <p:cNvPicPr preferRelativeResize="0"/>
          <p:nvPr/>
        </p:nvPicPr>
        <p:blipFill>
          <a:blip r:embed="rId5">
            <a:alphaModFix/>
          </a:blip>
          <a:stretch>
            <a:fillRect/>
          </a:stretch>
        </p:blipFill>
        <p:spPr>
          <a:xfrm>
            <a:off x="582075" y="893075"/>
            <a:ext cx="2534825" cy="2534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7" name="Shape 337"/>
        <p:cNvGrpSpPr/>
        <p:nvPr/>
      </p:nvGrpSpPr>
      <p:grpSpPr>
        <a:xfrm>
          <a:off x="0" y="0"/>
          <a:ext cx="0" cy="0"/>
          <a:chOff x="0" y="0"/>
          <a:chExt cx="0" cy="0"/>
        </a:xfrm>
      </p:grpSpPr>
      <p:sp>
        <p:nvSpPr>
          <p:cNvPr id="338" name="Google Shape;338;p13"/>
          <p:cNvSpPr/>
          <p:nvPr/>
        </p:nvSpPr>
        <p:spPr>
          <a:xfrm flipH="1">
            <a:off x="3414325" y="2892075"/>
            <a:ext cx="5460000" cy="1248000"/>
          </a:xfrm>
          <a:prstGeom prst="rect">
            <a:avLst/>
          </a:prstGeom>
          <a:no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3"/>
          <p:cNvSpPr/>
          <p:nvPr/>
        </p:nvSpPr>
        <p:spPr>
          <a:xfrm flipH="1">
            <a:off x="2357425" y="1686225"/>
            <a:ext cx="6516900" cy="1114800"/>
          </a:xfrm>
          <a:prstGeom prst="rect">
            <a:avLst/>
          </a:prstGeom>
          <a:noFill/>
          <a:ln cap="flat" cmpd="sng" w="9525">
            <a:solidFill>
              <a:schemeClr val="accent1"/>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341" name="Google Shape;341;p13"/>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342" name="Google Shape;342;p13"/>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3"/>
          <p:cNvSpPr/>
          <p:nvPr/>
        </p:nvSpPr>
        <p:spPr>
          <a:xfrm>
            <a:off x="1365157"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13"/>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13"/>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3"/>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347" name="Google Shape;347;p13"/>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348" name="Google Shape;348;p13"/>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349" name="Google Shape;349;p13"/>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350" name="Google Shape;350;p13"/>
          <p:cNvGrpSpPr/>
          <p:nvPr/>
        </p:nvGrpSpPr>
        <p:grpSpPr>
          <a:xfrm>
            <a:off x="582066" y="4477985"/>
            <a:ext cx="244241" cy="263244"/>
            <a:chOff x="5027525" y="4402450"/>
            <a:chExt cx="477500" cy="496875"/>
          </a:xfrm>
        </p:grpSpPr>
        <p:sp>
          <p:nvSpPr>
            <p:cNvPr id="351" name="Google Shape;351;p13"/>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3"/>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3" name="Google Shape;353;p13"/>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4" name="Google Shape;354;p13"/>
          <p:cNvGrpSpPr/>
          <p:nvPr/>
        </p:nvGrpSpPr>
        <p:grpSpPr>
          <a:xfrm>
            <a:off x="2245632" y="4506289"/>
            <a:ext cx="258228" cy="227366"/>
            <a:chOff x="3539102" y="2427549"/>
            <a:chExt cx="355099" cy="355481"/>
          </a:xfrm>
        </p:grpSpPr>
        <p:sp>
          <p:nvSpPr>
            <p:cNvPr id="355" name="Google Shape;355;p13"/>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13"/>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357" name="Google Shape;357;p13"/>
          <p:cNvPicPr preferRelativeResize="0"/>
          <p:nvPr/>
        </p:nvPicPr>
        <p:blipFill>
          <a:blip r:embed="rId3">
            <a:alphaModFix/>
          </a:blip>
          <a:stretch>
            <a:fillRect/>
          </a:stretch>
        </p:blipFill>
        <p:spPr>
          <a:xfrm>
            <a:off x="3009546" y="4492026"/>
            <a:ext cx="258200" cy="255438"/>
          </a:xfrm>
          <a:prstGeom prst="rect">
            <a:avLst/>
          </a:prstGeom>
          <a:noFill/>
          <a:ln>
            <a:noFill/>
          </a:ln>
        </p:spPr>
      </p:pic>
      <p:pic>
        <p:nvPicPr>
          <p:cNvPr id="358" name="Google Shape;358;p13"/>
          <p:cNvPicPr preferRelativeResize="0"/>
          <p:nvPr/>
        </p:nvPicPr>
        <p:blipFill>
          <a:blip r:embed="rId4">
            <a:alphaModFix/>
          </a:blip>
          <a:stretch>
            <a:fillRect/>
          </a:stretch>
        </p:blipFill>
        <p:spPr>
          <a:xfrm>
            <a:off x="1424264" y="4498930"/>
            <a:ext cx="303032" cy="241644"/>
          </a:xfrm>
          <a:prstGeom prst="rect">
            <a:avLst/>
          </a:prstGeom>
          <a:noFill/>
          <a:ln>
            <a:noFill/>
          </a:ln>
        </p:spPr>
      </p:pic>
      <p:grpSp>
        <p:nvGrpSpPr>
          <p:cNvPr id="359" name="Google Shape;359;p13"/>
          <p:cNvGrpSpPr/>
          <p:nvPr/>
        </p:nvGrpSpPr>
        <p:grpSpPr>
          <a:xfrm>
            <a:off x="-7140" y="2892065"/>
            <a:ext cx="3959477" cy="1209766"/>
            <a:chOff x="1593000" y="2322568"/>
            <a:chExt cx="2779361" cy="643356"/>
          </a:xfrm>
        </p:grpSpPr>
        <p:sp>
          <p:nvSpPr>
            <p:cNvPr id="360" name="Google Shape;360;p13"/>
            <p:cNvSpPr/>
            <p:nvPr/>
          </p:nvSpPr>
          <p:spPr>
            <a:xfrm flipH="1">
              <a:off x="2283157" y="2322580"/>
              <a:ext cx="937500" cy="642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
            <p:cNvSpPr/>
            <p:nvPr/>
          </p:nvSpPr>
          <p:spPr>
            <a:xfrm rot="-5400000">
              <a:off x="3341108" y="1934671"/>
              <a:ext cx="643356" cy="1419149"/>
            </a:xfrm>
            <a:prstGeom prst="flowChartOffpageConnector">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3"/>
            <p:cNvSpPr/>
            <p:nvPr/>
          </p:nvSpPr>
          <p:spPr>
            <a:xfrm>
              <a:off x="1593000" y="2322575"/>
              <a:ext cx="690000" cy="642600"/>
            </a:xfrm>
            <a:prstGeom prst="rect">
              <a:avLst/>
            </a:prstGeom>
            <a:solidFill>
              <a:schemeClr val="accent5"/>
            </a:solidFill>
            <a:ln>
              <a:noFill/>
            </a:ln>
            <a:effectLst>
              <a:outerShdw blurRad="57150" rotWithShape="0" algn="bl" dir="5400000" dist="19050">
                <a:srgbClr val="000000">
                  <a:alpha val="25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600">
                <a:solidFill>
                  <a:schemeClr val="accent3"/>
                </a:solidFill>
                <a:latin typeface="Roboto"/>
                <a:ea typeface="Roboto"/>
                <a:cs typeface="Roboto"/>
                <a:sym typeface="Roboto"/>
              </a:endParaRPr>
            </a:p>
          </p:txBody>
        </p:sp>
      </p:grpSp>
      <p:sp>
        <p:nvSpPr>
          <p:cNvPr id="364" name="Google Shape;364;p13"/>
          <p:cNvSpPr txBox="1"/>
          <p:nvPr/>
        </p:nvSpPr>
        <p:spPr>
          <a:xfrm>
            <a:off x="1145775" y="3015050"/>
            <a:ext cx="2311500" cy="51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Montserrat"/>
                <a:ea typeface="Montserrat"/>
                <a:cs typeface="Montserrat"/>
                <a:sym typeface="Montserrat"/>
              </a:rPr>
              <a:t>Drug Summary</a:t>
            </a:r>
            <a:endParaRPr b="1" sz="2400">
              <a:solidFill>
                <a:srgbClr val="FFFFFF"/>
              </a:solidFill>
              <a:latin typeface="Montserrat"/>
              <a:ea typeface="Montserrat"/>
              <a:cs typeface="Montserrat"/>
              <a:sym typeface="Montserrat"/>
            </a:endParaRPr>
          </a:p>
        </p:txBody>
      </p:sp>
      <p:sp>
        <p:nvSpPr>
          <p:cNvPr id="365" name="Google Shape;365;p13"/>
          <p:cNvSpPr txBox="1"/>
          <p:nvPr/>
        </p:nvSpPr>
        <p:spPr>
          <a:xfrm>
            <a:off x="4179425" y="1692075"/>
            <a:ext cx="4618800" cy="9819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Font typeface="Montserrat"/>
              <a:buChar char="●"/>
            </a:pPr>
            <a:r>
              <a:rPr lang="en" sz="1600">
                <a:latin typeface="Montserrat"/>
                <a:ea typeface="Montserrat"/>
                <a:cs typeface="Montserrat"/>
                <a:sym typeface="Montserrat"/>
              </a:rPr>
              <a:t>Contains information regarding a specific drug (launch year, ingredients, dosage)</a:t>
            </a:r>
            <a:endParaRPr sz="1600">
              <a:latin typeface="Montserrat"/>
              <a:ea typeface="Montserrat"/>
              <a:cs typeface="Montserrat"/>
              <a:sym typeface="Montserrat"/>
            </a:endParaRPr>
          </a:p>
          <a:p>
            <a:pPr indent="-330200" lvl="0" marL="457200" rtl="0" algn="l">
              <a:spcBef>
                <a:spcPts val="0"/>
              </a:spcBef>
              <a:spcAft>
                <a:spcPts val="0"/>
              </a:spcAft>
              <a:buSzPts val="1600"/>
              <a:buFont typeface="Montserrat"/>
              <a:buChar char="●"/>
            </a:pPr>
            <a:r>
              <a:rPr lang="en" sz="1600">
                <a:latin typeface="Montserrat"/>
                <a:ea typeface="Montserrat"/>
                <a:cs typeface="Montserrat"/>
                <a:sym typeface="Montserrat"/>
              </a:rPr>
              <a:t>40 features; 58,299 entries</a:t>
            </a:r>
            <a:endParaRPr sz="1600">
              <a:latin typeface="Montserrat"/>
              <a:ea typeface="Montserrat"/>
              <a:cs typeface="Montserrat"/>
              <a:sym typeface="Montserrat"/>
            </a:endParaRPr>
          </a:p>
        </p:txBody>
      </p:sp>
      <p:sp>
        <p:nvSpPr>
          <p:cNvPr id="366" name="Google Shape;366;p13"/>
          <p:cNvSpPr txBox="1"/>
          <p:nvPr/>
        </p:nvSpPr>
        <p:spPr>
          <a:xfrm>
            <a:off x="4179425" y="2967375"/>
            <a:ext cx="4618800" cy="11643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Font typeface="Montserrat"/>
              <a:buChar char="●"/>
            </a:pPr>
            <a:r>
              <a:rPr lang="en" sz="1600">
                <a:latin typeface="Montserrat"/>
                <a:ea typeface="Montserrat"/>
                <a:cs typeface="Montserrat"/>
                <a:sym typeface="Montserrat"/>
              </a:rPr>
              <a:t>Contains information regarding drug characteristics (region distribution, age distribution)</a:t>
            </a:r>
            <a:endParaRPr sz="1600">
              <a:latin typeface="Montserrat"/>
              <a:ea typeface="Montserrat"/>
              <a:cs typeface="Montserrat"/>
              <a:sym typeface="Montserrat"/>
            </a:endParaRPr>
          </a:p>
          <a:p>
            <a:pPr indent="-330200" lvl="0" marL="457200" rtl="0" algn="l">
              <a:spcBef>
                <a:spcPts val="0"/>
              </a:spcBef>
              <a:spcAft>
                <a:spcPts val="0"/>
              </a:spcAft>
              <a:buSzPts val="1600"/>
              <a:buFont typeface="Montserrat"/>
              <a:buChar char="●"/>
            </a:pPr>
            <a:r>
              <a:rPr lang="en" sz="1600">
                <a:latin typeface="Montserrat"/>
                <a:ea typeface="Montserrat"/>
                <a:cs typeface="Montserrat"/>
                <a:sym typeface="Montserrat"/>
              </a:rPr>
              <a:t>50 features; </a:t>
            </a:r>
            <a:r>
              <a:rPr lang="en" sz="1600">
                <a:latin typeface="Montserrat"/>
                <a:ea typeface="Montserrat"/>
                <a:cs typeface="Montserrat"/>
                <a:sym typeface="Montserrat"/>
              </a:rPr>
              <a:t>8</a:t>
            </a:r>
            <a:r>
              <a:rPr lang="en" sz="1600">
                <a:latin typeface="Montserrat"/>
                <a:ea typeface="Montserrat"/>
                <a:cs typeface="Montserrat"/>
                <a:sym typeface="Montserrat"/>
              </a:rPr>
              <a:t>,455 entries</a:t>
            </a:r>
            <a:endParaRPr sz="1600">
              <a:latin typeface="Montserrat"/>
              <a:ea typeface="Montserrat"/>
              <a:cs typeface="Montserrat"/>
              <a:sym typeface="Montserrat"/>
            </a:endParaRPr>
          </a:p>
        </p:txBody>
      </p:sp>
      <p:sp>
        <p:nvSpPr>
          <p:cNvPr id="367" name="Google Shape;367;p13"/>
          <p:cNvSpPr txBox="1"/>
          <p:nvPr/>
        </p:nvSpPr>
        <p:spPr>
          <a:xfrm>
            <a:off x="474725" y="1148775"/>
            <a:ext cx="83844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Montserrat"/>
                <a:ea typeface="Montserrat"/>
                <a:cs typeface="Montserrat"/>
                <a:sym typeface="Montserrat"/>
              </a:rPr>
              <a:t>Obtained from Minnesota All Payers Claim Database </a:t>
            </a:r>
            <a:r>
              <a:rPr i="1" lang="en" sz="1800">
                <a:latin typeface="Montserrat"/>
                <a:ea typeface="Montserrat"/>
                <a:cs typeface="Montserrat"/>
                <a:sym typeface="Montserrat"/>
              </a:rPr>
              <a:t>(years 2012 &amp; 2016)</a:t>
            </a:r>
            <a:endParaRPr i="1" sz="1800">
              <a:latin typeface="Montserrat"/>
              <a:ea typeface="Montserrat"/>
              <a:cs typeface="Montserrat"/>
              <a:sym typeface="Montserrat"/>
            </a:endParaRPr>
          </a:p>
        </p:txBody>
      </p:sp>
      <p:sp>
        <p:nvSpPr>
          <p:cNvPr id="368" name="Google Shape;368;p13"/>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2200"/>
              <a:t>DATA SOURCES</a:t>
            </a:r>
            <a:endParaRPr sz="2200"/>
          </a:p>
        </p:txBody>
      </p:sp>
      <p:cxnSp>
        <p:nvCxnSpPr>
          <p:cNvPr id="369" name="Google Shape;369;p13"/>
          <p:cNvCxnSpPr/>
          <p:nvPr/>
        </p:nvCxnSpPr>
        <p:spPr>
          <a:xfrm flipH="1" rot="10800000">
            <a:off x="459400" y="872650"/>
            <a:ext cx="2311500" cy="13200"/>
          </a:xfrm>
          <a:prstGeom prst="straightConnector1">
            <a:avLst/>
          </a:prstGeom>
          <a:noFill/>
          <a:ln cap="flat" cmpd="sng" w="19050">
            <a:solidFill>
              <a:schemeClr val="accent3"/>
            </a:solidFill>
            <a:prstDash val="solid"/>
            <a:round/>
            <a:headEnd len="sm" w="sm" type="none"/>
            <a:tailEnd len="sm" w="sm" type="none"/>
          </a:ln>
        </p:spPr>
      </p:cxnSp>
      <p:pic>
        <p:nvPicPr>
          <p:cNvPr id="370" name="Google Shape;370;p13"/>
          <p:cNvPicPr preferRelativeResize="0"/>
          <p:nvPr/>
        </p:nvPicPr>
        <p:blipFill>
          <a:blip r:embed="rId5">
            <a:alphaModFix/>
          </a:blip>
          <a:stretch>
            <a:fillRect/>
          </a:stretch>
        </p:blipFill>
        <p:spPr>
          <a:xfrm>
            <a:off x="95250" y="3165800"/>
            <a:ext cx="785375" cy="785352"/>
          </a:xfrm>
          <a:prstGeom prst="rect">
            <a:avLst/>
          </a:prstGeom>
          <a:noFill/>
          <a:ln>
            <a:noFill/>
          </a:ln>
        </p:spPr>
      </p:pic>
      <p:grpSp>
        <p:nvGrpSpPr>
          <p:cNvPr id="371" name="Google Shape;371;p13"/>
          <p:cNvGrpSpPr/>
          <p:nvPr/>
        </p:nvGrpSpPr>
        <p:grpSpPr>
          <a:xfrm>
            <a:off x="-7170" y="1719379"/>
            <a:ext cx="3959477" cy="1081738"/>
            <a:chOff x="1593000" y="2322568"/>
            <a:chExt cx="2779361" cy="643356"/>
          </a:xfrm>
        </p:grpSpPr>
        <p:sp>
          <p:nvSpPr>
            <p:cNvPr id="372" name="Google Shape;372;p13"/>
            <p:cNvSpPr/>
            <p:nvPr/>
          </p:nvSpPr>
          <p:spPr>
            <a:xfrm flipH="1">
              <a:off x="2283157" y="2322580"/>
              <a:ext cx="937500" cy="642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3"/>
            <p:cNvSpPr/>
            <p:nvPr/>
          </p:nvSpPr>
          <p:spPr>
            <a:xfrm rot="-5400000">
              <a:off x="3341108" y="1934671"/>
              <a:ext cx="643356" cy="1419149"/>
            </a:xfrm>
            <a:prstGeom prst="flowChartOffpageConnector">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3"/>
            <p:cNvSpPr/>
            <p:nvPr/>
          </p:nvSpPr>
          <p:spPr>
            <a:xfrm>
              <a:off x="1593000" y="2322575"/>
              <a:ext cx="690000" cy="642600"/>
            </a:xfrm>
            <a:prstGeom prst="rect">
              <a:avLst/>
            </a:prstGeom>
            <a:solidFill>
              <a:schemeClr val="accent5"/>
            </a:solidFill>
            <a:ln>
              <a:noFill/>
            </a:ln>
            <a:effectLst>
              <a:outerShdw blurRad="57150" rotWithShape="0" algn="bl" dir="5400000" dist="19050">
                <a:srgbClr val="000000">
                  <a:alpha val="25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600">
                <a:solidFill>
                  <a:schemeClr val="accent3"/>
                </a:solidFill>
                <a:latin typeface="Roboto"/>
                <a:ea typeface="Roboto"/>
                <a:cs typeface="Roboto"/>
                <a:sym typeface="Roboto"/>
              </a:endParaRPr>
            </a:p>
          </p:txBody>
        </p:sp>
      </p:grpSp>
      <p:pic>
        <p:nvPicPr>
          <p:cNvPr id="376" name="Google Shape;376;p13"/>
          <p:cNvPicPr preferRelativeResize="0"/>
          <p:nvPr/>
        </p:nvPicPr>
        <p:blipFill>
          <a:blip r:embed="rId6">
            <a:alphaModFix/>
          </a:blip>
          <a:stretch>
            <a:fillRect/>
          </a:stretch>
        </p:blipFill>
        <p:spPr>
          <a:xfrm>
            <a:off x="179574" y="1954450"/>
            <a:ext cx="616750" cy="616750"/>
          </a:xfrm>
          <a:prstGeom prst="rect">
            <a:avLst/>
          </a:prstGeom>
          <a:noFill/>
          <a:ln>
            <a:noFill/>
          </a:ln>
        </p:spPr>
      </p:pic>
      <p:sp>
        <p:nvSpPr>
          <p:cNvPr id="377" name="Google Shape;377;p13"/>
          <p:cNvSpPr txBox="1"/>
          <p:nvPr/>
        </p:nvSpPr>
        <p:spPr>
          <a:xfrm>
            <a:off x="1145763" y="1985350"/>
            <a:ext cx="2548500" cy="51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Montserrat"/>
                <a:ea typeface="Montserrat"/>
                <a:cs typeface="Montserrat"/>
                <a:sym typeface="Montserrat"/>
              </a:rPr>
              <a:t>Drug Details</a:t>
            </a:r>
            <a:endParaRPr b="1" sz="2400">
              <a:solidFill>
                <a:srgbClr val="FFFFFF"/>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1" name="Shape 381"/>
        <p:cNvGrpSpPr/>
        <p:nvPr/>
      </p:nvGrpSpPr>
      <p:grpSpPr>
        <a:xfrm>
          <a:off x="0" y="0"/>
          <a:ext cx="0" cy="0"/>
          <a:chOff x="0" y="0"/>
          <a:chExt cx="0" cy="0"/>
        </a:xfrm>
      </p:grpSpPr>
      <p:sp>
        <p:nvSpPr>
          <p:cNvPr id="382" name="Google Shape;382;g82eb9f9b71_1_919"/>
          <p:cNvSpPr/>
          <p:nvPr/>
        </p:nvSpPr>
        <p:spPr>
          <a:xfrm>
            <a:off x="7082200" y="1374325"/>
            <a:ext cx="1026600" cy="863700"/>
          </a:xfrm>
          <a:prstGeom prst="hexagon">
            <a:avLst>
              <a:gd fmla="val 25000" name="adj"/>
              <a:gd fmla="val 115470" name="vf"/>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g82eb9f9b71_1_919"/>
          <p:cNvSpPr/>
          <p:nvPr/>
        </p:nvSpPr>
        <p:spPr>
          <a:xfrm>
            <a:off x="4125375" y="1374325"/>
            <a:ext cx="1026600" cy="863700"/>
          </a:xfrm>
          <a:prstGeom prst="hexagon">
            <a:avLst>
              <a:gd fmla="val 25000" name="adj"/>
              <a:gd fmla="val 115470" name="vf"/>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82eb9f9b71_1_919"/>
          <p:cNvSpPr/>
          <p:nvPr/>
        </p:nvSpPr>
        <p:spPr>
          <a:xfrm>
            <a:off x="1005800" y="1382213"/>
            <a:ext cx="1026600" cy="863700"/>
          </a:xfrm>
          <a:prstGeom prst="hexagon">
            <a:avLst>
              <a:gd fmla="val 25000" name="adj"/>
              <a:gd fmla="val 115470" name="vf"/>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g82eb9f9b71_1_9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386" name="Google Shape;386;g82eb9f9b71_1_919"/>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387" name="Google Shape;387;g82eb9f9b71_1_919"/>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g82eb9f9b71_1_919"/>
          <p:cNvSpPr/>
          <p:nvPr/>
        </p:nvSpPr>
        <p:spPr>
          <a:xfrm>
            <a:off x="1365157"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g82eb9f9b71_1_919"/>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82eb9f9b71_1_919"/>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82eb9f9b71_1_919"/>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392" name="Google Shape;392;g82eb9f9b71_1_919"/>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393" name="Google Shape;393;g82eb9f9b71_1_919"/>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394" name="Google Shape;394;g82eb9f9b71_1_919"/>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395" name="Google Shape;395;g82eb9f9b71_1_919"/>
          <p:cNvGrpSpPr/>
          <p:nvPr/>
        </p:nvGrpSpPr>
        <p:grpSpPr>
          <a:xfrm>
            <a:off x="582066" y="4477985"/>
            <a:ext cx="244241" cy="263244"/>
            <a:chOff x="5027525" y="4402450"/>
            <a:chExt cx="477500" cy="496875"/>
          </a:xfrm>
        </p:grpSpPr>
        <p:sp>
          <p:nvSpPr>
            <p:cNvPr id="396" name="Google Shape;396;g82eb9f9b71_1_919"/>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g82eb9f9b71_1_919"/>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g82eb9f9b71_1_919"/>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9" name="Google Shape;399;g82eb9f9b71_1_919"/>
          <p:cNvGrpSpPr/>
          <p:nvPr/>
        </p:nvGrpSpPr>
        <p:grpSpPr>
          <a:xfrm>
            <a:off x="2245632" y="4506289"/>
            <a:ext cx="258228" cy="227366"/>
            <a:chOff x="3539102" y="2427549"/>
            <a:chExt cx="355099" cy="355481"/>
          </a:xfrm>
        </p:grpSpPr>
        <p:sp>
          <p:nvSpPr>
            <p:cNvPr id="400" name="Google Shape;400;g82eb9f9b71_1_919"/>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g82eb9f9b71_1_919"/>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402" name="Google Shape;402;g82eb9f9b71_1_919"/>
          <p:cNvPicPr preferRelativeResize="0"/>
          <p:nvPr/>
        </p:nvPicPr>
        <p:blipFill>
          <a:blip r:embed="rId3">
            <a:alphaModFix/>
          </a:blip>
          <a:stretch>
            <a:fillRect/>
          </a:stretch>
        </p:blipFill>
        <p:spPr>
          <a:xfrm>
            <a:off x="3009546" y="4492026"/>
            <a:ext cx="258200" cy="255438"/>
          </a:xfrm>
          <a:prstGeom prst="rect">
            <a:avLst/>
          </a:prstGeom>
          <a:noFill/>
          <a:ln>
            <a:noFill/>
          </a:ln>
        </p:spPr>
      </p:pic>
      <p:pic>
        <p:nvPicPr>
          <p:cNvPr id="403" name="Google Shape;403;g82eb9f9b71_1_919"/>
          <p:cNvPicPr preferRelativeResize="0"/>
          <p:nvPr/>
        </p:nvPicPr>
        <p:blipFill>
          <a:blip r:embed="rId4">
            <a:alphaModFix/>
          </a:blip>
          <a:stretch>
            <a:fillRect/>
          </a:stretch>
        </p:blipFill>
        <p:spPr>
          <a:xfrm>
            <a:off x="1424264" y="4498930"/>
            <a:ext cx="303032" cy="241644"/>
          </a:xfrm>
          <a:prstGeom prst="rect">
            <a:avLst/>
          </a:prstGeom>
          <a:noFill/>
          <a:ln>
            <a:noFill/>
          </a:ln>
        </p:spPr>
      </p:pic>
      <p:sp>
        <p:nvSpPr>
          <p:cNvPr id="404" name="Google Shape;404;g82eb9f9b71_1_919"/>
          <p:cNvSpPr txBox="1"/>
          <p:nvPr>
            <p:ph idx="2" type="title"/>
          </p:nvPr>
        </p:nvSpPr>
        <p:spPr>
          <a:xfrm>
            <a:off x="591250" y="2347433"/>
            <a:ext cx="1875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600"/>
              <a:t>NULLS</a:t>
            </a:r>
            <a:endParaRPr sz="1600"/>
          </a:p>
        </p:txBody>
      </p:sp>
      <p:sp>
        <p:nvSpPr>
          <p:cNvPr id="405" name="Google Shape;405;g82eb9f9b71_1_919"/>
          <p:cNvSpPr txBox="1"/>
          <p:nvPr>
            <p:ph idx="1" type="subTitle"/>
          </p:nvPr>
        </p:nvSpPr>
        <p:spPr>
          <a:xfrm>
            <a:off x="641250" y="2651638"/>
            <a:ext cx="2626500" cy="1535100"/>
          </a:xfrm>
          <a:prstGeom prst="rect">
            <a:avLst/>
          </a:prstGeom>
          <a:noFill/>
          <a:ln>
            <a:noFill/>
          </a:ln>
        </p:spPr>
        <p:txBody>
          <a:bodyPr anchorCtr="0" anchor="t" bIns="91425" lIns="91425" spcFirstLastPara="1" rIns="91425" wrap="square" tIns="91425">
            <a:noAutofit/>
          </a:bodyPr>
          <a:lstStyle/>
          <a:p>
            <a:pPr indent="-215900" lvl="0" marL="228600" rtl="0" algn="l">
              <a:lnSpc>
                <a:spcPct val="115000"/>
              </a:lnSpc>
              <a:spcBef>
                <a:spcPts val="0"/>
              </a:spcBef>
              <a:spcAft>
                <a:spcPts val="0"/>
              </a:spcAft>
              <a:buSzPts val="1600"/>
              <a:buAutoNum type="arabicPeriod"/>
            </a:pPr>
            <a:r>
              <a:rPr lang="en" sz="1600"/>
              <a:t>Impute nulls in </a:t>
            </a:r>
            <a:r>
              <a:rPr i="1" lang="en" sz="1600"/>
              <a:t>‘PROPNAME’</a:t>
            </a:r>
            <a:endParaRPr i="1" sz="1600"/>
          </a:p>
          <a:p>
            <a:pPr indent="-215900" lvl="0" marL="228600" rtl="0" algn="l">
              <a:lnSpc>
                <a:spcPct val="115000"/>
              </a:lnSpc>
              <a:spcBef>
                <a:spcPts val="0"/>
              </a:spcBef>
              <a:spcAft>
                <a:spcPts val="0"/>
              </a:spcAft>
              <a:buSzPts val="1600"/>
              <a:buAutoNum type="arabicPeriod"/>
            </a:pPr>
            <a:r>
              <a:rPr lang="en" sz="1600"/>
              <a:t>Drop rows with 10% missing </a:t>
            </a:r>
            <a:endParaRPr sz="1600"/>
          </a:p>
        </p:txBody>
      </p:sp>
      <p:sp>
        <p:nvSpPr>
          <p:cNvPr id="406" name="Google Shape;406;g82eb9f9b71_1_919"/>
          <p:cNvSpPr txBox="1"/>
          <p:nvPr>
            <p:ph idx="5" type="title"/>
          </p:nvPr>
        </p:nvSpPr>
        <p:spPr>
          <a:xfrm>
            <a:off x="3701022" y="2339546"/>
            <a:ext cx="1875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600"/>
              <a:t>JOINS</a:t>
            </a:r>
            <a:endParaRPr sz="1600"/>
          </a:p>
        </p:txBody>
      </p:sp>
      <p:sp>
        <p:nvSpPr>
          <p:cNvPr id="407" name="Google Shape;407;g82eb9f9b71_1_919"/>
          <p:cNvSpPr txBox="1"/>
          <p:nvPr>
            <p:ph idx="6" type="subTitle"/>
          </p:nvPr>
        </p:nvSpPr>
        <p:spPr>
          <a:xfrm>
            <a:off x="3265300" y="2671775"/>
            <a:ext cx="2735400" cy="1535100"/>
          </a:xfrm>
          <a:prstGeom prst="rect">
            <a:avLst/>
          </a:prstGeom>
          <a:noFill/>
          <a:ln>
            <a:noFill/>
          </a:ln>
        </p:spPr>
        <p:txBody>
          <a:bodyPr anchorCtr="0" anchor="t" bIns="91425" lIns="91425" spcFirstLastPara="1" rIns="91425" wrap="square" tIns="91425">
            <a:noAutofit/>
          </a:bodyPr>
          <a:lstStyle/>
          <a:p>
            <a:pPr indent="-273050" lvl="0" marL="228600" rtl="0" algn="l">
              <a:lnSpc>
                <a:spcPct val="115000"/>
              </a:lnSpc>
              <a:spcBef>
                <a:spcPts val="0"/>
              </a:spcBef>
              <a:spcAft>
                <a:spcPts val="0"/>
              </a:spcAft>
              <a:buSzPts val="1600"/>
              <a:buAutoNum type="arabicPeriod"/>
            </a:pPr>
            <a:r>
              <a:rPr lang="en" sz="1600"/>
              <a:t>Join </a:t>
            </a:r>
            <a:r>
              <a:rPr i="1" lang="en" sz="1600"/>
              <a:t>Prescription</a:t>
            </a:r>
            <a:r>
              <a:rPr lang="en" sz="1600"/>
              <a:t> 2012 and  2016 data on 4 features</a:t>
            </a:r>
            <a:endParaRPr sz="1600"/>
          </a:p>
          <a:p>
            <a:pPr indent="-273050" lvl="0" marL="228600" rtl="0" algn="l">
              <a:lnSpc>
                <a:spcPct val="115000"/>
              </a:lnSpc>
              <a:spcBef>
                <a:spcPts val="0"/>
              </a:spcBef>
              <a:spcAft>
                <a:spcPts val="0"/>
              </a:spcAft>
              <a:buSzPts val="1600"/>
              <a:buAutoNum type="arabicPeriod"/>
            </a:pPr>
            <a:r>
              <a:rPr lang="en" sz="1600"/>
              <a:t>Join </a:t>
            </a:r>
            <a:r>
              <a:rPr i="1" lang="en" sz="1600"/>
              <a:t>Drug</a:t>
            </a:r>
            <a:r>
              <a:rPr lang="en" sz="1600"/>
              <a:t> 2012 and 2016 data on 6 features</a:t>
            </a:r>
            <a:endParaRPr sz="1600"/>
          </a:p>
        </p:txBody>
      </p:sp>
      <p:sp>
        <p:nvSpPr>
          <p:cNvPr id="408" name="Google Shape;408;g82eb9f9b71_1_919"/>
          <p:cNvSpPr txBox="1"/>
          <p:nvPr>
            <p:ph idx="5" type="title"/>
          </p:nvPr>
        </p:nvSpPr>
        <p:spPr>
          <a:xfrm>
            <a:off x="6657847" y="2339546"/>
            <a:ext cx="1875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600"/>
              <a:t>BUILT</a:t>
            </a:r>
            <a:endParaRPr sz="1600"/>
          </a:p>
        </p:txBody>
      </p:sp>
      <p:sp>
        <p:nvSpPr>
          <p:cNvPr id="409" name="Google Shape;409;g82eb9f9b71_1_919"/>
          <p:cNvSpPr txBox="1"/>
          <p:nvPr>
            <p:ph idx="6" type="subTitle"/>
          </p:nvPr>
        </p:nvSpPr>
        <p:spPr>
          <a:xfrm>
            <a:off x="6169150" y="2671775"/>
            <a:ext cx="2847300" cy="1834500"/>
          </a:xfrm>
          <a:prstGeom prst="rect">
            <a:avLst/>
          </a:prstGeom>
          <a:noFill/>
          <a:ln>
            <a:noFill/>
          </a:ln>
        </p:spPr>
        <p:txBody>
          <a:bodyPr anchorCtr="0" anchor="t" bIns="91425" lIns="91425" spcFirstLastPara="1" rIns="91425" wrap="square" tIns="91425">
            <a:noAutofit/>
          </a:bodyPr>
          <a:lstStyle/>
          <a:p>
            <a:pPr indent="-215900" lvl="0" marL="228600" rtl="0" algn="l">
              <a:lnSpc>
                <a:spcPct val="115000"/>
              </a:lnSpc>
              <a:spcBef>
                <a:spcPts val="0"/>
              </a:spcBef>
              <a:spcAft>
                <a:spcPts val="0"/>
              </a:spcAft>
              <a:buSzPts val="1600"/>
              <a:buAutoNum type="arabicPeriod"/>
            </a:pPr>
            <a:r>
              <a:rPr lang="en" sz="1600"/>
              <a:t>Compute percent change between 2012 and 2016 in </a:t>
            </a:r>
            <a:r>
              <a:rPr i="1" lang="en" sz="1600"/>
              <a:t>Prescription</a:t>
            </a:r>
            <a:endParaRPr sz="1600"/>
          </a:p>
          <a:p>
            <a:pPr indent="-215900" lvl="0" marL="228600" rtl="0" algn="l">
              <a:lnSpc>
                <a:spcPct val="115000"/>
              </a:lnSpc>
              <a:spcBef>
                <a:spcPts val="0"/>
              </a:spcBef>
              <a:spcAft>
                <a:spcPts val="0"/>
              </a:spcAft>
              <a:buSzPts val="1600"/>
              <a:buAutoNum type="arabicPeriod"/>
            </a:pPr>
            <a:r>
              <a:rPr lang="en" sz="1600"/>
              <a:t>Percentage of insurance coverage in </a:t>
            </a:r>
            <a:r>
              <a:rPr i="1" lang="en" sz="1600"/>
              <a:t>Drug</a:t>
            </a:r>
            <a:endParaRPr i="1" sz="1600"/>
          </a:p>
        </p:txBody>
      </p:sp>
      <p:pic>
        <p:nvPicPr>
          <p:cNvPr id="410" name="Google Shape;410;g82eb9f9b71_1_919"/>
          <p:cNvPicPr preferRelativeResize="0"/>
          <p:nvPr/>
        </p:nvPicPr>
        <p:blipFill>
          <a:blip r:embed="rId5">
            <a:alphaModFix/>
          </a:blip>
          <a:stretch>
            <a:fillRect/>
          </a:stretch>
        </p:blipFill>
        <p:spPr>
          <a:xfrm>
            <a:off x="4379325" y="1556638"/>
            <a:ext cx="499100" cy="499100"/>
          </a:xfrm>
          <a:prstGeom prst="rect">
            <a:avLst/>
          </a:prstGeom>
          <a:noFill/>
          <a:ln>
            <a:noFill/>
          </a:ln>
        </p:spPr>
      </p:pic>
      <p:pic>
        <p:nvPicPr>
          <p:cNvPr id="411" name="Google Shape;411;g82eb9f9b71_1_919"/>
          <p:cNvPicPr preferRelativeResize="0"/>
          <p:nvPr/>
        </p:nvPicPr>
        <p:blipFill rotWithShape="1">
          <a:blip r:embed="rId6">
            <a:alphaModFix/>
          </a:blip>
          <a:srcRect b="17594" l="13314" r="16867" t="8512"/>
          <a:stretch/>
        </p:blipFill>
        <p:spPr>
          <a:xfrm>
            <a:off x="1132600" y="1372025"/>
            <a:ext cx="748876" cy="792600"/>
          </a:xfrm>
          <a:prstGeom prst="rect">
            <a:avLst/>
          </a:prstGeom>
          <a:noFill/>
          <a:ln>
            <a:noFill/>
          </a:ln>
        </p:spPr>
      </p:pic>
      <p:pic>
        <p:nvPicPr>
          <p:cNvPr id="412" name="Google Shape;412;g82eb9f9b71_1_919"/>
          <p:cNvPicPr preferRelativeResize="0"/>
          <p:nvPr/>
        </p:nvPicPr>
        <p:blipFill>
          <a:blip r:embed="rId7">
            <a:alphaModFix/>
          </a:blip>
          <a:stretch>
            <a:fillRect/>
          </a:stretch>
        </p:blipFill>
        <p:spPr>
          <a:xfrm>
            <a:off x="7321147" y="1531838"/>
            <a:ext cx="548700" cy="548700"/>
          </a:xfrm>
          <a:prstGeom prst="rect">
            <a:avLst/>
          </a:prstGeom>
          <a:noFill/>
          <a:ln>
            <a:noFill/>
          </a:ln>
        </p:spPr>
      </p:pic>
      <p:sp>
        <p:nvSpPr>
          <p:cNvPr id="413" name="Google Shape;413;g82eb9f9b71_1_919"/>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2200"/>
              <a:t>DATA CLEANING</a:t>
            </a:r>
            <a:endParaRPr sz="2200"/>
          </a:p>
        </p:txBody>
      </p:sp>
      <p:cxnSp>
        <p:nvCxnSpPr>
          <p:cNvPr id="414" name="Google Shape;414;g82eb9f9b71_1_919"/>
          <p:cNvCxnSpPr/>
          <p:nvPr/>
        </p:nvCxnSpPr>
        <p:spPr>
          <a:xfrm flipH="1" rot="10800000">
            <a:off x="459400" y="872650"/>
            <a:ext cx="2495100" cy="13200"/>
          </a:xfrm>
          <a:prstGeom prst="straightConnector1">
            <a:avLst/>
          </a:prstGeom>
          <a:noFill/>
          <a:ln cap="flat" cmpd="sng" w="19050">
            <a:solidFill>
              <a:schemeClr val="accent3"/>
            </a:solidFill>
            <a:prstDash val="solid"/>
            <a:round/>
            <a:headEnd len="sm" w="sm" type="none"/>
            <a:tailEnd len="sm" w="sm"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8" name="Shape 418"/>
        <p:cNvGrpSpPr/>
        <p:nvPr/>
      </p:nvGrpSpPr>
      <p:grpSpPr>
        <a:xfrm>
          <a:off x="0" y="0"/>
          <a:ext cx="0" cy="0"/>
          <a:chOff x="0" y="0"/>
          <a:chExt cx="0" cy="0"/>
        </a:xfrm>
      </p:grpSpPr>
      <p:sp>
        <p:nvSpPr>
          <p:cNvPr id="419" name="Google Shape;419;g831aa77a85_0_10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420" name="Google Shape;420;g831aa77a85_0_106"/>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421" name="Google Shape;421;g831aa77a85_0_106"/>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g831aa77a85_0_106"/>
          <p:cNvSpPr/>
          <p:nvPr/>
        </p:nvSpPr>
        <p:spPr>
          <a:xfrm>
            <a:off x="1365157"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g831aa77a85_0_106"/>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g831aa77a85_0_106"/>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g831aa77a85_0_106"/>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426" name="Google Shape;426;g831aa77a85_0_106"/>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427" name="Google Shape;427;g831aa77a85_0_106"/>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428" name="Google Shape;428;g831aa77a85_0_106"/>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429" name="Google Shape;429;g831aa77a85_0_106"/>
          <p:cNvGrpSpPr/>
          <p:nvPr/>
        </p:nvGrpSpPr>
        <p:grpSpPr>
          <a:xfrm>
            <a:off x="582066" y="4477985"/>
            <a:ext cx="244241" cy="263244"/>
            <a:chOff x="5027525" y="4402450"/>
            <a:chExt cx="477500" cy="496875"/>
          </a:xfrm>
        </p:grpSpPr>
        <p:sp>
          <p:nvSpPr>
            <p:cNvPr id="430" name="Google Shape;430;g831aa77a85_0_106"/>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g831aa77a85_0_106"/>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g831aa77a85_0_106"/>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3" name="Google Shape;433;g831aa77a85_0_106"/>
          <p:cNvGrpSpPr/>
          <p:nvPr/>
        </p:nvGrpSpPr>
        <p:grpSpPr>
          <a:xfrm>
            <a:off x="2245632" y="4506289"/>
            <a:ext cx="258228" cy="227366"/>
            <a:chOff x="3539102" y="2427549"/>
            <a:chExt cx="355099" cy="355481"/>
          </a:xfrm>
        </p:grpSpPr>
        <p:sp>
          <p:nvSpPr>
            <p:cNvPr id="434" name="Google Shape;434;g831aa77a85_0_106"/>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g831aa77a85_0_106"/>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436" name="Google Shape;436;g831aa77a85_0_106"/>
          <p:cNvPicPr preferRelativeResize="0"/>
          <p:nvPr/>
        </p:nvPicPr>
        <p:blipFill>
          <a:blip r:embed="rId3">
            <a:alphaModFix/>
          </a:blip>
          <a:stretch>
            <a:fillRect/>
          </a:stretch>
        </p:blipFill>
        <p:spPr>
          <a:xfrm>
            <a:off x="3009546" y="4492026"/>
            <a:ext cx="258200" cy="255438"/>
          </a:xfrm>
          <a:prstGeom prst="rect">
            <a:avLst/>
          </a:prstGeom>
          <a:noFill/>
          <a:ln>
            <a:noFill/>
          </a:ln>
        </p:spPr>
      </p:pic>
      <p:pic>
        <p:nvPicPr>
          <p:cNvPr id="437" name="Google Shape;437;g831aa77a85_0_106"/>
          <p:cNvPicPr preferRelativeResize="0"/>
          <p:nvPr/>
        </p:nvPicPr>
        <p:blipFill>
          <a:blip r:embed="rId4">
            <a:alphaModFix/>
          </a:blip>
          <a:stretch>
            <a:fillRect/>
          </a:stretch>
        </p:blipFill>
        <p:spPr>
          <a:xfrm>
            <a:off x="1424264" y="4498930"/>
            <a:ext cx="303032" cy="241644"/>
          </a:xfrm>
          <a:prstGeom prst="rect">
            <a:avLst/>
          </a:prstGeom>
          <a:noFill/>
          <a:ln>
            <a:noFill/>
          </a:ln>
        </p:spPr>
      </p:pic>
      <p:sp>
        <p:nvSpPr>
          <p:cNvPr id="438" name="Google Shape;438;g831aa77a85_0_106"/>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2200"/>
              <a:t>CLUSTERING ALGORITHM SEPARATED DRUGS BY PAYER </a:t>
            </a:r>
            <a:endParaRPr sz="2200"/>
          </a:p>
        </p:txBody>
      </p:sp>
      <p:cxnSp>
        <p:nvCxnSpPr>
          <p:cNvPr id="439" name="Google Shape;439;g831aa77a85_0_106"/>
          <p:cNvCxnSpPr/>
          <p:nvPr/>
        </p:nvCxnSpPr>
        <p:spPr>
          <a:xfrm flipH="1" rot="10800000">
            <a:off x="410700" y="806550"/>
            <a:ext cx="8284500" cy="59400"/>
          </a:xfrm>
          <a:prstGeom prst="straightConnector1">
            <a:avLst/>
          </a:prstGeom>
          <a:noFill/>
          <a:ln cap="flat" cmpd="sng" w="19050">
            <a:solidFill>
              <a:schemeClr val="accent3"/>
            </a:solidFill>
            <a:prstDash val="solid"/>
            <a:round/>
            <a:headEnd len="sm" w="sm" type="none"/>
            <a:tailEnd len="sm" w="sm" type="none"/>
          </a:ln>
        </p:spPr>
      </p:cxnSp>
      <p:graphicFrame>
        <p:nvGraphicFramePr>
          <p:cNvPr id="440" name="Google Shape;440;g831aa77a85_0_106"/>
          <p:cNvGraphicFramePr/>
          <p:nvPr/>
        </p:nvGraphicFramePr>
        <p:xfrm>
          <a:off x="410700" y="1123870"/>
          <a:ext cx="3000000" cy="3000000"/>
        </p:xfrm>
        <a:graphic>
          <a:graphicData uri="http://schemas.openxmlformats.org/drawingml/2006/table">
            <a:tbl>
              <a:tblPr bandRow="1" firstRow="1">
                <a:noFill/>
                <a:tableStyleId>{F1D6D5C5-111E-48B5-814E-87AFD66F32DF}</a:tableStyleId>
              </a:tblPr>
              <a:tblGrid>
                <a:gridCol w="3074100"/>
              </a:tblGrid>
              <a:tr h="769175">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ATTRIBUTES CONSIDERED</a:t>
                      </a:r>
                      <a:endParaRPr sz="1400" u="none" cap="none" strike="noStrike"/>
                    </a:p>
                  </a:txBody>
                  <a:tcPr marT="45725" marB="45725" marR="91450" marL="91450" anchor="ctr">
                    <a:solidFill>
                      <a:schemeClr val="accent5"/>
                    </a:solidFill>
                  </a:tcPr>
                </a:tc>
              </a:tr>
              <a:tr h="531650">
                <a:tc>
                  <a:txBody>
                    <a:bodyPr/>
                    <a:lstStyle/>
                    <a:p>
                      <a:pPr indent="0" lvl="0" marL="0" rtl="0" algn="ctr">
                        <a:spcBef>
                          <a:spcPts val="0"/>
                        </a:spcBef>
                        <a:spcAft>
                          <a:spcPts val="0"/>
                        </a:spcAft>
                        <a:buClr>
                          <a:schemeClr val="dk1"/>
                        </a:buClr>
                        <a:buSzPts val="1200"/>
                        <a:buFont typeface="Arial"/>
                        <a:buNone/>
                      </a:pPr>
                      <a:r>
                        <a:rPr lang="en"/>
                        <a:t>Drug Payer</a:t>
                      </a:r>
                      <a:endParaRPr u="none" cap="none" strike="noStrike"/>
                    </a:p>
                  </a:txBody>
                  <a:tcPr marT="9525" marB="0" marR="9525" marL="9525" anchor="ctr"/>
                </a:tc>
              </a:tr>
              <a:tr h="531650">
                <a:tc>
                  <a:txBody>
                    <a:bodyPr/>
                    <a:lstStyle/>
                    <a:p>
                      <a:pPr indent="0" lvl="0" marL="0" marR="0" rtl="0" algn="ctr">
                        <a:lnSpc>
                          <a:spcPct val="100000"/>
                        </a:lnSpc>
                        <a:spcBef>
                          <a:spcPts val="0"/>
                        </a:spcBef>
                        <a:spcAft>
                          <a:spcPts val="0"/>
                        </a:spcAft>
                        <a:buClr>
                          <a:srgbClr val="000000"/>
                        </a:buClr>
                        <a:buSzPts val="1200"/>
                        <a:buFont typeface="Arial"/>
                        <a:buNone/>
                      </a:pPr>
                      <a:r>
                        <a:rPr lang="en"/>
                        <a:t>Gender Distribution</a:t>
                      </a:r>
                      <a:endParaRPr sz="1400" u="none" cap="none" strike="noStrike"/>
                    </a:p>
                  </a:txBody>
                  <a:tcPr marT="9525" marB="0" marR="9525" marL="9525" anchor="ctr"/>
                </a:tc>
              </a:tr>
              <a:tr h="531650">
                <a:tc>
                  <a:txBody>
                    <a:bodyPr/>
                    <a:lstStyle/>
                    <a:p>
                      <a:pPr indent="0" lvl="0" marL="0" rtl="0" algn="ctr">
                        <a:spcBef>
                          <a:spcPts val="0"/>
                        </a:spcBef>
                        <a:spcAft>
                          <a:spcPts val="0"/>
                        </a:spcAft>
                        <a:buNone/>
                      </a:pPr>
                      <a:r>
                        <a:rPr lang="en"/>
                        <a:t>Age Distribution </a:t>
                      </a:r>
                      <a:endParaRPr/>
                    </a:p>
                  </a:txBody>
                  <a:tcPr marT="9525" marB="0" marR="9525" marL="9525" anchor="ctr"/>
                </a:tc>
              </a:tr>
              <a:tr h="531650">
                <a:tc>
                  <a:txBody>
                    <a:bodyPr/>
                    <a:lstStyle/>
                    <a:p>
                      <a:pPr indent="0" lvl="0" marL="0" marR="0" rtl="0" algn="ctr">
                        <a:lnSpc>
                          <a:spcPct val="100000"/>
                        </a:lnSpc>
                        <a:spcBef>
                          <a:spcPts val="0"/>
                        </a:spcBef>
                        <a:spcAft>
                          <a:spcPts val="0"/>
                        </a:spcAft>
                        <a:buClr>
                          <a:srgbClr val="000000"/>
                        </a:buClr>
                        <a:buSzPts val="1200"/>
                        <a:buFont typeface="Arial"/>
                        <a:buNone/>
                      </a:pPr>
                      <a:r>
                        <a:rPr lang="en"/>
                        <a:t>Area Distribution</a:t>
                      </a:r>
                      <a:endParaRPr sz="1400" u="none" cap="none" strike="noStrike"/>
                    </a:p>
                  </a:txBody>
                  <a:tcPr marT="9525" marB="0" marR="9525" marL="9525" anchor="ctr"/>
                </a:tc>
              </a:tr>
            </a:tbl>
          </a:graphicData>
        </a:graphic>
      </p:graphicFrame>
      <p:sp>
        <p:nvSpPr>
          <p:cNvPr id="441" name="Google Shape;441;g831aa77a85_0_106"/>
          <p:cNvSpPr/>
          <p:nvPr/>
        </p:nvSpPr>
        <p:spPr>
          <a:xfrm>
            <a:off x="5207150" y="1081300"/>
            <a:ext cx="1207200" cy="972900"/>
          </a:xfrm>
          <a:prstGeom prst="hexagon">
            <a:avLst>
              <a:gd fmla="val 25000" name="adj"/>
              <a:gd fmla="val 115470" name="vf"/>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Cluster 1</a:t>
            </a:r>
            <a:endParaRPr sz="1200">
              <a:solidFill>
                <a:srgbClr val="FFFFFF"/>
              </a:solidFill>
            </a:endParaRPr>
          </a:p>
          <a:p>
            <a:pPr indent="0" lvl="0" marL="0" rtl="0" algn="ctr">
              <a:spcBef>
                <a:spcPts val="0"/>
              </a:spcBef>
              <a:spcAft>
                <a:spcPts val="0"/>
              </a:spcAft>
              <a:buNone/>
            </a:pPr>
            <a:r>
              <a:rPr lang="en" sz="900">
                <a:solidFill>
                  <a:srgbClr val="FFFFFF"/>
                </a:solidFill>
              </a:rPr>
              <a:t>(104 Types)</a:t>
            </a:r>
            <a:endParaRPr sz="900">
              <a:solidFill>
                <a:srgbClr val="FFFFFF"/>
              </a:solidFill>
            </a:endParaRPr>
          </a:p>
        </p:txBody>
      </p:sp>
      <p:sp>
        <p:nvSpPr>
          <p:cNvPr id="442" name="Google Shape;442;g831aa77a85_0_106"/>
          <p:cNvSpPr txBox="1"/>
          <p:nvPr/>
        </p:nvSpPr>
        <p:spPr>
          <a:xfrm>
            <a:off x="6703750" y="1326275"/>
            <a:ext cx="2319300" cy="60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100 % drugs belong to </a:t>
            </a:r>
            <a:r>
              <a:rPr b="1" lang="en">
                <a:latin typeface="Montserrat"/>
                <a:ea typeface="Montserrat"/>
                <a:cs typeface="Montserrat"/>
                <a:sym typeface="Montserrat"/>
              </a:rPr>
              <a:t>Commercial</a:t>
            </a:r>
            <a:r>
              <a:rPr b="1" lang="en">
                <a:latin typeface="Montserrat"/>
                <a:ea typeface="Montserrat"/>
                <a:cs typeface="Montserrat"/>
                <a:sym typeface="Montserrat"/>
              </a:rPr>
              <a:t> </a:t>
            </a:r>
            <a:endParaRPr b="1">
              <a:latin typeface="Montserrat"/>
              <a:ea typeface="Montserrat"/>
              <a:cs typeface="Montserrat"/>
              <a:sym typeface="Montserrat"/>
            </a:endParaRPr>
          </a:p>
        </p:txBody>
      </p:sp>
      <p:sp>
        <p:nvSpPr>
          <p:cNvPr id="443" name="Google Shape;443;g831aa77a85_0_106"/>
          <p:cNvSpPr txBox="1"/>
          <p:nvPr/>
        </p:nvSpPr>
        <p:spPr>
          <a:xfrm>
            <a:off x="6758325" y="2398425"/>
            <a:ext cx="2150100" cy="60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100 % drugs belong </a:t>
            </a:r>
            <a:r>
              <a:rPr lang="en">
                <a:latin typeface="Montserrat"/>
                <a:ea typeface="Montserrat"/>
                <a:cs typeface="Montserrat"/>
                <a:sym typeface="Montserrat"/>
              </a:rPr>
              <a:t>to</a:t>
            </a:r>
            <a:r>
              <a:rPr b="1" lang="en">
                <a:latin typeface="Montserrat"/>
                <a:ea typeface="Montserrat"/>
                <a:cs typeface="Montserrat"/>
                <a:sym typeface="Montserrat"/>
              </a:rPr>
              <a:t> Medicare </a:t>
            </a:r>
            <a:endParaRPr b="1">
              <a:latin typeface="Montserrat"/>
              <a:ea typeface="Montserrat"/>
              <a:cs typeface="Montserrat"/>
              <a:sym typeface="Montserrat"/>
            </a:endParaRPr>
          </a:p>
        </p:txBody>
      </p:sp>
      <p:sp>
        <p:nvSpPr>
          <p:cNvPr id="444" name="Google Shape;444;g831aa77a85_0_106"/>
          <p:cNvSpPr txBox="1"/>
          <p:nvPr/>
        </p:nvSpPr>
        <p:spPr>
          <a:xfrm>
            <a:off x="6761050" y="3416000"/>
            <a:ext cx="2204700" cy="60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100 % drugs belong to </a:t>
            </a:r>
            <a:r>
              <a:rPr b="1" lang="en">
                <a:latin typeface="Montserrat"/>
                <a:ea typeface="Montserrat"/>
                <a:cs typeface="Montserrat"/>
                <a:sym typeface="Montserrat"/>
              </a:rPr>
              <a:t>Minnesota Health Care Program</a:t>
            </a:r>
            <a:endParaRPr b="1">
              <a:latin typeface="Montserrat"/>
              <a:ea typeface="Montserrat"/>
              <a:cs typeface="Montserrat"/>
              <a:sym typeface="Montserrat"/>
            </a:endParaRPr>
          </a:p>
        </p:txBody>
      </p:sp>
      <p:sp>
        <p:nvSpPr>
          <p:cNvPr id="445" name="Google Shape;445;g831aa77a85_0_106"/>
          <p:cNvSpPr/>
          <p:nvPr/>
        </p:nvSpPr>
        <p:spPr>
          <a:xfrm>
            <a:off x="3800275" y="2326188"/>
            <a:ext cx="1091400" cy="4911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g831aa77a85_0_106"/>
          <p:cNvSpPr/>
          <p:nvPr/>
        </p:nvSpPr>
        <p:spPr>
          <a:xfrm>
            <a:off x="5207150" y="2261738"/>
            <a:ext cx="1207200" cy="972900"/>
          </a:xfrm>
          <a:prstGeom prst="hexagon">
            <a:avLst>
              <a:gd fmla="val 25000" name="adj"/>
              <a:gd fmla="val 115470" name="vf"/>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Cluster 2</a:t>
            </a:r>
            <a:endParaRPr sz="1200">
              <a:solidFill>
                <a:srgbClr val="FFFFFF"/>
              </a:solidFill>
            </a:endParaRPr>
          </a:p>
          <a:p>
            <a:pPr indent="0" lvl="0" marL="0" rtl="0" algn="ctr">
              <a:spcBef>
                <a:spcPts val="0"/>
              </a:spcBef>
              <a:spcAft>
                <a:spcPts val="0"/>
              </a:spcAft>
              <a:buNone/>
            </a:pPr>
            <a:r>
              <a:rPr lang="en" sz="900">
                <a:solidFill>
                  <a:srgbClr val="FFFFFF"/>
                </a:solidFill>
              </a:rPr>
              <a:t>(106 Types)</a:t>
            </a:r>
            <a:endParaRPr sz="900">
              <a:solidFill>
                <a:srgbClr val="FFFFFF"/>
              </a:solidFill>
            </a:endParaRPr>
          </a:p>
        </p:txBody>
      </p:sp>
      <p:sp>
        <p:nvSpPr>
          <p:cNvPr id="447" name="Google Shape;447;g831aa77a85_0_106"/>
          <p:cNvSpPr/>
          <p:nvPr/>
        </p:nvSpPr>
        <p:spPr>
          <a:xfrm>
            <a:off x="5207150" y="3404188"/>
            <a:ext cx="1207200" cy="972900"/>
          </a:xfrm>
          <a:prstGeom prst="hexagon">
            <a:avLst>
              <a:gd fmla="val 25000" name="adj"/>
              <a:gd fmla="val 115470" name="vf"/>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FFFFFF"/>
                </a:solidFill>
              </a:rPr>
              <a:t>Cluster 3</a:t>
            </a:r>
            <a:endParaRPr sz="1200">
              <a:solidFill>
                <a:srgbClr val="FFFFFF"/>
              </a:solidFill>
            </a:endParaRPr>
          </a:p>
          <a:p>
            <a:pPr indent="0" lvl="0" marL="0" rtl="0" algn="ctr">
              <a:spcBef>
                <a:spcPts val="0"/>
              </a:spcBef>
              <a:spcAft>
                <a:spcPts val="0"/>
              </a:spcAft>
              <a:buNone/>
            </a:pPr>
            <a:r>
              <a:rPr lang="en" sz="900">
                <a:solidFill>
                  <a:srgbClr val="FFFFFF"/>
                </a:solidFill>
              </a:rPr>
              <a:t>(72 Types)</a:t>
            </a:r>
            <a:endParaRPr sz="900">
              <a:solidFill>
                <a:srgbClr val="FFFFFF"/>
              </a:solidFill>
            </a:endParaRPr>
          </a:p>
        </p:txBody>
      </p:sp>
      <p:sp>
        <p:nvSpPr>
          <p:cNvPr id="448" name="Google Shape;448;g831aa77a85_0_106"/>
          <p:cNvSpPr txBox="1"/>
          <p:nvPr/>
        </p:nvSpPr>
        <p:spPr>
          <a:xfrm>
            <a:off x="3650975" y="1926575"/>
            <a:ext cx="1611000" cy="3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52" name="Shape 452"/>
        <p:cNvGrpSpPr/>
        <p:nvPr/>
      </p:nvGrpSpPr>
      <p:grpSpPr>
        <a:xfrm>
          <a:off x="0" y="0"/>
          <a:ext cx="0" cy="0"/>
          <a:chOff x="0" y="0"/>
          <a:chExt cx="0" cy="0"/>
        </a:xfrm>
      </p:grpSpPr>
      <p:pic>
        <p:nvPicPr>
          <p:cNvPr id="453" name="Google Shape;453;g82eb9f9b71_1_1044"/>
          <p:cNvPicPr preferRelativeResize="0"/>
          <p:nvPr/>
        </p:nvPicPr>
        <p:blipFill>
          <a:blip r:embed="rId3">
            <a:alphaModFix/>
          </a:blip>
          <a:stretch>
            <a:fillRect/>
          </a:stretch>
        </p:blipFill>
        <p:spPr>
          <a:xfrm>
            <a:off x="4861025" y="1308975"/>
            <a:ext cx="3870051" cy="3215199"/>
          </a:xfrm>
          <a:prstGeom prst="rect">
            <a:avLst/>
          </a:prstGeom>
          <a:noFill/>
          <a:ln>
            <a:noFill/>
          </a:ln>
        </p:spPr>
      </p:pic>
      <p:pic>
        <p:nvPicPr>
          <p:cNvPr id="454" name="Google Shape;454;g82eb9f9b71_1_1044"/>
          <p:cNvPicPr preferRelativeResize="0"/>
          <p:nvPr/>
        </p:nvPicPr>
        <p:blipFill>
          <a:blip r:embed="rId4">
            <a:alphaModFix/>
          </a:blip>
          <a:stretch>
            <a:fillRect/>
          </a:stretch>
        </p:blipFill>
        <p:spPr>
          <a:xfrm>
            <a:off x="4861025" y="1308975"/>
            <a:ext cx="3835757" cy="3215200"/>
          </a:xfrm>
          <a:prstGeom prst="rect">
            <a:avLst/>
          </a:prstGeom>
          <a:noFill/>
          <a:ln>
            <a:noFill/>
          </a:ln>
        </p:spPr>
      </p:pic>
      <p:sp>
        <p:nvSpPr>
          <p:cNvPr id="455" name="Google Shape;455;g82eb9f9b71_1_104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g82eb9f9b71_1_1044"/>
          <p:cNvSpPr txBox="1"/>
          <p:nvPr>
            <p:ph idx="4294967295" type="body"/>
          </p:nvPr>
        </p:nvSpPr>
        <p:spPr>
          <a:xfrm>
            <a:off x="509525" y="1308981"/>
            <a:ext cx="3929100" cy="2957400"/>
          </a:xfrm>
          <a:prstGeom prst="rect">
            <a:avLst/>
          </a:prstGeom>
          <a:noFill/>
          <a:ln>
            <a:noFill/>
          </a:ln>
        </p:spPr>
        <p:txBody>
          <a:bodyPr anchorCtr="0" anchor="t" bIns="91425" lIns="91425" spcFirstLastPara="1" rIns="91425" wrap="square" tIns="91425">
            <a:noAutofit/>
          </a:bodyPr>
          <a:lstStyle/>
          <a:p>
            <a:pPr indent="-273050" lvl="0" marL="285750" rtl="0" algn="l">
              <a:lnSpc>
                <a:spcPct val="115000"/>
              </a:lnSpc>
              <a:spcBef>
                <a:spcPts val="0"/>
              </a:spcBef>
              <a:spcAft>
                <a:spcPts val="0"/>
              </a:spcAft>
              <a:buClr>
                <a:srgbClr val="000000"/>
              </a:buClr>
              <a:buSzPts val="1600"/>
              <a:buFont typeface="Arial"/>
              <a:buChar char="●"/>
            </a:pPr>
            <a:r>
              <a:rPr lang="en" sz="1600"/>
              <a:t>In </a:t>
            </a:r>
            <a:r>
              <a:rPr b="1" lang="en" sz="1600"/>
              <a:t>2012</a:t>
            </a:r>
            <a:r>
              <a:rPr lang="en" sz="1600"/>
              <a:t>, the majority of cardiovascular prescriptions were given to the age group </a:t>
            </a:r>
            <a:r>
              <a:rPr b="1" lang="en" sz="1600"/>
              <a:t>45-65</a:t>
            </a:r>
            <a:endParaRPr b="1" sz="1600"/>
          </a:p>
          <a:p>
            <a:pPr indent="0" lvl="0" marL="0" rtl="0" algn="l">
              <a:lnSpc>
                <a:spcPct val="115000"/>
              </a:lnSpc>
              <a:spcBef>
                <a:spcPts val="0"/>
              </a:spcBef>
              <a:spcAft>
                <a:spcPts val="0"/>
              </a:spcAft>
              <a:buNone/>
            </a:pPr>
            <a:r>
              <a:t/>
            </a:r>
            <a:endParaRPr sz="1600"/>
          </a:p>
          <a:p>
            <a:pPr indent="-273050" lvl="0" marL="285750" rtl="0" algn="l">
              <a:lnSpc>
                <a:spcPct val="115000"/>
              </a:lnSpc>
              <a:spcBef>
                <a:spcPts val="0"/>
              </a:spcBef>
              <a:spcAft>
                <a:spcPts val="0"/>
              </a:spcAft>
              <a:buClr>
                <a:srgbClr val="000000"/>
              </a:buClr>
              <a:buSzPts val="1600"/>
              <a:buFont typeface="Arial"/>
              <a:buChar char="●"/>
            </a:pPr>
            <a:r>
              <a:rPr lang="en" sz="1600"/>
              <a:t>In </a:t>
            </a:r>
            <a:r>
              <a:rPr b="1" lang="en" sz="1600"/>
              <a:t>2016</a:t>
            </a:r>
            <a:r>
              <a:rPr lang="en" sz="1600"/>
              <a:t>, </a:t>
            </a:r>
            <a:r>
              <a:rPr b="1" lang="en" sz="1600"/>
              <a:t>65+</a:t>
            </a:r>
            <a:r>
              <a:rPr lang="en" sz="1600"/>
              <a:t> makes up the majority of prescriptions</a:t>
            </a:r>
            <a:endParaRPr sz="1600"/>
          </a:p>
          <a:p>
            <a:pPr indent="0" lvl="0" marL="457200" rtl="0" algn="l">
              <a:lnSpc>
                <a:spcPct val="115000"/>
              </a:lnSpc>
              <a:spcBef>
                <a:spcPts val="0"/>
              </a:spcBef>
              <a:spcAft>
                <a:spcPts val="0"/>
              </a:spcAft>
              <a:buNone/>
            </a:pPr>
            <a:r>
              <a:t/>
            </a:r>
            <a:endParaRPr sz="1600"/>
          </a:p>
          <a:p>
            <a:pPr indent="-273050" lvl="0" marL="285750" rtl="0" algn="l">
              <a:lnSpc>
                <a:spcPct val="115000"/>
              </a:lnSpc>
              <a:spcBef>
                <a:spcPts val="0"/>
              </a:spcBef>
              <a:spcAft>
                <a:spcPts val="0"/>
              </a:spcAft>
              <a:buClr>
                <a:srgbClr val="000000"/>
              </a:buClr>
              <a:buSzPts val="1600"/>
              <a:buFont typeface="Arial"/>
              <a:buChar char="●"/>
            </a:pPr>
            <a:r>
              <a:rPr b="1" lang="en" sz="1600"/>
              <a:t>Both</a:t>
            </a:r>
            <a:r>
              <a:rPr lang="en" sz="1600"/>
              <a:t> groups are s</a:t>
            </a:r>
            <a:r>
              <a:rPr lang="en" sz="1600"/>
              <a:t>ignificantly </a:t>
            </a:r>
            <a:r>
              <a:rPr lang="en" sz="1600"/>
              <a:t>higher than the younger patient groups </a:t>
            </a:r>
            <a:endParaRPr sz="1600"/>
          </a:p>
        </p:txBody>
      </p:sp>
      <p:sp>
        <p:nvSpPr>
          <p:cNvPr id="457" name="Google Shape;457;g82eb9f9b71_1_1044"/>
          <p:cNvSpPr txBox="1"/>
          <p:nvPr>
            <p:ph type="title"/>
          </p:nvPr>
        </p:nvSpPr>
        <p:spPr>
          <a:xfrm>
            <a:off x="361050" y="383575"/>
            <a:ext cx="8815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200"/>
              <a:t>OLDER PATIENTS RECEIVE THE MOST CARDIOVASCULAR AGENT PRESCRIPTIONS</a:t>
            </a:r>
            <a:endParaRPr sz="2200"/>
          </a:p>
        </p:txBody>
      </p:sp>
      <p:cxnSp>
        <p:nvCxnSpPr>
          <p:cNvPr id="458" name="Google Shape;458;g82eb9f9b71_1_1044"/>
          <p:cNvCxnSpPr/>
          <p:nvPr/>
        </p:nvCxnSpPr>
        <p:spPr>
          <a:xfrm>
            <a:off x="474725" y="1142263"/>
            <a:ext cx="3558000" cy="3900"/>
          </a:xfrm>
          <a:prstGeom prst="straightConnector1">
            <a:avLst/>
          </a:prstGeom>
          <a:noFill/>
          <a:ln cap="flat" cmpd="sng" w="19050">
            <a:solidFill>
              <a:schemeClr val="accent3"/>
            </a:solidFill>
            <a:prstDash val="solid"/>
            <a:round/>
            <a:headEnd len="sm" w="sm" type="none"/>
            <a:tailEnd len="sm" w="sm" type="none"/>
          </a:ln>
        </p:spPr>
      </p:cxnSp>
      <p:cxnSp>
        <p:nvCxnSpPr>
          <p:cNvPr id="459" name="Google Shape;459;g82eb9f9b71_1_1044"/>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460" name="Google Shape;460;g82eb9f9b71_1_1044"/>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g82eb9f9b71_1_1044"/>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g82eb9f9b71_1_1044"/>
          <p:cNvSpPr/>
          <p:nvPr/>
        </p:nvSpPr>
        <p:spPr>
          <a:xfrm>
            <a:off x="2171421"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g82eb9f9b71_1_1044"/>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g82eb9f9b71_1_1044"/>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465" name="Google Shape;465;g82eb9f9b71_1_1044"/>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466" name="Google Shape;466;g82eb9f9b71_1_1044"/>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467" name="Google Shape;467;g82eb9f9b71_1_1044"/>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468" name="Google Shape;468;g82eb9f9b71_1_1044"/>
          <p:cNvGrpSpPr/>
          <p:nvPr/>
        </p:nvGrpSpPr>
        <p:grpSpPr>
          <a:xfrm>
            <a:off x="582066" y="4477985"/>
            <a:ext cx="244241" cy="263244"/>
            <a:chOff x="5027525" y="4402450"/>
            <a:chExt cx="477500" cy="496875"/>
          </a:xfrm>
        </p:grpSpPr>
        <p:sp>
          <p:nvSpPr>
            <p:cNvPr id="469" name="Google Shape;469;g82eb9f9b71_1_1044"/>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g82eb9f9b71_1_1044"/>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g82eb9f9b71_1_1044"/>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2" name="Google Shape;472;g82eb9f9b71_1_1044"/>
          <p:cNvGrpSpPr/>
          <p:nvPr/>
        </p:nvGrpSpPr>
        <p:grpSpPr>
          <a:xfrm>
            <a:off x="2245632" y="4506289"/>
            <a:ext cx="258228" cy="227366"/>
            <a:chOff x="3539102" y="2427549"/>
            <a:chExt cx="355099" cy="355481"/>
          </a:xfrm>
        </p:grpSpPr>
        <p:sp>
          <p:nvSpPr>
            <p:cNvPr id="473" name="Google Shape;473;g82eb9f9b71_1_1044"/>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g82eb9f9b71_1_1044"/>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475" name="Google Shape;475;g82eb9f9b71_1_1044"/>
          <p:cNvPicPr preferRelativeResize="0"/>
          <p:nvPr/>
        </p:nvPicPr>
        <p:blipFill>
          <a:blip r:embed="rId5">
            <a:alphaModFix/>
          </a:blip>
          <a:stretch>
            <a:fillRect/>
          </a:stretch>
        </p:blipFill>
        <p:spPr>
          <a:xfrm>
            <a:off x="3009546" y="4492026"/>
            <a:ext cx="258200" cy="255438"/>
          </a:xfrm>
          <a:prstGeom prst="rect">
            <a:avLst/>
          </a:prstGeom>
          <a:noFill/>
          <a:ln>
            <a:noFill/>
          </a:ln>
        </p:spPr>
      </p:pic>
      <p:pic>
        <p:nvPicPr>
          <p:cNvPr id="476" name="Google Shape;476;g82eb9f9b71_1_1044"/>
          <p:cNvPicPr preferRelativeResize="0"/>
          <p:nvPr/>
        </p:nvPicPr>
        <p:blipFill>
          <a:blip r:embed="rId6">
            <a:alphaModFix/>
          </a:blip>
          <a:stretch>
            <a:fillRect/>
          </a:stretch>
        </p:blipFill>
        <p:spPr>
          <a:xfrm>
            <a:off x="1424264" y="4498930"/>
            <a:ext cx="303032" cy="24164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80" name="Shape 480"/>
        <p:cNvGrpSpPr/>
        <p:nvPr/>
      </p:nvGrpSpPr>
      <p:grpSpPr>
        <a:xfrm>
          <a:off x="0" y="0"/>
          <a:ext cx="0" cy="0"/>
          <a:chOff x="0" y="0"/>
          <a:chExt cx="0" cy="0"/>
        </a:xfrm>
      </p:grpSpPr>
      <p:pic>
        <p:nvPicPr>
          <p:cNvPr id="481" name="Google Shape;481;g830c98ff86_3_13"/>
          <p:cNvPicPr preferRelativeResize="0"/>
          <p:nvPr/>
        </p:nvPicPr>
        <p:blipFill>
          <a:blip r:embed="rId3">
            <a:alphaModFix/>
          </a:blip>
          <a:stretch>
            <a:fillRect/>
          </a:stretch>
        </p:blipFill>
        <p:spPr>
          <a:xfrm>
            <a:off x="5066351" y="1364700"/>
            <a:ext cx="3720511" cy="3117499"/>
          </a:xfrm>
          <a:prstGeom prst="rect">
            <a:avLst/>
          </a:prstGeom>
          <a:noFill/>
          <a:ln>
            <a:noFill/>
          </a:ln>
        </p:spPr>
      </p:pic>
      <p:pic>
        <p:nvPicPr>
          <p:cNvPr id="482" name="Google Shape;482;g830c98ff86_3_13"/>
          <p:cNvPicPr preferRelativeResize="0"/>
          <p:nvPr/>
        </p:nvPicPr>
        <p:blipFill>
          <a:blip r:embed="rId4">
            <a:alphaModFix/>
          </a:blip>
          <a:stretch>
            <a:fillRect/>
          </a:stretch>
        </p:blipFill>
        <p:spPr>
          <a:xfrm>
            <a:off x="5070275" y="1368013"/>
            <a:ext cx="3712660" cy="3117500"/>
          </a:xfrm>
          <a:prstGeom prst="rect">
            <a:avLst/>
          </a:prstGeom>
          <a:noFill/>
          <a:ln>
            <a:noFill/>
          </a:ln>
        </p:spPr>
      </p:pic>
      <p:sp>
        <p:nvSpPr>
          <p:cNvPr id="483" name="Google Shape;483;g830c98ff86_3_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4" name="Google Shape;484;g830c98ff86_3_13"/>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200"/>
              <a:t>MEDICARE AND COMMERCIAL INSURANCE PROVIDE THE MAJORITY OF COVERAGE FOR THESE AGE GROUPS</a:t>
            </a:r>
            <a:endParaRPr sz="2200"/>
          </a:p>
        </p:txBody>
      </p:sp>
      <p:cxnSp>
        <p:nvCxnSpPr>
          <p:cNvPr id="485" name="Google Shape;485;g830c98ff86_3_13"/>
          <p:cNvCxnSpPr/>
          <p:nvPr/>
        </p:nvCxnSpPr>
        <p:spPr>
          <a:xfrm>
            <a:off x="433375" y="1129963"/>
            <a:ext cx="8197200" cy="25500"/>
          </a:xfrm>
          <a:prstGeom prst="straightConnector1">
            <a:avLst/>
          </a:prstGeom>
          <a:noFill/>
          <a:ln cap="flat" cmpd="sng" w="19050">
            <a:solidFill>
              <a:schemeClr val="accent3"/>
            </a:solidFill>
            <a:prstDash val="solid"/>
            <a:round/>
            <a:headEnd len="sm" w="sm" type="none"/>
            <a:tailEnd len="sm" w="sm" type="none"/>
          </a:ln>
        </p:spPr>
      </p:cxnSp>
      <p:cxnSp>
        <p:nvCxnSpPr>
          <p:cNvPr id="486" name="Google Shape;486;g830c98ff86_3_13"/>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487" name="Google Shape;487;g830c98ff86_3_13"/>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g830c98ff86_3_13"/>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g830c98ff86_3_13"/>
          <p:cNvSpPr/>
          <p:nvPr/>
        </p:nvSpPr>
        <p:spPr>
          <a:xfrm>
            <a:off x="2171421"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g830c98ff86_3_13"/>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g830c98ff86_3_13"/>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492" name="Google Shape;492;g830c98ff86_3_13"/>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493" name="Google Shape;493;g830c98ff86_3_13"/>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494" name="Google Shape;494;g830c98ff86_3_13"/>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495" name="Google Shape;495;g830c98ff86_3_13"/>
          <p:cNvGrpSpPr/>
          <p:nvPr/>
        </p:nvGrpSpPr>
        <p:grpSpPr>
          <a:xfrm>
            <a:off x="582066" y="4477985"/>
            <a:ext cx="244241" cy="263244"/>
            <a:chOff x="5027525" y="4402450"/>
            <a:chExt cx="477500" cy="496875"/>
          </a:xfrm>
        </p:grpSpPr>
        <p:sp>
          <p:nvSpPr>
            <p:cNvPr id="496" name="Google Shape;496;g830c98ff86_3_13"/>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g830c98ff86_3_13"/>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g830c98ff86_3_13"/>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9" name="Google Shape;499;g830c98ff86_3_13"/>
          <p:cNvGrpSpPr/>
          <p:nvPr/>
        </p:nvGrpSpPr>
        <p:grpSpPr>
          <a:xfrm>
            <a:off x="2245632" y="4506289"/>
            <a:ext cx="258228" cy="227366"/>
            <a:chOff x="3539102" y="2427549"/>
            <a:chExt cx="355099" cy="355481"/>
          </a:xfrm>
        </p:grpSpPr>
        <p:sp>
          <p:nvSpPr>
            <p:cNvPr id="500" name="Google Shape;500;g830c98ff86_3_13"/>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g830c98ff86_3_13"/>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502" name="Google Shape;502;g830c98ff86_3_13"/>
          <p:cNvPicPr preferRelativeResize="0"/>
          <p:nvPr/>
        </p:nvPicPr>
        <p:blipFill>
          <a:blip r:embed="rId5">
            <a:alphaModFix/>
          </a:blip>
          <a:stretch>
            <a:fillRect/>
          </a:stretch>
        </p:blipFill>
        <p:spPr>
          <a:xfrm>
            <a:off x="3009546" y="4492026"/>
            <a:ext cx="258200" cy="255438"/>
          </a:xfrm>
          <a:prstGeom prst="rect">
            <a:avLst/>
          </a:prstGeom>
          <a:noFill/>
          <a:ln>
            <a:noFill/>
          </a:ln>
        </p:spPr>
      </p:pic>
      <p:pic>
        <p:nvPicPr>
          <p:cNvPr id="503" name="Google Shape;503;g830c98ff86_3_13"/>
          <p:cNvPicPr preferRelativeResize="0"/>
          <p:nvPr/>
        </p:nvPicPr>
        <p:blipFill>
          <a:blip r:embed="rId6">
            <a:alphaModFix/>
          </a:blip>
          <a:stretch>
            <a:fillRect/>
          </a:stretch>
        </p:blipFill>
        <p:spPr>
          <a:xfrm>
            <a:off x="1424264" y="4498930"/>
            <a:ext cx="303032" cy="241644"/>
          </a:xfrm>
          <a:prstGeom prst="rect">
            <a:avLst/>
          </a:prstGeom>
          <a:noFill/>
          <a:ln>
            <a:noFill/>
          </a:ln>
        </p:spPr>
      </p:pic>
      <p:sp>
        <p:nvSpPr>
          <p:cNvPr id="504" name="Google Shape;504;g830c98ff86_3_13"/>
          <p:cNvSpPr txBox="1"/>
          <p:nvPr>
            <p:ph idx="4294967295" type="body"/>
          </p:nvPr>
        </p:nvSpPr>
        <p:spPr>
          <a:xfrm>
            <a:off x="509525" y="1461375"/>
            <a:ext cx="4039500" cy="2058000"/>
          </a:xfrm>
          <a:prstGeom prst="rect">
            <a:avLst/>
          </a:prstGeom>
          <a:noFill/>
          <a:ln>
            <a:noFill/>
          </a:ln>
        </p:spPr>
        <p:txBody>
          <a:bodyPr anchorCtr="0" anchor="t" bIns="91425" lIns="91425" spcFirstLastPara="1" rIns="91425" wrap="square" tIns="91425">
            <a:noAutofit/>
          </a:bodyPr>
          <a:lstStyle/>
          <a:p>
            <a:pPr indent="-273050" lvl="0" marL="285750" rtl="0" algn="l">
              <a:lnSpc>
                <a:spcPct val="115000"/>
              </a:lnSpc>
              <a:spcBef>
                <a:spcPts val="0"/>
              </a:spcBef>
              <a:spcAft>
                <a:spcPts val="0"/>
              </a:spcAft>
              <a:buClr>
                <a:srgbClr val="000000"/>
              </a:buClr>
              <a:buSzPts val="1600"/>
              <a:buFont typeface="Arial"/>
              <a:buChar char="●"/>
            </a:pPr>
            <a:r>
              <a:rPr b="1" lang="en" sz="1600"/>
              <a:t>Commercial </a:t>
            </a:r>
            <a:r>
              <a:rPr lang="en" sz="1600"/>
              <a:t>is the primary payer for Patients Age 45-64</a:t>
            </a:r>
            <a:endParaRPr sz="1600"/>
          </a:p>
          <a:p>
            <a:pPr indent="0" lvl="0" marL="457200" rtl="0" algn="l">
              <a:lnSpc>
                <a:spcPct val="115000"/>
              </a:lnSpc>
              <a:spcBef>
                <a:spcPts val="0"/>
              </a:spcBef>
              <a:spcAft>
                <a:spcPts val="0"/>
              </a:spcAft>
              <a:buNone/>
            </a:pPr>
            <a:r>
              <a:t/>
            </a:r>
            <a:endParaRPr sz="1600"/>
          </a:p>
          <a:p>
            <a:pPr indent="-273050" lvl="0" marL="285750" rtl="0" algn="l">
              <a:lnSpc>
                <a:spcPct val="115000"/>
              </a:lnSpc>
              <a:spcBef>
                <a:spcPts val="0"/>
              </a:spcBef>
              <a:spcAft>
                <a:spcPts val="0"/>
              </a:spcAft>
              <a:buClr>
                <a:srgbClr val="000000"/>
              </a:buClr>
              <a:buSzPts val="1600"/>
              <a:buFont typeface="Arial"/>
              <a:buChar char="●"/>
            </a:pPr>
            <a:r>
              <a:rPr b="1" lang="en" sz="1600"/>
              <a:t>Medicare </a:t>
            </a:r>
            <a:r>
              <a:rPr lang="en" sz="1600"/>
              <a:t>is the primary payer for Patients Age 65+</a:t>
            </a:r>
            <a:endParaRPr sz="1600"/>
          </a:p>
          <a:p>
            <a:pPr indent="0" lvl="0" marL="457200" rtl="0" algn="l">
              <a:lnSpc>
                <a:spcPct val="115000"/>
              </a:lnSpc>
              <a:spcBef>
                <a:spcPts val="0"/>
              </a:spcBef>
              <a:spcAft>
                <a:spcPts val="0"/>
              </a:spcAft>
              <a:buNone/>
            </a:pPr>
            <a:r>
              <a:t/>
            </a:r>
            <a:endParaRPr sz="1600"/>
          </a:p>
          <a:p>
            <a:pPr indent="-273050" lvl="0" marL="285750" rtl="0" algn="l">
              <a:lnSpc>
                <a:spcPct val="115000"/>
              </a:lnSpc>
              <a:spcBef>
                <a:spcPts val="0"/>
              </a:spcBef>
              <a:spcAft>
                <a:spcPts val="0"/>
              </a:spcAft>
              <a:buClr>
                <a:srgbClr val="000000"/>
              </a:buClr>
              <a:buSzPts val="1600"/>
              <a:buFont typeface="Arial"/>
              <a:buChar char="●"/>
            </a:pPr>
            <a:r>
              <a:rPr lang="en" sz="1600"/>
              <a:t>Trends are the same for both years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8" name="Shape 508"/>
        <p:cNvGrpSpPr/>
        <p:nvPr/>
      </p:nvGrpSpPr>
      <p:grpSpPr>
        <a:xfrm>
          <a:off x="0" y="0"/>
          <a:ext cx="0" cy="0"/>
          <a:chOff x="0" y="0"/>
          <a:chExt cx="0" cy="0"/>
        </a:xfrm>
      </p:grpSpPr>
      <p:pic>
        <p:nvPicPr>
          <p:cNvPr id="509" name="Google Shape;509;g831aa77a85_0_45"/>
          <p:cNvPicPr preferRelativeResize="0"/>
          <p:nvPr/>
        </p:nvPicPr>
        <p:blipFill>
          <a:blip r:embed="rId3">
            <a:alphaModFix/>
          </a:blip>
          <a:stretch>
            <a:fillRect/>
          </a:stretch>
        </p:blipFill>
        <p:spPr>
          <a:xfrm>
            <a:off x="5572175" y="1108675"/>
            <a:ext cx="3309825" cy="3397625"/>
          </a:xfrm>
          <a:prstGeom prst="rect">
            <a:avLst/>
          </a:prstGeom>
          <a:noFill/>
          <a:ln>
            <a:noFill/>
          </a:ln>
        </p:spPr>
      </p:pic>
      <p:pic>
        <p:nvPicPr>
          <p:cNvPr id="510" name="Google Shape;510;g831aa77a85_0_45"/>
          <p:cNvPicPr preferRelativeResize="0"/>
          <p:nvPr/>
        </p:nvPicPr>
        <p:blipFill>
          <a:blip r:embed="rId4">
            <a:alphaModFix/>
          </a:blip>
          <a:stretch>
            <a:fillRect/>
          </a:stretch>
        </p:blipFill>
        <p:spPr>
          <a:xfrm>
            <a:off x="5541475" y="1108675"/>
            <a:ext cx="3371210" cy="3397625"/>
          </a:xfrm>
          <a:prstGeom prst="rect">
            <a:avLst/>
          </a:prstGeom>
          <a:noFill/>
          <a:ln>
            <a:noFill/>
          </a:ln>
        </p:spPr>
      </p:pic>
      <p:sp>
        <p:nvSpPr>
          <p:cNvPr id="511" name="Google Shape;511;g831aa77a85_0_4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2" name="Google Shape;512;g831aa77a85_0_45"/>
          <p:cNvSpPr txBox="1"/>
          <p:nvPr>
            <p:ph type="title"/>
          </p:nvPr>
        </p:nvSpPr>
        <p:spPr>
          <a:xfrm>
            <a:off x="361050" y="383575"/>
            <a:ext cx="88152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200"/>
              <a:t>ONLY MINNESOTA HEALTH CARE PROGRAMS OFFER ABOVE AVERAGE COVERAGE</a:t>
            </a:r>
            <a:endParaRPr sz="2200"/>
          </a:p>
        </p:txBody>
      </p:sp>
      <p:cxnSp>
        <p:nvCxnSpPr>
          <p:cNvPr id="513" name="Google Shape;513;g831aa77a85_0_45"/>
          <p:cNvCxnSpPr/>
          <p:nvPr/>
        </p:nvCxnSpPr>
        <p:spPr>
          <a:xfrm flipH="1" rot="10800000">
            <a:off x="474725" y="1134463"/>
            <a:ext cx="4251300" cy="7800"/>
          </a:xfrm>
          <a:prstGeom prst="straightConnector1">
            <a:avLst/>
          </a:prstGeom>
          <a:noFill/>
          <a:ln cap="flat" cmpd="sng" w="19050">
            <a:solidFill>
              <a:schemeClr val="accent3"/>
            </a:solidFill>
            <a:prstDash val="solid"/>
            <a:round/>
            <a:headEnd len="sm" w="sm" type="none"/>
            <a:tailEnd len="sm" w="sm" type="none"/>
          </a:ln>
        </p:spPr>
      </p:cxnSp>
      <p:cxnSp>
        <p:nvCxnSpPr>
          <p:cNvPr id="514" name="Google Shape;514;g831aa77a85_0_45"/>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515" name="Google Shape;515;g831aa77a85_0_45"/>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g831aa77a85_0_45"/>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g831aa77a85_0_45"/>
          <p:cNvSpPr/>
          <p:nvPr/>
        </p:nvSpPr>
        <p:spPr>
          <a:xfrm>
            <a:off x="2171421"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g831aa77a85_0_45"/>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g831aa77a85_0_45"/>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520" name="Google Shape;520;g831aa77a85_0_45"/>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521" name="Google Shape;521;g831aa77a85_0_45"/>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522" name="Google Shape;522;g831aa77a85_0_45"/>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523" name="Google Shape;523;g831aa77a85_0_45"/>
          <p:cNvGrpSpPr/>
          <p:nvPr/>
        </p:nvGrpSpPr>
        <p:grpSpPr>
          <a:xfrm>
            <a:off x="582066" y="4477985"/>
            <a:ext cx="244241" cy="263244"/>
            <a:chOff x="5027525" y="4402450"/>
            <a:chExt cx="477500" cy="496875"/>
          </a:xfrm>
        </p:grpSpPr>
        <p:sp>
          <p:nvSpPr>
            <p:cNvPr id="524" name="Google Shape;524;g831aa77a85_0_45"/>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g831aa77a85_0_45"/>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g831aa77a85_0_45"/>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7" name="Google Shape;527;g831aa77a85_0_45"/>
          <p:cNvGrpSpPr/>
          <p:nvPr/>
        </p:nvGrpSpPr>
        <p:grpSpPr>
          <a:xfrm>
            <a:off x="2245632" y="4506289"/>
            <a:ext cx="258228" cy="227366"/>
            <a:chOff x="3539102" y="2427549"/>
            <a:chExt cx="355099" cy="355481"/>
          </a:xfrm>
        </p:grpSpPr>
        <p:sp>
          <p:nvSpPr>
            <p:cNvPr id="528" name="Google Shape;528;g831aa77a85_0_45"/>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g831aa77a85_0_45"/>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530" name="Google Shape;530;g831aa77a85_0_45"/>
          <p:cNvPicPr preferRelativeResize="0"/>
          <p:nvPr/>
        </p:nvPicPr>
        <p:blipFill>
          <a:blip r:embed="rId5">
            <a:alphaModFix/>
          </a:blip>
          <a:stretch>
            <a:fillRect/>
          </a:stretch>
        </p:blipFill>
        <p:spPr>
          <a:xfrm>
            <a:off x="3009546" y="4492026"/>
            <a:ext cx="258200" cy="255438"/>
          </a:xfrm>
          <a:prstGeom prst="rect">
            <a:avLst/>
          </a:prstGeom>
          <a:noFill/>
          <a:ln>
            <a:noFill/>
          </a:ln>
        </p:spPr>
      </p:pic>
      <p:pic>
        <p:nvPicPr>
          <p:cNvPr id="531" name="Google Shape;531;g831aa77a85_0_45"/>
          <p:cNvPicPr preferRelativeResize="0"/>
          <p:nvPr/>
        </p:nvPicPr>
        <p:blipFill>
          <a:blip r:embed="rId6">
            <a:alphaModFix/>
          </a:blip>
          <a:stretch>
            <a:fillRect/>
          </a:stretch>
        </p:blipFill>
        <p:spPr>
          <a:xfrm>
            <a:off x="1424264" y="4498930"/>
            <a:ext cx="303032" cy="241644"/>
          </a:xfrm>
          <a:prstGeom prst="rect">
            <a:avLst/>
          </a:prstGeom>
          <a:noFill/>
          <a:ln>
            <a:noFill/>
          </a:ln>
        </p:spPr>
      </p:pic>
      <p:sp>
        <p:nvSpPr>
          <p:cNvPr id="532" name="Google Shape;532;g831aa77a85_0_45"/>
          <p:cNvSpPr txBox="1"/>
          <p:nvPr>
            <p:ph idx="4294967295" type="body"/>
          </p:nvPr>
        </p:nvSpPr>
        <p:spPr>
          <a:xfrm>
            <a:off x="509525" y="1308975"/>
            <a:ext cx="5009700" cy="2553900"/>
          </a:xfrm>
          <a:prstGeom prst="rect">
            <a:avLst/>
          </a:prstGeom>
          <a:noFill/>
          <a:ln>
            <a:noFill/>
          </a:ln>
        </p:spPr>
        <p:txBody>
          <a:bodyPr anchorCtr="0" anchor="t" bIns="91425" lIns="91425" spcFirstLastPara="1" rIns="91425" wrap="square" tIns="91425">
            <a:noAutofit/>
          </a:bodyPr>
          <a:lstStyle/>
          <a:p>
            <a:pPr indent="-273050" lvl="0" marL="285750" rtl="0" algn="l">
              <a:lnSpc>
                <a:spcPct val="115000"/>
              </a:lnSpc>
              <a:spcBef>
                <a:spcPts val="0"/>
              </a:spcBef>
              <a:spcAft>
                <a:spcPts val="0"/>
              </a:spcAft>
              <a:buClr>
                <a:srgbClr val="000000"/>
              </a:buClr>
              <a:buSzPts val="1600"/>
              <a:buFont typeface="Arial"/>
              <a:buChar char="●"/>
            </a:pPr>
            <a:r>
              <a:rPr lang="en" sz="1600"/>
              <a:t>Average Commercial Coverage: </a:t>
            </a:r>
            <a:r>
              <a:rPr b="1" lang="en" sz="1600"/>
              <a:t>52.82%</a:t>
            </a:r>
            <a:endParaRPr b="1" sz="1600"/>
          </a:p>
          <a:p>
            <a:pPr indent="0" lvl="0" marL="457200" rtl="0" algn="l">
              <a:lnSpc>
                <a:spcPct val="115000"/>
              </a:lnSpc>
              <a:spcBef>
                <a:spcPts val="0"/>
              </a:spcBef>
              <a:spcAft>
                <a:spcPts val="0"/>
              </a:spcAft>
              <a:buNone/>
            </a:pPr>
            <a:r>
              <a:t/>
            </a:r>
            <a:endParaRPr b="1" sz="1600"/>
          </a:p>
          <a:p>
            <a:pPr indent="-273050" lvl="0" marL="285750" rtl="0" algn="l">
              <a:lnSpc>
                <a:spcPct val="115000"/>
              </a:lnSpc>
              <a:spcBef>
                <a:spcPts val="0"/>
              </a:spcBef>
              <a:spcAft>
                <a:spcPts val="0"/>
              </a:spcAft>
              <a:buClr>
                <a:srgbClr val="000000"/>
              </a:buClr>
              <a:buSzPts val="1600"/>
              <a:buFont typeface="Arial"/>
              <a:buChar char="●"/>
            </a:pPr>
            <a:r>
              <a:rPr lang="en" sz="1600"/>
              <a:t>Average Medicare Coverage: </a:t>
            </a:r>
            <a:r>
              <a:rPr b="1" lang="en" sz="1600"/>
              <a:t>61.39%</a:t>
            </a:r>
            <a:endParaRPr b="1" sz="1600"/>
          </a:p>
          <a:p>
            <a:pPr indent="0" lvl="0" marL="457200" rtl="0" algn="l">
              <a:lnSpc>
                <a:spcPct val="115000"/>
              </a:lnSpc>
              <a:spcBef>
                <a:spcPts val="0"/>
              </a:spcBef>
              <a:spcAft>
                <a:spcPts val="0"/>
              </a:spcAft>
              <a:buNone/>
            </a:pPr>
            <a:r>
              <a:t/>
            </a:r>
            <a:endParaRPr b="1" sz="1600"/>
          </a:p>
          <a:p>
            <a:pPr indent="-273050" lvl="0" marL="285750" rtl="0" algn="l">
              <a:lnSpc>
                <a:spcPct val="115000"/>
              </a:lnSpc>
              <a:spcBef>
                <a:spcPts val="0"/>
              </a:spcBef>
              <a:spcAft>
                <a:spcPts val="0"/>
              </a:spcAft>
              <a:buClr>
                <a:srgbClr val="000000"/>
              </a:buClr>
              <a:buSzPts val="1600"/>
              <a:buFont typeface="Arial"/>
              <a:buChar char="●"/>
            </a:pPr>
            <a:r>
              <a:rPr lang="en" sz="1600"/>
              <a:t>Average MCHP Coverage: </a:t>
            </a:r>
            <a:r>
              <a:rPr b="1" lang="en" sz="1600"/>
              <a:t>87.43%</a:t>
            </a:r>
            <a:endParaRPr b="1" sz="1600"/>
          </a:p>
          <a:p>
            <a:pPr indent="0" lvl="0" marL="457200" rtl="0" algn="l">
              <a:lnSpc>
                <a:spcPct val="115000"/>
              </a:lnSpc>
              <a:spcBef>
                <a:spcPts val="0"/>
              </a:spcBef>
              <a:spcAft>
                <a:spcPts val="0"/>
              </a:spcAft>
              <a:buNone/>
            </a:pPr>
            <a:r>
              <a:t/>
            </a:r>
            <a:endParaRPr sz="1600"/>
          </a:p>
          <a:p>
            <a:pPr indent="-273050" lvl="0" marL="285750" rtl="0" algn="l">
              <a:lnSpc>
                <a:spcPct val="115000"/>
              </a:lnSpc>
              <a:spcBef>
                <a:spcPts val="0"/>
              </a:spcBef>
              <a:spcAft>
                <a:spcPts val="0"/>
              </a:spcAft>
              <a:buClr>
                <a:srgbClr val="000000"/>
              </a:buClr>
              <a:buSzPts val="1600"/>
              <a:buFont typeface="Arial"/>
              <a:buChar char="●"/>
            </a:pPr>
            <a:r>
              <a:rPr lang="en" sz="1600"/>
              <a:t>Trends are not significantly different between years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6" name="Shape 536"/>
        <p:cNvGrpSpPr/>
        <p:nvPr/>
      </p:nvGrpSpPr>
      <p:grpSpPr>
        <a:xfrm>
          <a:off x="0" y="0"/>
          <a:ext cx="0" cy="0"/>
          <a:chOff x="0" y="0"/>
          <a:chExt cx="0" cy="0"/>
        </a:xfrm>
      </p:grpSpPr>
      <p:sp>
        <p:nvSpPr>
          <p:cNvPr id="537" name="Google Shape;537;g73268491a6_0_6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8" name="Google Shape;538;g73268491a6_0_63"/>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2200"/>
              <a:t>WE RECOMMEND THAT THE STATE OF MN COVERS A PORTION OF OUT OF POCKET COSTS</a:t>
            </a:r>
            <a:endParaRPr sz="2200"/>
          </a:p>
        </p:txBody>
      </p:sp>
      <p:cxnSp>
        <p:nvCxnSpPr>
          <p:cNvPr id="539" name="Google Shape;539;g73268491a6_0_63"/>
          <p:cNvCxnSpPr/>
          <p:nvPr/>
        </p:nvCxnSpPr>
        <p:spPr>
          <a:xfrm flipH="1" rot="10800000">
            <a:off x="424850" y="1181425"/>
            <a:ext cx="5412000" cy="31200"/>
          </a:xfrm>
          <a:prstGeom prst="straightConnector1">
            <a:avLst/>
          </a:prstGeom>
          <a:noFill/>
          <a:ln cap="flat" cmpd="sng" w="19050">
            <a:solidFill>
              <a:schemeClr val="accent3"/>
            </a:solidFill>
            <a:prstDash val="solid"/>
            <a:round/>
            <a:headEnd len="sm" w="sm" type="none"/>
            <a:tailEnd len="sm" w="sm" type="none"/>
          </a:ln>
        </p:spPr>
      </p:cxnSp>
      <p:graphicFrame>
        <p:nvGraphicFramePr>
          <p:cNvPr id="540" name="Google Shape;540;g73268491a6_0_63"/>
          <p:cNvGraphicFramePr/>
          <p:nvPr/>
        </p:nvGraphicFramePr>
        <p:xfrm>
          <a:off x="684250" y="1325183"/>
          <a:ext cx="3000000" cy="3000000"/>
        </p:xfrm>
        <a:graphic>
          <a:graphicData uri="http://schemas.openxmlformats.org/drawingml/2006/table">
            <a:tbl>
              <a:tblPr bandRow="1" firstRow="1">
                <a:noFill/>
                <a:tableStyleId>{F1D6D5C5-111E-48B5-814E-87AFD66F32DF}</a:tableStyleId>
              </a:tblPr>
              <a:tblGrid>
                <a:gridCol w="3808625"/>
                <a:gridCol w="4043050"/>
              </a:tblGrid>
              <a:tr h="456675">
                <a:tc>
                  <a:txBody>
                    <a:bodyPr/>
                    <a:lstStyle/>
                    <a:p>
                      <a:pPr indent="0" lvl="0" marL="0" marR="0" rtl="0" algn="ctr">
                        <a:lnSpc>
                          <a:spcPct val="100000"/>
                        </a:lnSpc>
                        <a:spcBef>
                          <a:spcPts val="0"/>
                        </a:spcBef>
                        <a:spcAft>
                          <a:spcPts val="0"/>
                        </a:spcAft>
                        <a:buClr>
                          <a:srgbClr val="000000"/>
                        </a:buClr>
                        <a:buSzPts val="1400"/>
                        <a:buFont typeface="Arial"/>
                        <a:buNone/>
                      </a:pPr>
                      <a:r>
                        <a:rPr lang="en"/>
                        <a:t>Key Findings</a:t>
                      </a:r>
                      <a:endParaRPr sz="1400" u="none" cap="none" strike="noStrike"/>
                    </a:p>
                  </a:txBody>
                  <a:tcPr marT="45725" marB="45725" marR="91450" marL="91450" anchor="ctr">
                    <a:solidFill>
                      <a:schemeClr val="accent5"/>
                    </a:solidFill>
                  </a:tcPr>
                </a:tc>
                <a:tc>
                  <a:txBody>
                    <a:bodyPr/>
                    <a:lstStyle/>
                    <a:p>
                      <a:pPr indent="0" lvl="0" marL="0" rtl="0" algn="ctr">
                        <a:spcBef>
                          <a:spcPts val="0"/>
                        </a:spcBef>
                        <a:spcAft>
                          <a:spcPts val="0"/>
                        </a:spcAft>
                        <a:buClr>
                          <a:schemeClr val="dk1"/>
                        </a:buClr>
                        <a:buSzPts val="1400"/>
                        <a:buFont typeface="Arial"/>
                        <a:buNone/>
                      </a:pPr>
                      <a:r>
                        <a:rPr lang="en">
                          <a:solidFill>
                            <a:schemeClr val="lt1"/>
                          </a:solidFill>
                        </a:rPr>
                        <a:t>Possible Courses of Action</a:t>
                      </a:r>
                      <a:endParaRPr/>
                    </a:p>
                  </a:txBody>
                  <a:tcPr marT="45725" marB="45725" marR="91450" marL="91450" anchor="ctr">
                    <a:solidFill>
                      <a:schemeClr val="accent5"/>
                    </a:solidFill>
                  </a:tcPr>
                </a:tc>
              </a:tr>
              <a:tr h="537600">
                <a:tc>
                  <a:txBody>
                    <a:bodyPr/>
                    <a:lstStyle/>
                    <a:p>
                      <a:pPr indent="0" lvl="0" marL="91440" rtl="0" algn="l">
                        <a:spcBef>
                          <a:spcPts val="0"/>
                        </a:spcBef>
                        <a:spcAft>
                          <a:spcPts val="0"/>
                        </a:spcAft>
                        <a:buClr>
                          <a:schemeClr val="dk1"/>
                        </a:buClr>
                        <a:buSzPts val="1200"/>
                        <a:buFont typeface="Arial"/>
                        <a:buNone/>
                      </a:pPr>
                      <a:r>
                        <a:rPr b="1" lang="en"/>
                        <a:t>Drug Payers</a:t>
                      </a:r>
                      <a:r>
                        <a:rPr lang="en"/>
                        <a:t> are the Most Distinguishable   Attribute Among Patients</a:t>
                      </a:r>
                      <a:endParaRPr u="none" cap="none" strike="noStrike"/>
                    </a:p>
                  </a:txBody>
                  <a:tcPr marT="9525" marB="0" marR="9525" marL="9525" anchor="ctr"/>
                </a:tc>
                <a:tc>
                  <a:txBody>
                    <a:bodyPr/>
                    <a:lstStyle/>
                    <a:p>
                      <a:pPr indent="0" lvl="0" marL="91440" rtl="0" algn="l">
                        <a:spcBef>
                          <a:spcPts val="0"/>
                        </a:spcBef>
                        <a:spcAft>
                          <a:spcPts val="0"/>
                        </a:spcAft>
                        <a:buClr>
                          <a:schemeClr val="dk1"/>
                        </a:buClr>
                        <a:buSzPts val="1200"/>
                        <a:buFont typeface="Arial"/>
                        <a:buNone/>
                      </a:pPr>
                      <a:r>
                        <a:rPr b="1" lang="en"/>
                        <a:t>Increased state subsidization</a:t>
                      </a:r>
                      <a:r>
                        <a:rPr lang="en"/>
                        <a:t> of Cardiovascular Disease Medication costs </a:t>
                      </a:r>
                      <a:endParaRPr/>
                    </a:p>
                  </a:txBody>
                  <a:tcPr marT="9525" marB="0" marR="9525" marL="9525" anchor="ctr"/>
                </a:tc>
              </a:tr>
              <a:tr h="537600">
                <a:tc>
                  <a:txBody>
                    <a:bodyPr/>
                    <a:lstStyle/>
                    <a:p>
                      <a:pPr indent="0" lvl="0" marL="91440" marR="0" rtl="0" algn="l">
                        <a:lnSpc>
                          <a:spcPct val="100000"/>
                        </a:lnSpc>
                        <a:spcBef>
                          <a:spcPts val="0"/>
                        </a:spcBef>
                        <a:spcAft>
                          <a:spcPts val="0"/>
                        </a:spcAft>
                        <a:buClr>
                          <a:srgbClr val="000000"/>
                        </a:buClr>
                        <a:buSzPts val="1200"/>
                        <a:buFont typeface="Arial"/>
                        <a:buNone/>
                      </a:pPr>
                      <a:r>
                        <a:rPr lang="en"/>
                        <a:t>Patients </a:t>
                      </a:r>
                      <a:r>
                        <a:rPr b="1" lang="en"/>
                        <a:t>Aged 45 and Older</a:t>
                      </a:r>
                      <a:r>
                        <a:rPr lang="en"/>
                        <a:t> are the Most At Risk for Cardiovascular Issues</a:t>
                      </a:r>
                      <a:endParaRPr sz="1400" u="none" cap="none" strike="noStrike"/>
                    </a:p>
                  </a:txBody>
                  <a:tcPr marT="9525" marB="0" marR="9525" marL="9525" anchor="ctr"/>
                </a:tc>
                <a:tc>
                  <a:txBody>
                    <a:bodyPr/>
                    <a:lstStyle/>
                    <a:p>
                      <a:pPr indent="0" lvl="0" marL="91440" rtl="0" algn="l">
                        <a:spcBef>
                          <a:spcPts val="0"/>
                        </a:spcBef>
                        <a:spcAft>
                          <a:spcPts val="0"/>
                        </a:spcAft>
                        <a:buClr>
                          <a:schemeClr val="dk1"/>
                        </a:buClr>
                        <a:buSzPts val="1200"/>
                        <a:buFont typeface="Arial"/>
                        <a:buNone/>
                      </a:pPr>
                      <a:r>
                        <a:rPr b="1" lang="en"/>
                        <a:t>Expand Medicare Coverage</a:t>
                      </a:r>
                      <a:r>
                        <a:rPr lang="en"/>
                        <a:t> to the Age 45-64 Age Group</a:t>
                      </a:r>
                      <a:endParaRPr/>
                    </a:p>
                  </a:txBody>
                  <a:tcPr marT="9525" marB="0" marR="9525" marL="9525" anchor="ctr"/>
                </a:tc>
              </a:tr>
              <a:tr h="681025">
                <a:tc>
                  <a:txBody>
                    <a:bodyPr/>
                    <a:lstStyle/>
                    <a:p>
                      <a:pPr indent="0" lvl="0" marL="91440" rtl="0" algn="l">
                        <a:spcBef>
                          <a:spcPts val="0"/>
                        </a:spcBef>
                        <a:spcAft>
                          <a:spcPts val="0"/>
                        </a:spcAft>
                        <a:buNone/>
                      </a:pPr>
                      <a:r>
                        <a:rPr lang="en"/>
                        <a:t>Patients in this age group primarily use </a:t>
                      </a:r>
                      <a:r>
                        <a:rPr b="1" lang="en"/>
                        <a:t>Commercial and Medicare</a:t>
                      </a:r>
                      <a:r>
                        <a:rPr lang="en"/>
                        <a:t> Payer</a:t>
                      </a:r>
                      <a:endParaRPr/>
                    </a:p>
                  </a:txBody>
                  <a:tcPr marT="9525" marB="0" marR="9525" marL="9525" anchor="ctr"/>
                </a:tc>
                <a:tc>
                  <a:txBody>
                    <a:bodyPr/>
                    <a:lstStyle/>
                    <a:p>
                      <a:pPr indent="0" lvl="0" marL="91440" rtl="0" algn="l">
                        <a:spcBef>
                          <a:spcPts val="0"/>
                        </a:spcBef>
                        <a:spcAft>
                          <a:spcPts val="0"/>
                        </a:spcAft>
                        <a:buClr>
                          <a:schemeClr val="dk1"/>
                        </a:buClr>
                        <a:buSzPts val="1100"/>
                        <a:buFont typeface="Arial"/>
                        <a:buNone/>
                      </a:pPr>
                      <a:r>
                        <a:rPr b="1" lang="en"/>
                        <a:t>Increase Accessibility</a:t>
                      </a:r>
                      <a:r>
                        <a:rPr lang="en"/>
                        <a:t> and Eligibility for Minnesota Health Care Programs</a:t>
                      </a:r>
                      <a:endParaRPr/>
                    </a:p>
                  </a:txBody>
                  <a:tcPr marT="9525" marB="0" marR="9525" marL="9525" anchor="ctr"/>
                </a:tc>
              </a:tr>
              <a:tr h="681025">
                <a:tc>
                  <a:txBody>
                    <a:bodyPr/>
                    <a:lstStyle/>
                    <a:p>
                      <a:pPr indent="0" lvl="0" marL="91440" marR="0" rtl="0" algn="l">
                        <a:lnSpc>
                          <a:spcPct val="100000"/>
                        </a:lnSpc>
                        <a:spcBef>
                          <a:spcPts val="0"/>
                        </a:spcBef>
                        <a:spcAft>
                          <a:spcPts val="0"/>
                        </a:spcAft>
                        <a:buClr>
                          <a:srgbClr val="000000"/>
                        </a:buClr>
                        <a:buSzPts val="1200"/>
                        <a:buFont typeface="Arial"/>
                        <a:buNone/>
                      </a:pPr>
                      <a:r>
                        <a:rPr lang="en"/>
                        <a:t>Commercial and Medicare offer </a:t>
                      </a:r>
                      <a:r>
                        <a:rPr b="1" lang="en"/>
                        <a:t>Below   Average Coverage</a:t>
                      </a:r>
                      <a:endParaRPr sz="1400" u="none" cap="none" strike="noStrike"/>
                    </a:p>
                  </a:txBody>
                  <a:tcPr marT="9525" marB="0" marR="9525" marL="9525" anchor="ctr"/>
                </a:tc>
                <a:tc>
                  <a:txBody>
                    <a:bodyPr/>
                    <a:lstStyle/>
                    <a:p>
                      <a:pPr indent="0" lvl="0" marL="91440" rtl="0" algn="l">
                        <a:spcBef>
                          <a:spcPts val="0"/>
                        </a:spcBef>
                        <a:spcAft>
                          <a:spcPts val="0"/>
                        </a:spcAft>
                        <a:buClr>
                          <a:schemeClr val="dk1"/>
                        </a:buClr>
                        <a:buSzPts val="1200"/>
                        <a:buFont typeface="Arial"/>
                        <a:buNone/>
                      </a:pPr>
                      <a:r>
                        <a:rPr b="1" lang="en"/>
                        <a:t>Incentivize</a:t>
                      </a:r>
                      <a:r>
                        <a:rPr lang="en"/>
                        <a:t> </a:t>
                      </a:r>
                      <a:r>
                        <a:rPr b="1" lang="en"/>
                        <a:t>Increased Commercial Drug Coverage</a:t>
                      </a:r>
                      <a:r>
                        <a:rPr lang="en"/>
                        <a:t> for patients Age 45+</a:t>
                      </a:r>
                      <a:endParaRPr/>
                    </a:p>
                  </a:txBody>
                  <a:tcPr marT="9525" marB="0" marR="9525" marL="9525" anchor="ctr"/>
                </a:tc>
              </a:tr>
            </a:tbl>
          </a:graphicData>
        </a:graphic>
      </p:graphicFrame>
      <p:cxnSp>
        <p:nvCxnSpPr>
          <p:cNvPr id="541" name="Google Shape;541;g73268491a6_0_63"/>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542" name="Google Shape;542;g73268491a6_0_63"/>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g73268491a6_0_63"/>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g73268491a6_0_63"/>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g73268491a6_0_63"/>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g73268491a6_0_63"/>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547" name="Google Shape;547;g73268491a6_0_63"/>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548" name="Google Shape;548;g73268491a6_0_63"/>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549" name="Google Shape;549;g73268491a6_0_63"/>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550" name="Google Shape;550;g73268491a6_0_63"/>
          <p:cNvGrpSpPr/>
          <p:nvPr/>
        </p:nvGrpSpPr>
        <p:grpSpPr>
          <a:xfrm>
            <a:off x="582066" y="4477985"/>
            <a:ext cx="244241" cy="263244"/>
            <a:chOff x="5027525" y="4402450"/>
            <a:chExt cx="477500" cy="496875"/>
          </a:xfrm>
        </p:grpSpPr>
        <p:sp>
          <p:nvSpPr>
            <p:cNvPr id="551" name="Google Shape;551;g73268491a6_0_63"/>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g73268491a6_0_63"/>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g73268491a6_0_63"/>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4" name="Google Shape;554;g73268491a6_0_63"/>
          <p:cNvGrpSpPr/>
          <p:nvPr/>
        </p:nvGrpSpPr>
        <p:grpSpPr>
          <a:xfrm>
            <a:off x="2245632" y="4506289"/>
            <a:ext cx="258228" cy="227366"/>
            <a:chOff x="3539102" y="2427549"/>
            <a:chExt cx="355099" cy="355481"/>
          </a:xfrm>
        </p:grpSpPr>
        <p:sp>
          <p:nvSpPr>
            <p:cNvPr id="555" name="Google Shape;555;g73268491a6_0_63"/>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g73268491a6_0_63"/>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557" name="Google Shape;557;g73268491a6_0_63"/>
          <p:cNvPicPr preferRelativeResize="0"/>
          <p:nvPr/>
        </p:nvPicPr>
        <p:blipFill>
          <a:blip r:embed="rId4">
            <a:alphaModFix/>
          </a:blip>
          <a:stretch>
            <a:fillRect/>
          </a:stretch>
        </p:blipFill>
        <p:spPr>
          <a:xfrm>
            <a:off x="3009546" y="4492026"/>
            <a:ext cx="258200" cy="255438"/>
          </a:xfrm>
          <a:prstGeom prst="rect">
            <a:avLst/>
          </a:prstGeom>
          <a:noFill/>
          <a:ln>
            <a:noFill/>
          </a:ln>
        </p:spPr>
      </p:pic>
      <p:pic>
        <p:nvPicPr>
          <p:cNvPr id="558" name="Google Shape;558;g73268491a6_0_63"/>
          <p:cNvPicPr preferRelativeResize="0"/>
          <p:nvPr/>
        </p:nvPicPr>
        <p:blipFill>
          <a:blip r:embed="rId5">
            <a:alphaModFix/>
          </a:blip>
          <a:stretch>
            <a:fillRect/>
          </a:stretch>
        </p:blipFill>
        <p:spPr>
          <a:xfrm>
            <a:off x="1424264" y="4498930"/>
            <a:ext cx="303032" cy="241644"/>
          </a:xfrm>
          <a:prstGeom prst="rect">
            <a:avLst/>
          </a:prstGeom>
          <a:noFill/>
          <a:ln>
            <a:noFill/>
          </a:ln>
        </p:spPr>
      </p:pic>
      <p:sp>
        <p:nvSpPr>
          <p:cNvPr id="559" name="Google Shape;559;g73268491a6_0_63"/>
          <p:cNvSpPr/>
          <p:nvPr/>
        </p:nvSpPr>
        <p:spPr>
          <a:xfrm>
            <a:off x="2935603"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0" name="Google Shape;560;g73268491a6_0_63"/>
          <p:cNvPicPr preferRelativeResize="0"/>
          <p:nvPr/>
        </p:nvPicPr>
        <p:blipFill>
          <a:blip r:embed="rId4">
            <a:alphaModFix/>
          </a:blip>
          <a:stretch>
            <a:fillRect/>
          </a:stretch>
        </p:blipFill>
        <p:spPr>
          <a:xfrm>
            <a:off x="3009546" y="4492026"/>
            <a:ext cx="258200" cy="255438"/>
          </a:xfrm>
          <a:prstGeom prst="rect">
            <a:avLst/>
          </a:prstGeom>
          <a:noFill/>
          <a:ln>
            <a:noFill/>
          </a:ln>
        </p:spPr>
      </p:pic>
      <p:sp>
        <p:nvSpPr>
          <p:cNvPr id="561" name="Google Shape;561;g73268491a6_0_63"/>
          <p:cNvSpPr/>
          <p:nvPr/>
        </p:nvSpPr>
        <p:spPr>
          <a:xfrm>
            <a:off x="4587650" y="3638300"/>
            <a:ext cx="3771600" cy="476100"/>
          </a:xfrm>
          <a:prstGeom prst="rect">
            <a:avLst/>
          </a:prstGeom>
          <a:solidFill>
            <a:srgbClr val="ECE6E7"/>
          </a:solidFill>
          <a:ln cap="flat" cmpd="sng" w="9525">
            <a:solidFill>
              <a:srgbClr val="ECE6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g73268491a6_0_63"/>
          <p:cNvSpPr/>
          <p:nvPr/>
        </p:nvSpPr>
        <p:spPr>
          <a:xfrm>
            <a:off x="4587650" y="2370900"/>
            <a:ext cx="3771600" cy="438900"/>
          </a:xfrm>
          <a:prstGeom prst="rect">
            <a:avLst/>
          </a:prstGeom>
          <a:solidFill>
            <a:srgbClr val="ECE6E7"/>
          </a:solidFill>
          <a:ln cap="flat" cmpd="sng" w="9525">
            <a:solidFill>
              <a:srgbClr val="ECE6E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73268491a6_0_63"/>
          <p:cNvSpPr/>
          <p:nvPr/>
        </p:nvSpPr>
        <p:spPr>
          <a:xfrm>
            <a:off x="4587650" y="1831200"/>
            <a:ext cx="3916500" cy="438900"/>
          </a:xfrm>
          <a:prstGeom prst="rect">
            <a:avLst/>
          </a:prstGeom>
          <a:solidFill>
            <a:srgbClr val="D6CACB"/>
          </a:solidFill>
          <a:ln cap="flat" cmpd="sng" w="9525">
            <a:solidFill>
              <a:srgbClr val="D6C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g73268491a6_0_63"/>
          <p:cNvSpPr/>
          <p:nvPr/>
        </p:nvSpPr>
        <p:spPr>
          <a:xfrm>
            <a:off x="4587650" y="2986913"/>
            <a:ext cx="3771600" cy="438900"/>
          </a:xfrm>
          <a:prstGeom prst="rect">
            <a:avLst/>
          </a:prstGeom>
          <a:solidFill>
            <a:srgbClr val="D6CACB"/>
          </a:solidFill>
          <a:ln cap="flat" cmpd="sng" w="9525">
            <a:solidFill>
              <a:srgbClr val="D6CAC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g73268491a6_0_63"/>
          <p:cNvSpPr txBox="1"/>
          <p:nvPr/>
        </p:nvSpPr>
        <p:spPr>
          <a:xfrm>
            <a:off x="4492875" y="1781838"/>
            <a:ext cx="4043100" cy="5376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56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6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6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5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69" name="Shape 569"/>
        <p:cNvGrpSpPr/>
        <p:nvPr/>
      </p:nvGrpSpPr>
      <p:grpSpPr>
        <a:xfrm>
          <a:off x="0" y="0"/>
          <a:ext cx="0" cy="0"/>
          <a:chOff x="0" y="0"/>
          <a:chExt cx="0" cy="0"/>
        </a:xfrm>
      </p:grpSpPr>
      <p:cxnSp>
        <p:nvCxnSpPr>
          <p:cNvPr id="570" name="Google Shape;570;g82eb9f9b71_1_1119"/>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571" name="Google Shape;571;g82eb9f9b71_1_1119"/>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g82eb9f9b71_1_11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g82eb9f9b71_1_1119"/>
          <p:cNvSpPr txBox="1"/>
          <p:nvPr>
            <p:ph type="title"/>
          </p:nvPr>
        </p:nvSpPr>
        <p:spPr>
          <a:xfrm>
            <a:off x="390175"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200"/>
              <a:t>Cost Benefit Analysis</a:t>
            </a:r>
            <a:endParaRPr sz="2200"/>
          </a:p>
        </p:txBody>
      </p:sp>
      <p:cxnSp>
        <p:nvCxnSpPr>
          <p:cNvPr id="574" name="Google Shape;574;g82eb9f9b71_1_1119"/>
          <p:cNvCxnSpPr/>
          <p:nvPr/>
        </p:nvCxnSpPr>
        <p:spPr>
          <a:xfrm flipH="1" rot="10800000">
            <a:off x="488525" y="863050"/>
            <a:ext cx="3106500" cy="22800"/>
          </a:xfrm>
          <a:prstGeom prst="straightConnector1">
            <a:avLst/>
          </a:prstGeom>
          <a:noFill/>
          <a:ln cap="flat" cmpd="sng" w="19050">
            <a:solidFill>
              <a:schemeClr val="accent3"/>
            </a:solidFill>
            <a:prstDash val="solid"/>
            <a:round/>
            <a:headEnd len="sm" w="sm" type="none"/>
            <a:tailEnd len="sm" w="sm" type="none"/>
          </a:ln>
        </p:spPr>
      </p:cxnSp>
      <p:sp>
        <p:nvSpPr>
          <p:cNvPr id="575" name="Google Shape;575;g82eb9f9b71_1_1119"/>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g82eb9f9b71_1_1119"/>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g82eb9f9b71_1_1119"/>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g82eb9f9b71_1_1119"/>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579" name="Google Shape;579;g82eb9f9b71_1_1119"/>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580" name="Google Shape;580;g82eb9f9b71_1_1119"/>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581" name="Google Shape;581;g82eb9f9b71_1_1119"/>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582" name="Google Shape;582;g82eb9f9b71_1_1119"/>
          <p:cNvGrpSpPr/>
          <p:nvPr/>
        </p:nvGrpSpPr>
        <p:grpSpPr>
          <a:xfrm>
            <a:off x="582066" y="4477985"/>
            <a:ext cx="244241" cy="263244"/>
            <a:chOff x="5027525" y="4402450"/>
            <a:chExt cx="477500" cy="496875"/>
          </a:xfrm>
        </p:grpSpPr>
        <p:sp>
          <p:nvSpPr>
            <p:cNvPr id="583" name="Google Shape;583;g82eb9f9b71_1_1119"/>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g82eb9f9b71_1_1119"/>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g82eb9f9b71_1_1119"/>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6" name="Google Shape;586;g82eb9f9b71_1_1119"/>
          <p:cNvGrpSpPr/>
          <p:nvPr/>
        </p:nvGrpSpPr>
        <p:grpSpPr>
          <a:xfrm>
            <a:off x="2245632" y="4506289"/>
            <a:ext cx="258228" cy="227366"/>
            <a:chOff x="3539102" y="2427549"/>
            <a:chExt cx="355099" cy="355481"/>
          </a:xfrm>
        </p:grpSpPr>
        <p:sp>
          <p:nvSpPr>
            <p:cNvPr id="587" name="Google Shape;587;g82eb9f9b71_1_1119"/>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g82eb9f9b71_1_1119"/>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589" name="Google Shape;589;g82eb9f9b71_1_1119"/>
          <p:cNvPicPr preferRelativeResize="0"/>
          <p:nvPr/>
        </p:nvPicPr>
        <p:blipFill>
          <a:blip r:embed="rId3">
            <a:alphaModFix/>
          </a:blip>
          <a:stretch>
            <a:fillRect/>
          </a:stretch>
        </p:blipFill>
        <p:spPr>
          <a:xfrm>
            <a:off x="3009546" y="4492026"/>
            <a:ext cx="258200" cy="255438"/>
          </a:xfrm>
          <a:prstGeom prst="rect">
            <a:avLst/>
          </a:prstGeom>
          <a:noFill/>
          <a:ln>
            <a:noFill/>
          </a:ln>
        </p:spPr>
      </p:pic>
      <p:pic>
        <p:nvPicPr>
          <p:cNvPr id="590" name="Google Shape;590;g82eb9f9b71_1_1119"/>
          <p:cNvPicPr preferRelativeResize="0"/>
          <p:nvPr/>
        </p:nvPicPr>
        <p:blipFill>
          <a:blip r:embed="rId4">
            <a:alphaModFix/>
          </a:blip>
          <a:stretch>
            <a:fillRect/>
          </a:stretch>
        </p:blipFill>
        <p:spPr>
          <a:xfrm>
            <a:off x="1424264" y="4498930"/>
            <a:ext cx="303032" cy="241644"/>
          </a:xfrm>
          <a:prstGeom prst="rect">
            <a:avLst/>
          </a:prstGeom>
          <a:noFill/>
          <a:ln>
            <a:noFill/>
          </a:ln>
        </p:spPr>
      </p:pic>
      <p:sp>
        <p:nvSpPr>
          <p:cNvPr id="591" name="Google Shape;591;g82eb9f9b71_1_1119"/>
          <p:cNvSpPr/>
          <p:nvPr/>
        </p:nvSpPr>
        <p:spPr>
          <a:xfrm>
            <a:off x="2935603"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2" name="Google Shape;592;g82eb9f9b71_1_1119"/>
          <p:cNvPicPr preferRelativeResize="0"/>
          <p:nvPr/>
        </p:nvPicPr>
        <p:blipFill>
          <a:blip r:embed="rId3">
            <a:alphaModFix/>
          </a:blip>
          <a:stretch>
            <a:fillRect/>
          </a:stretch>
        </p:blipFill>
        <p:spPr>
          <a:xfrm>
            <a:off x="3009546" y="4492026"/>
            <a:ext cx="258200" cy="255438"/>
          </a:xfrm>
          <a:prstGeom prst="rect">
            <a:avLst/>
          </a:prstGeom>
          <a:noFill/>
          <a:ln>
            <a:noFill/>
          </a:ln>
        </p:spPr>
      </p:pic>
      <p:graphicFrame>
        <p:nvGraphicFramePr>
          <p:cNvPr id="593" name="Google Shape;593;g82eb9f9b71_1_1119"/>
          <p:cNvGraphicFramePr/>
          <p:nvPr/>
        </p:nvGraphicFramePr>
        <p:xfrm>
          <a:off x="685963" y="1265420"/>
          <a:ext cx="3000000" cy="3000000"/>
        </p:xfrm>
        <a:graphic>
          <a:graphicData uri="http://schemas.openxmlformats.org/drawingml/2006/table">
            <a:tbl>
              <a:tblPr bandRow="1" firstRow="1">
                <a:noFill/>
                <a:tableStyleId>{F1D6D5C5-111E-48B5-814E-87AFD66F32DF}</a:tableStyleId>
              </a:tblPr>
              <a:tblGrid>
                <a:gridCol w="3623325"/>
              </a:tblGrid>
              <a:tr h="720100">
                <a:tc>
                  <a:txBody>
                    <a:bodyPr/>
                    <a:lstStyle/>
                    <a:p>
                      <a:pPr indent="0" lvl="0" marL="0" marR="0" rtl="0" algn="ctr">
                        <a:lnSpc>
                          <a:spcPct val="100000"/>
                        </a:lnSpc>
                        <a:spcBef>
                          <a:spcPts val="0"/>
                        </a:spcBef>
                        <a:spcAft>
                          <a:spcPts val="0"/>
                        </a:spcAft>
                        <a:buClr>
                          <a:srgbClr val="000000"/>
                        </a:buClr>
                        <a:buSzPts val="1400"/>
                        <a:buFont typeface="Arial"/>
                        <a:buNone/>
                      </a:pPr>
                      <a:r>
                        <a:rPr lang="en"/>
                        <a:t>Benefits</a:t>
                      </a:r>
                      <a:endParaRPr sz="1400" u="none" cap="none" strike="noStrike"/>
                    </a:p>
                  </a:txBody>
                  <a:tcPr marT="45725" marB="45725" marR="91450" marL="91450" anchor="ctr">
                    <a:solidFill>
                      <a:schemeClr val="accent5"/>
                    </a:solidFill>
                  </a:tcPr>
                </a:tc>
              </a:tr>
              <a:tr h="531050">
                <a:tc>
                  <a:txBody>
                    <a:bodyPr/>
                    <a:lstStyle/>
                    <a:p>
                      <a:pPr indent="0" lvl="0" marL="91440" rtl="0" algn="l">
                        <a:spcBef>
                          <a:spcPts val="0"/>
                        </a:spcBef>
                        <a:spcAft>
                          <a:spcPts val="0"/>
                        </a:spcAft>
                        <a:buClr>
                          <a:schemeClr val="dk1"/>
                        </a:buClr>
                        <a:buSzPts val="1200"/>
                        <a:buFont typeface="Arial"/>
                        <a:buNone/>
                      </a:pPr>
                      <a:r>
                        <a:rPr lang="en"/>
                        <a:t>1. </a:t>
                      </a:r>
                      <a:r>
                        <a:rPr b="1" lang="en"/>
                        <a:t>Decreased costs</a:t>
                      </a:r>
                      <a:r>
                        <a:rPr lang="en"/>
                        <a:t> associated with preventable hospitalizations</a:t>
                      </a:r>
                      <a:endParaRPr u="none" cap="none" strike="noStrike"/>
                    </a:p>
                  </a:txBody>
                  <a:tcPr marT="9525" marB="0" marR="9525" marL="9525" anchor="ctr"/>
                </a:tc>
              </a:tr>
              <a:tr h="531050">
                <a:tc>
                  <a:txBody>
                    <a:bodyPr/>
                    <a:lstStyle/>
                    <a:p>
                      <a:pPr indent="0" lvl="0" marL="91440" marR="0" rtl="0" algn="l">
                        <a:lnSpc>
                          <a:spcPct val="100000"/>
                        </a:lnSpc>
                        <a:spcBef>
                          <a:spcPts val="0"/>
                        </a:spcBef>
                        <a:spcAft>
                          <a:spcPts val="0"/>
                        </a:spcAft>
                        <a:buClr>
                          <a:srgbClr val="000000"/>
                        </a:buClr>
                        <a:buSzPts val="1200"/>
                        <a:buFont typeface="Arial"/>
                        <a:buNone/>
                      </a:pPr>
                      <a:r>
                        <a:rPr lang="en"/>
                        <a:t>2. </a:t>
                      </a:r>
                      <a:r>
                        <a:rPr b="1" lang="en"/>
                        <a:t>Increased</a:t>
                      </a:r>
                      <a:r>
                        <a:rPr lang="en"/>
                        <a:t> economic activity (i.e increase employment and spending)</a:t>
                      </a:r>
                      <a:endParaRPr sz="1400" u="none" cap="none" strike="noStrike"/>
                    </a:p>
                  </a:txBody>
                  <a:tcPr marT="9525" marB="0" marR="9525" marL="9525" anchor="ctr"/>
                </a:tc>
              </a:tr>
              <a:tr h="531050">
                <a:tc>
                  <a:txBody>
                    <a:bodyPr/>
                    <a:lstStyle/>
                    <a:p>
                      <a:pPr indent="0" lvl="0" marL="91440" rtl="0" algn="l">
                        <a:spcBef>
                          <a:spcPts val="0"/>
                        </a:spcBef>
                        <a:spcAft>
                          <a:spcPts val="0"/>
                        </a:spcAft>
                        <a:buNone/>
                      </a:pPr>
                      <a:r>
                        <a:rPr lang="en"/>
                        <a:t>3. </a:t>
                      </a:r>
                      <a:r>
                        <a:rPr b="1" lang="en"/>
                        <a:t>Lower overall</a:t>
                      </a:r>
                      <a:r>
                        <a:rPr lang="en"/>
                        <a:t> </a:t>
                      </a:r>
                      <a:r>
                        <a:rPr b="1" lang="en"/>
                        <a:t>costs</a:t>
                      </a:r>
                      <a:r>
                        <a:rPr lang="en"/>
                        <a:t> for healthcare programs to the state</a:t>
                      </a:r>
                      <a:endParaRPr/>
                    </a:p>
                  </a:txBody>
                  <a:tcPr marT="9525" marB="0" marR="9525" marL="9525" anchor="ctr"/>
                </a:tc>
              </a:tr>
              <a:tr h="531050">
                <a:tc>
                  <a:txBody>
                    <a:bodyPr/>
                    <a:lstStyle/>
                    <a:p>
                      <a:pPr indent="0" lvl="0" marL="91440" marR="0" rtl="0" algn="l">
                        <a:lnSpc>
                          <a:spcPct val="100000"/>
                        </a:lnSpc>
                        <a:spcBef>
                          <a:spcPts val="0"/>
                        </a:spcBef>
                        <a:spcAft>
                          <a:spcPts val="0"/>
                        </a:spcAft>
                        <a:buClr>
                          <a:srgbClr val="000000"/>
                        </a:buClr>
                        <a:buSzPts val="1200"/>
                        <a:buFont typeface="Arial"/>
                        <a:buNone/>
                      </a:pPr>
                      <a:r>
                        <a:rPr lang="en"/>
                        <a:t>4. </a:t>
                      </a:r>
                      <a:r>
                        <a:rPr b="1" lang="en"/>
                        <a:t>Better overall health </a:t>
                      </a:r>
                      <a:r>
                        <a:rPr lang="en"/>
                        <a:t>for the population</a:t>
                      </a:r>
                      <a:endParaRPr sz="1400" u="none" cap="none" strike="noStrike"/>
                    </a:p>
                  </a:txBody>
                  <a:tcPr marT="9525" marB="0" marR="9525" marL="9525" anchor="ctr"/>
                </a:tc>
              </a:tr>
            </a:tbl>
          </a:graphicData>
        </a:graphic>
      </p:graphicFrame>
      <p:graphicFrame>
        <p:nvGraphicFramePr>
          <p:cNvPr id="594" name="Google Shape;594;g82eb9f9b71_1_1119"/>
          <p:cNvGraphicFramePr/>
          <p:nvPr/>
        </p:nvGraphicFramePr>
        <p:xfrm>
          <a:off x="4841725" y="1574158"/>
          <a:ext cx="3000000" cy="3000000"/>
        </p:xfrm>
        <a:graphic>
          <a:graphicData uri="http://schemas.openxmlformats.org/drawingml/2006/table">
            <a:tbl>
              <a:tblPr bandRow="1" firstRow="1">
                <a:noFill/>
                <a:tableStyleId>{F1D6D5C5-111E-48B5-814E-87AFD66F32DF}</a:tableStyleId>
              </a:tblPr>
              <a:tblGrid>
                <a:gridCol w="3552600"/>
              </a:tblGrid>
              <a:tr h="590150">
                <a:tc>
                  <a:txBody>
                    <a:bodyPr/>
                    <a:lstStyle/>
                    <a:p>
                      <a:pPr indent="0" lvl="0" marL="0" marR="0" rtl="0" algn="ctr">
                        <a:lnSpc>
                          <a:spcPct val="100000"/>
                        </a:lnSpc>
                        <a:spcBef>
                          <a:spcPts val="0"/>
                        </a:spcBef>
                        <a:spcAft>
                          <a:spcPts val="0"/>
                        </a:spcAft>
                        <a:buClr>
                          <a:srgbClr val="000000"/>
                        </a:buClr>
                        <a:buSzPts val="1400"/>
                        <a:buFont typeface="Arial"/>
                        <a:buNone/>
                      </a:pPr>
                      <a:r>
                        <a:rPr lang="en"/>
                        <a:t>Costs</a:t>
                      </a:r>
                      <a:endParaRPr sz="1400" u="none" cap="none" strike="noStrike"/>
                    </a:p>
                  </a:txBody>
                  <a:tcPr marT="45725" marB="45725" marR="91450" marL="91450" anchor="ctr">
                    <a:solidFill>
                      <a:schemeClr val="accent4"/>
                    </a:solidFill>
                  </a:tcPr>
                </a:tc>
              </a:tr>
              <a:tr h="507250">
                <a:tc>
                  <a:txBody>
                    <a:bodyPr/>
                    <a:lstStyle/>
                    <a:p>
                      <a:pPr indent="0" lvl="0" marL="91440" rtl="0" algn="l">
                        <a:spcBef>
                          <a:spcPts val="0"/>
                        </a:spcBef>
                        <a:spcAft>
                          <a:spcPts val="0"/>
                        </a:spcAft>
                        <a:buClr>
                          <a:schemeClr val="dk1"/>
                        </a:buClr>
                        <a:buSzPts val="1200"/>
                        <a:buFont typeface="Arial"/>
                        <a:buNone/>
                      </a:pPr>
                      <a:r>
                        <a:rPr lang="en"/>
                        <a:t>1. </a:t>
                      </a:r>
                      <a:r>
                        <a:rPr b="1" lang="en"/>
                        <a:t>Increased </a:t>
                      </a:r>
                      <a:r>
                        <a:rPr lang="en"/>
                        <a:t>short-term spending by the MN government </a:t>
                      </a:r>
                      <a:endParaRPr u="none" cap="none" strike="noStrike"/>
                    </a:p>
                  </a:txBody>
                  <a:tcPr marT="9525" marB="0" marR="9525" marL="9525" anchor="ctr"/>
                </a:tc>
              </a:tr>
              <a:tr h="507250">
                <a:tc>
                  <a:txBody>
                    <a:bodyPr/>
                    <a:lstStyle/>
                    <a:p>
                      <a:pPr indent="0" lvl="0" marL="91440" rtl="0" algn="l">
                        <a:spcBef>
                          <a:spcPts val="0"/>
                        </a:spcBef>
                        <a:spcAft>
                          <a:spcPts val="0"/>
                        </a:spcAft>
                        <a:buNone/>
                      </a:pPr>
                      <a:r>
                        <a:rPr lang="en"/>
                        <a:t>2. </a:t>
                      </a:r>
                      <a:r>
                        <a:rPr b="1" lang="en"/>
                        <a:t>Increased</a:t>
                      </a:r>
                      <a:r>
                        <a:rPr lang="en"/>
                        <a:t> administrative burden</a:t>
                      </a:r>
                      <a:endParaRPr/>
                    </a:p>
                  </a:txBody>
                  <a:tcPr marT="9525" marB="0" marR="9525" marL="9525" anchor="ctr"/>
                </a:tc>
              </a:tr>
              <a:tr h="507250">
                <a:tc>
                  <a:txBody>
                    <a:bodyPr/>
                    <a:lstStyle/>
                    <a:p>
                      <a:pPr indent="0" lvl="0" marL="91440" rtl="0" algn="l">
                        <a:spcBef>
                          <a:spcPts val="0"/>
                        </a:spcBef>
                        <a:spcAft>
                          <a:spcPts val="0"/>
                        </a:spcAft>
                        <a:buNone/>
                      </a:pPr>
                      <a:r>
                        <a:rPr lang="en"/>
                        <a:t>3. May decrease funding for other programs</a:t>
                      </a:r>
                      <a:endParaRPr/>
                    </a:p>
                  </a:txBody>
                  <a:tcPr marT="9525" marB="0" marR="9525" marL="9525"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98" name="Shape 598"/>
        <p:cNvGrpSpPr/>
        <p:nvPr/>
      </p:nvGrpSpPr>
      <p:grpSpPr>
        <a:xfrm>
          <a:off x="0" y="0"/>
          <a:ext cx="0" cy="0"/>
          <a:chOff x="0" y="0"/>
          <a:chExt cx="0" cy="0"/>
        </a:xfrm>
      </p:grpSpPr>
      <p:cxnSp>
        <p:nvCxnSpPr>
          <p:cNvPr id="599" name="Google Shape;599;g831aa77a85_9_411"/>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600" name="Google Shape;600;g831aa77a85_9_411"/>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g831aa77a85_9_4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2" name="Google Shape;602;g831aa77a85_9_411"/>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200"/>
              <a:t>Hypothetical Cost Benefit Analysis for MN</a:t>
            </a:r>
            <a:endParaRPr sz="2200"/>
          </a:p>
        </p:txBody>
      </p:sp>
      <p:cxnSp>
        <p:nvCxnSpPr>
          <p:cNvPr id="603" name="Google Shape;603;g831aa77a85_9_411"/>
          <p:cNvCxnSpPr/>
          <p:nvPr/>
        </p:nvCxnSpPr>
        <p:spPr>
          <a:xfrm flipH="1" rot="10800000">
            <a:off x="459400" y="863050"/>
            <a:ext cx="6124800" cy="22800"/>
          </a:xfrm>
          <a:prstGeom prst="straightConnector1">
            <a:avLst/>
          </a:prstGeom>
          <a:noFill/>
          <a:ln cap="flat" cmpd="sng" w="19050">
            <a:solidFill>
              <a:schemeClr val="accent3"/>
            </a:solidFill>
            <a:prstDash val="solid"/>
            <a:round/>
            <a:headEnd len="sm" w="sm" type="none"/>
            <a:tailEnd len="sm" w="sm" type="none"/>
          </a:ln>
        </p:spPr>
      </p:cxnSp>
      <p:sp>
        <p:nvSpPr>
          <p:cNvPr id="604" name="Google Shape;604;g831aa77a85_9_411"/>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g831aa77a85_9_411"/>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g831aa77a85_9_411"/>
          <p:cNvSpPr/>
          <p:nvPr/>
        </p:nvSpPr>
        <p:spPr>
          <a:xfrm>
            <a:off x="2935603"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g831aa77a85_9_411"/>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608" name="Google Shape;608;g831aa77a85_9_411"/>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609" name="Google Shape;609;g831aa77a85_9_411"/>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610" name="Google Shape;610;g831aa77a85_9_411"/>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611" name="Google Shape;611;g831aa77a85_9_411"/>
          <p:cNvGrpSpPr/>
          <p:nvPr/>
        </p:nvGrpSpPr>
        <p:grpSpPr>
          <a:xfrm>
            <a:off x="582066" y="4477985"/>
            <a:ext cx="244241" cy="263244"/>
            <a:chOff x="5027525" y="4402450"/>
            <a:chExt cx="477500" cy="496875"/>
          </a:xfrm>
        </p:grpSpPr>
        <p:sp>
          <p:nvSpPr>
            <p:cNvPr id="612" name="Google Shape;612;g831aa77a85_9_411"/>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g831aa77a85_9_411"/>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g831aa77a85_9_411"/>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5" name="Google Shape;615;g831aa77a85_9_411"/>
          <p:cNvGrpSpPr/>
          <p:nvPr/>
        </p:nvGrpSpPr>
        <p:grpSpPr>
          <a:xfrm>
            <a:off x="2245632" y="4506289"/>
            <a:ext cx="258228" cy="227366"/>
            <a:chOff x="3539102" y="2427549"/>
            <a:chExt cx="355099" cy="355481"/>
          </a:xfrm>
        </p:grpSpPr>
        <p:sp>
          <p:nvSpPr>
            <p:cNvPr id="616" name="Google Shape;616;g831aa77a85_9_411"/>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g831aa77a85_9_411"/>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618" name="Google Shape;618;g831aa77a85_9_411"/>
          <p:cNvPicPr preferRelativeResize="0"/>
          <p:nvPr/>
        </p:nvPicPr>
        <p:blipFill>
          <a:blip r:embed="rId4">
            <a:alphaModFix/>
          </a:blip>
          <a:stretch>
            <a:fillRect/>
          </a:stretch>
        </p:blipFill>
        <p:spPr>
          <a:xfrm>
            <a:off x="3009546" y="4492026"/>
            <a:ext cx="258200" cy="255438"/>
          </a:xfrm>
          <a:prstGeom prst="rect">
            <a:avLst/>
          </a:prstGeom>
          <a:noFill/>
          <a:ln>
            <a:noFill/>
          </a:ln>
        </p:spPr>
      </p:pic>
      <p:pic>
        <p:nvPicPr>
          <p:cNvPr id="619" name="Google Shape;619;g831aa77a85_9_411"/>
          <p:cNvPicPr preferRelativeResize="0"/>
          <p:nvPr/>
        </p:nvPicPr>
        <p:blipFill>
          <a:blip r:embed="rId5">
            <a:alphaModFix/>
          </a:blip>
          <a:stretch>
            <a:fillRect/>
          </a:stretch>
        </p:blipFill>
        <p:spPr>
          <a:xfrm>
            <a:off x="1424264" y="4498930"/>
            <a:ext cx="303032" cy="241644"/>
          </a:xfrm>
          <a:prstGeom prst="rect">
            <a:avLst/>
          </a:prstGeom>
          <a:noFill/>
          <a:ln>
            <a:noFill/>
          </a:ln>
        </p:spPr>
      </p:pic>
      <p:sp>
        <p:nvSpPr>
          <p:cNvPr id="620" name="Google Shape;620;g831aa77a85_9_411"/>
          <p:cNvSpPr/>
          <p:nvPr/>
        </p:nvSpPr>
        <p:spPr>
          <a:xfrm>
            <a:off x="2935603"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1" name="Google Shape;621;g831aa77a85_9_411"/>
          <p:cNvPicPr preferRelativeResize="0"/>
          <p:nvPr/>
        </p:nvPicPr>
        <p:blipFill>
          <a:blip r:embed="rId4">
            <a:alphaModFix/>
          </a:blip>
          <a:stretch>
            <a:fillRect/>
          </a:stretch>
        </p:blipFill>
        <p:spPr>
          <a:xfrm>
            <a:off x="3009546" y="4492026"/>
            <a:ext cx="258200" cy="255438"/>
          </a:xfrm>
          <a:prstGeom prst="rect">
            <a:avLst/>
          </a:prstGeom>
          <a:noFill/>
          <a:ln>
            <a:noFill/>
          </a:ln>
        </p:spPr>
      </p:pic>
      <p:grpSp>
        <p:nvGrpSpPr>
          <p:cNvPr id="622" name="Google Shape;622;g831aa77a85_9_411"/>
          <p:cNvGrpSpPr/>
          <p:nvPr/>
        </p:nvGrpSpPr>
        <p:grpSpPr>
          <a:xfrm>
            <a:off x="-2993" y="2672884"/>
            <a:ext cx="6587045" cy="1058686"/>
            <a:chOff x="2283025" y="2322568"/>
            <a:chExt cx="5267950" cy="643500"/>
          </a:xfrm>
        </p:grpSpPr>
        <p:sp>
          <p:nvSpPr>
            <p:cNvPr id="623" name="Google Shape;623;g831aa77a85_9_411"/>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g831aa77a85_9_411"/>
            <p:cNvSpPr/>
            <p:nvPr/>
          </p:nvSpPr>
          <p:spPr>
            <a:xfrm flipH="1">
              <a:off x="2283025" y="2322575"/>
              <a:ext cx="1844400" cy="642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g831aa77a85_9_411"/>
            <p:cNvSpPr/>
            <p:nvPr/>
          </p:nvSpPr>
          <p:spPr>
            <a:xfrm rot="-5400000">
              <a:off x="4171920" y="1934671"/>
              <a:ext cx="643356" cy="1419149"/>
            </a:xfrm>
            <a:prstGeom prst="flowChartOffpageConnector">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 name="Google Shape;626;g831aa77a85_9_411"/>
          <p:cNvGrpSpPr/>
          <p:nvPr/>
        </p:nvGrpSpPr>
        <p:grpSpPr>
          <a:xfrm>
            <a:off x="-2993" y="1595071"/>
            <a:ext cx="6587045" cy="1058686"/>
            <a:chOff x="2283025" y="2322568"/>
            <a:chExt cx="5267950" cy="643500"/>
          </a:xfrm>
        </p:grpSpPr>
        <p:sp>
          <p:nvSpPr>
            <p:cNvPr id="627" name="Google Shape;627;g831aa77a85_9_411"/>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g831aa77a85_9_411"/>
            <p:cNvSpPr/>
            <p:nvPr/>
          </p:nvSpPr>
          <p:spPr>
            <a:xfrm flipH="1">
              <a:off x="2283025" y="2322575"/>
              <a:ext cx="1844400" cy="6426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g831aa77a85_9_411"/>
            <p:cNvSpPr/>
            <p:nvPr/>
          </p:nvSpPr>
          <p:spPr>
            <a:xfrm rot="-5400000">
              <a:off x="4171920" y="1934671"/>
              <a:ext cx="643356" cy="1419149"/>
            </a:xfrm>
            <a:prstGeom prst="flowChartOffpageConnector">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g831aa77a85_9_411"/>
            <p:cNvSpPr/>
            <p:nvPr/>
          </p:nvSpPr>
          <p:spPr>
            <a:xfrm>
              <a:off x="3165059" y="2395920"/>
              <a:ext cx="13242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Benefits</a:t>
              </a:r>
              <a:endParaRPr b="1" sz="2400">
                <a:solidFill>
                  <a:srgbClr val="FFFFFF"/>
                </a:solidFill>
                <a:latin typeface="Montserrat"/>
                <a:ea typeface="Montserrat"/>
                <a:cs typeface="Montserrat"/>
                <a:sym typeface="Montserrat"/>
              </a:endParaRPr>
            </a:p>
          </p:txBody>
        </p:sp>
      </p:grpSp>
      <p:sp>
        <p:nvSpPr>
          <p:cNvPr id="631" name="Google Shape;631;g831aa77a85_9_411"/>
          <p:cNvSpPr/>
          <p:nvPr/>
        </p:nvSpPr>
        <p:spPr>
          <a:xfrm>
            <a:off x="1145777" y="2794225"/>
            <a:ext cx="1545000" cy="816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Costs</a:t>
            </a:r>
            <a:endParaRPr b="1" sz="2400">
              <a:solidFill>
                <a:srgbClr val="FFFFFF"/>
              </a:solidFill>
              <a:latin typeface="Montserrat"/>
              <a:ea typeface="Montserrat"/>
              <a:cs typeface="Montserrat"/>
              <a:sym typeface="Montserrat"/>
            </a:endParaRPr>
          </a:p>
        </p:txBody>
      </p:sp>
      <p:sp>
        <p:nvSpPr>
          <p:cNvPr id="632" name="Google Shape;632;g831aa77a85_9_411"/>
          <p:cNvSpPr/>
          <p:nvPr/>
        </p:nvSpPr>
        <p:spPr>
          <a:xfrm rot="5400000">
            <a:off x="7527525" y="990425"/>
            <a:ext cx="1091100" cy="1862100"/>
          </a:xfrm>
          <a:prstGeom prst="wedgeRectCallout">
            <a:avLst>
              <a:gd fmla="val -5284" name="adj1"/>
              <a:gd fmla="val 69857" name="adj2"/>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g831aa77a85_9_411"/>
          <p:cNvSpPr txBox="1"/>
          <p:nvPr/>
        </p:nvSpPr>
        <p:spPr>
          <a:xfrm>
            <a:off x="7194775" y="1524675"/>
            <a:ext cx="1809300" cy="9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There were </a:t>
            </a:r>
            <a:r>
              <a:rPr b="1" lang="en">
                <a:latin typeface="Montserrat"/>
                <a:ea typeface="Montserrat"/>
                <a:cs typeface="Montserrat"/>
                <a:sym typeface="Montserrat"/>
              </a:rPr>
              <a:t>45000</a:t>
            </a:r>
            <a:r>
              <a:rPr lang="en">
                <a:latin typeface="Montserrat"/>
                <a:ea typeface="Montserrat"/>
                <a:cs typeface="Montserrat"/>
                <a:sym typeface="Montserrat"/>
              </a:rPr>
              <a:t> hospitalizations due to CVD</a:t>
            </a:r>
            <a:r>
              <a:rPr baseline="30000" lang="en">
                <a:latin typeface="Montserrat"/>
                <a:ea typeface="Montserrat"/>
                <a:cs typeface="Montserrat"/>
                <a:sym typeface="Montserrat"/>
              </a:rPr>
              <a:t>6</a:t>
            </a:r>
            <a:endParaRPr baseline="30000">
              <a:latin typeface="Montserrat"/>
              <a:ea typeface="Montserrat"/>
              <a:cs typeface="Montserrat"/>
              <a:sym typeface="Montserrat"/>
            </a:endParaRPr>
          </a:p>
        </p:txBody>
      </p:sp>
      <p:sp>
        <p:nvSpPr>
          <p:cNvPr id="634" name="Google Shape;634;g831aa77a85_9_411"/>
          <p:cNvSpPr/>
          <p:nvPr/>
        </p:nvSpPr>
        <p:spPr>
          <a:xfrm rot="5400000">
            <a:off x="7549725" y="968225"/>
            <a:ext cx="1046700" cy="1862100"/>
          </a:xfrm>
          <a:prstGeom prst="wedgeRectCallout">
            <a:avLst>
              <a:gd fmla="val -3031" name="adj1"/>
              <a:gd fmla="val 69929" name="adj2"/>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g831aa77a85_9_411"/>
          <p:cNvSpPr txBox="1"/>
          <p:nvPr/>
        </p:nvSpPr>
        <p:spPr>
          <a:xfrm>
            <a:off x="7194775" y="1448475"/>
            <a:ext cx="1809300" cy="10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The average cost of a CVD hospitalization is </a:t>
            </a:r>
            <a:r>
              <a:rPr b="1" lang="en">
                <a:latin typeface="Montserrat"/>
                <a:ea typeface="Montserrat"/>
                <a:cs typeface="Montserrat"/>
                <a:sym typeface="Montserrat"/>
              </a:rPr>
              <a:t>$16000</a:t>
            </a:r>
            <a:r>
              <a:rPr baseline="30000" lang="en">
                <a:latin typeface="Montserrat"/>
                <a:ea typeface="Montserrat"/>
                <a:cs typeface="Montserrat"/>
                <a:sym typeface="Montserrat"/>
              </a:rPr>
              <a:t>5</a:t>
            </a:r>
            <a:endParaRPr baseline="30000">
              <a:latin typeface="Montserrat"/>
              <a:ea typeface="Montserrat"/>
              <a:cs typeface="Montserrat"/>
              <a:sym typeface="Montserrat"/>
            </a:endParaRPr>
          </a:p>
        </p:txBody>
      </p:sp>
      <p:sp>
        <p:nvSpPr>
          <p:cNvPr id="636" name="Google Shape;636;g831aa77a85_9_411"/>
          <p:cNvSpPr txBox="1"/>
          <p:nvPr/>
        </p:nvSpPr>
        <p:spPr>
          <a:xfrm>
            <a:off x="4065950" y="1885325"/>
            <a:ext cx="1355700" cy="489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Montserrat"/>
                <a:ea typeface="Montserrat"/>
                <a:cs typeface="Montserrat"/>
                <a:sym typeface="Montserrat"/>
              </a:rPr>
              <a:t>45,000</a:t>
            </a:r>
            <a:endParaRPr b="1" sz="1800">
              <a:solidFill>
                <a:schemeClr val="dk1"/>
              </a:solidFill>
              <a:latin typeface="Montserrat"/>
              <a:ea typeface="Montserrat"/>
              <a:cs typeface="Montserrat"/>
              <a:sym typeface="Montserrat"/>
            </a:endParaRPr>
          </a:p>
        </p:txBody>
      </p:sp>
      <p:grpSp>
        <p:nvGrpSpPr>
          <p:cNvPr id="637" name="Google Shape;637;g831aa77a85_9_411"/>
          <p:cNvGrpSpPr/>
          <p:nvPr/>
        </p:nvGrpSpPr>
        <p:grpSpPr>
          <a:xfrm>
            <a:off x="7142025" y="2823725"/>
            <a:ext cx="1862100" cy="1466700"/>
            <a:chOff x="7142025" y="2823725"/>
            <a:chExt cx="1862100" cy="1466700"/>
          </a:xfrm>
        </p:grpSpPr>
        <p:sp>
          <p:nvSpPr>
            <p:cNvPr id="638" name="Google Shape;638;g831aa77a85_9_411"/>
            <p:cNvSpPr/>
            <p:nvPr/>
          </p:nvSpPr>
          <p:spPr>
            <a:xfrm rot="5400000">
              <a:off x="7339725" y="2626025"/>
              <a:ext cx="1466700" cy="1862100"/>
            </a:xfrm>
            <a:prstGeom prst="wedgeRectCallout">
              <a:avLst>
                <a:gd fmla="val -20137" name="adj1"/>
                <a:gd fmla="val 63889" name="adj2"/>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g831aa77a85_9_411"/>
            <p:cNvSpPr txBox="1"/>
            <p:nvPr/>
          </p:nvSpPr>
          <p:spPr>
            <a:xfrm>
              <a:off x="7194775" y="2873588"/>
              <a:ext cx="1809300" cy="10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State government covers </a:t>
              </a:r>
              <a:r>
                <a:rPr b="1" lang="en">
                  <a:latin typeface="Montserrat"/>
                  <a:ea typeface="Montserrat"/>
                  <a:cs typeface="Montserrat"/>
                  <a:sym typeface="Montserrat"/>
                </a:rPr>
                <a:t>20%</a:t>
              </a:r>
              <a:r>
                <a:rPr lang="en">
                  <a:latin typeface="Montserrat"/>
                  <a:ea typeface="Montserrat"/>
                  <a:cs typeface="Montserrat"/>
                  <a:sym typeface="Montserrat"/>
                </a:rPr>
                <a:t> of out-of-pocket cost for cardiovascular medications</a:t>
              </a:r>
              <a:endParaRPr>
                <a:latin typeface="Montserrat"/>
                <a:ea typeface="Montserrat"/>
                <a:cs typeface="Montserrat"/>
                <a:sym typeface="Montserrat"/>
              </a:endParaRPr>
            </a:p>
          </p:txBody>
        </p:sp>
      </p:grpSp>
      <p:sp>
        <p:nvSpPr>
          <p:cNvPr id="640" name="Google Shape;640;g831aa77a85_9_411"/>
          <p:cNvSpPr txBox="1"/>
          <p:nvPr/>
        </p:nvSpPr>
        <p:spPr>
          <a:xfrm>
            <a:off x="4065950" y="1938000"/>
            <a:ext cx="2690100" cy="489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Montserrat"/>
                <a:ea typeface="Montserrat"/>
                <a:cs typeface="Montserrat"/>
                <a:sym typeface="Montserrat"/>
              </a:rPr>
              <a:t>45,000 x $16,000</a:t>
            </a:r>
            <a:endParaRPr b="1" sz="1800">
              <a:solidFill>
                <a:schemeClr val="dk1"/>
              </a:solidFill>
              <a:latin typeface="Montserrat"/>
              <a:ea typeface="Montserrat"/>
              <a:cs typeface="Montserrat"/>
              <a:sym typeface="Montserrat"/>
            </a:endParaRPr>
          </a:p>
        </p:txBody>
      </p:sp>
      <p:sp>
        <p:nvSpPr>
          <p:cNvPr id="641" name="Google Shape;641;g831aa77a85_9_411"/>
          <p:cNvSpPr txBox="1"/>
          <p:nvPr/>
        </p:nvSpPr>
        <p:spPr>
          <a:xfrm>
            <a:off x="4065950" y="1885325"/>
            <a:ext cx="2842800" cy="489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1"/>
                </a:solidFill>
                <a:latin typeface="Montserrat"/>
                <a:ea typeface="Montserrat"/>
                <a:cs typeface="Montserrat"/>
                <a:sym typeface="Montserrat"/>
              </a:rPr>
              <a:t>45,000 x $16,000 x 5%</a:t>
            </a:r>
            <a:endParaRPr b="1" sz="1800">
              <a:solidFill>
                <a:schemeClr val="dk1"/>
              </a:solidFill>
              <a:latin typeface="Montserrat"/>
              <a:ea typeface="Montserrat"/>
              <a:cs typeface="Montserrat"/>
              <a:sym typeface="Montserrat"/>
            </a:endParaRPr>
          </a:p>
        </p:txBody>
      </p:sp>
      <p:grpSp>
        <p:nvGrpSpPr>
          <p:cNvPr id="642" name="Google Shape;642;g831aa77a85_9_411"/>
          <p:cNvGrpSpPr/>
          <p:nvPr/>
        </p:nvGrpSpPr>
        <p:grpSpPr>
          <a:xfrm>
            <a:off x="7118575" y="1368450"/>
            <a:ext cx="1885550" cy="1153250"/>
            <a:chOff x="9556975" y="1600875"/>
            <a:chExt cx="1885550" cy="1153250"/>
          </a:xfrm>
        </p:grpSpPr>
        <p:sp>
          <p:nvSpPr>
            <p:cNvPr id="643" name="Google Shape;643;g831aa77a85_9_411"/>
            <p:cNvSpPr/>
            <p:nvPr/>
          </p:nvSpPr>
          <p:spPr>
            <a:xfrm rot="5400000">
              <a:off x="9936675" y="1248275"/>
              <a:ext cx="1149600" cy="1862100"/>
            </a:xfrm>
            <a:prstGeom prst="wedgeRectCallout">
              <a:avLst>
                <a:gd fmla="val -3031" name="adj1"/>
                <a:gd fmla="val 69929" name="adj2"/>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g831aa77a85_9_411"/>
            <p:cNvSpPr txBox="1"/>
            <p:nvPr/>
          </p:nvSpPr>
          <p:spPr>
            <a:xfrm>
              <a:off x="9556975" y="1600875"/>
              <a:ext cx="1809300" cy="10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Assume a </a:t>
              </a:r>
              <a:r>
                <a:rPr b="1" lang="en">
                  <a:latin typeface="Montserrat"/>
                  <a:ea typeface="Montserrat"/>
                  <a:cs typeface="Montserrat"/>
                  <a:sym typeface="Montserrat"/>
                </a:rPr>
                <a:t>5% reduction</a:t>
              </a:r>
              <a:r>
                <a:rPr lang="en">
                  <a:latin typeface="Montserrat"/>
                  <a:ea typeface="Montserrat"/>
                  <a:cs typeface="Montserrat"/>
                  <a:sym typeface="Montserrat"/>
                </a:rPr>
                <a:t> in hospitalizations due to CVD</a:t>
              </a:r>
              <a:r>
                <a:rPr baseline="30000" lang="en">
                  <a:latin typeface="Montserrat"/>
                  <a:ea typeface="Montserrat"/>
                  <a:cs typeface="Montserrat"/>
                  <a:sym typeface="Montserrat"/>
                </a:rPr>
                <a:t>3</a:t>
              </a:r>
              <a:endParaRPr baseline="30000">
                <a:latin typeface="Montserrat"/>
                <a:ea typeface="Montserrat"/>
                <a:cs typeface="Montserrat"/>
                <a:sym typeface="Montserrat"/>
              </a:endParaRPr>
            </a:p>
          </p:txBody>
        </p:sp>
      </p:grpSp>
      <p:sp>
        <p:nvSpPr>
          <p:cNvPr id="645" name="Google Shape;645;g831aa77a85_9_411"/>
          <p:cNvSpPr txBox="1"/>
          <p:nvPr/>
        </p:nvSpPr>
        <p:spPr>
          <a:xfrm>
            <a:off x="4065950" y="1930700"/>
            <a:ext cx="2842800" cy="489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5"/>
                </a:solidFill>
                <a:latin typeface="Montserrat"/>
                <a:ea typeface="Montserrat"/>
                <a:cs typeface="Montserrat"/>
                <a:sym typeface="Montserrat"/>
              </a:rPr>
              <a:t>$36 Mil</a:t>
            </a:r>
            <a:endParaRPr b="1" sz="1800">
              <a:solidFill>
                <a:schemeClr val="accent5"/>
              </a:solidFill>
              <a:latin typeface="Montserrat"/>
              <a:ea typeface="Montserrat"/>
              <a:cs typeface="Montserrat"/>
              <a:sym typeface="Montserrat"/>
            </a:endParaRPr>
          </a:p>
        </p:txBody>
      </p:sp>
      <p:sp>
        <p:nvSpPr>
          <p:cNvPr id="646" name="Google Shape;646;g831aa77a85_9_411"/>
          <p:cNvSpPr txBox="1"/>
          <p:nvPr/>
        </p:nvSpPr>
        <p:spPr>
          <a:xfrm>
            <a:off x="4065950" y="2921300"/>
            <a:ext cx="2842800" cy="489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Montserrat"/>
                <a:ea typeface="Montserrat"/>
                <a:cs typeface="Montserrat"/>
                <a:sym typeface="Montserrat"/>
              </a:rPr>
              <a:t>$109 Mil</a:t>
            </a:r>
            <a:endParaRPr b="1" sz="1800">
              <a:latin typeface="Montserrat"/>
              <a:ea typeface="Montserrat"/>
              <a:cs typeface="Montserrat"/>
              <a:sym typeface="Montserrat"/>
            </a:endParaRPr>
          </a:p>
        </p:txBody>
      </p:sp>
      <p:cxnSp>
        <p:nvCxnSpPr>
          <p:cNvPr id="647" name="Google Shape;647;g831aa77a85_9_411"/>
          <p:cNvCxnSpPr/>
          <p:nvPr/>
        </p:nvCxnSpPr>
        <p:spPr>
          <a:xfrm>
            <a:off x="3863975" y="3590925"/>
            <a:ext cx="238200" cy="0"/>
          </a:xfrm>
          <a:prstGeom prst="straightConnector1">
            <a:avLst/>
          </a:prstGeom>
          <a:noFill/>
          <a:ln cap="flat" cmpd="sng" w="38100">
            <a:solidFill>
              <a:schemeClr val="dk2"/>
            </a:solidFill>
            <a:prstDash val="solid"/>
            <a:round/>
            <a:headEnd len="med" w="med" type="none"/>
            <a:tailEnd len="med" w="med" type="none"/>
          </a:ln>
        </p:spPr>
      </p:cxnSp>
      <p:cxnSp>
        <p:nvCxnSpPr>
          <p:cNvPr id="648" name="Google Shape;648;g831aa77a85_9_411"/>
          <p:cNvCxnSpPr/>
          <p:nvPr/>
        </p:nvCxnSpPr>
        <p:spPr>
          <a:xfrm>
            <a:off x="3863975" y="3895725"/>
            <a:ext cx="1279500" cy="5100"/>
          </a:xfrm>
          <a:prstGeom prst="straightConnector1">
            <a:avLst/>
          </a:prstGeom>
          <a:noFill/>
          <a:ln cap="flat" cmpd="sng" w="38100">
            <a:solidFill>
              <a:schemeClr val="dk2"/>
            </a:solidFill>
            <a:prstDash val="solid"/>
            <a:round/>
            <a:headEnd len="med" w="med" type="none"/>
            <a:tailEnd len="med" w="med" type="none"/>
          </a:ln>
        </p:spPr>
      </p:cxnSp>
      <p:sp>
        <p:nvSpPr>
          <p:cNvPr id="649" name="Google Shape;649;g831aa77a85_9_411"/>
          <p:cNvSpPr txBox="1"/>
          <p:nvPr/>
        </p:nvSpPr>
        <p:spPr>
          <a:xfrm>
            <a:off x="4065950" y="3988100"/>
            <a:ext cx="2842800" cy="489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5"/>
                </a:solidFill>
                <a:latin typeface="Montserrat"/>
                <a:ea typeface="Montserrat"/>
                <a:cs typeface="Montserrat"/>
                <a:sym typeface="Montserrat"/>
              </a:rPr>
              <a:t>$14.2 Mil </a:t>
            </a:r>
            <a:r>
              <a:rPr b="1" lang="en" sz="1800">
                <a:latin typeface="Montserrat"/>
                <a:ea typeface="Montserrat"/>
                <a:cs typeface="Montserrat"/>
                <a:sym typeface="Montserrat"/>
              </a:rPr>
              <a:t>Net Savings</a:t>
            </a:r>
            <a:endParaRPr b="1" sz="1800">
              <a:latin typeface="Montserrat"/>
              <a:ea typeface="Montserrat"/>
              <a:cs typeface="Montserrat"/>
              <a:sym typeface="Montserrat"/>
            </a:endParaRPr>
          </a:p>
        </p:txBody>
      </p:sp>
      <p:sp>
        <p:nvSpPr>
          <p:cNvPr id="650" name="Google Shape;650;g831aa77a85_9_411"/>
          <p:cNvSpPr/>
          <p:nvPr/>
        </p:nvSpPr>
        <p:spPr>
          <a:xfrm>
            <a:off x="285675" y="1823213"/>
            <a:ext cx="587700" cy="602400"/>
          </a:xfrm>
          <a:prstGeom prst="mathPlus">
            <a:avLst>
              <a:gd fmla="val 23520" name="adj1"/>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g831aa77a85_9_411"/>
          <p:cNvSpPr/>
          <p:nvPr/>
        </p:nvSpPr>
        <p:spPr>
          <a:xfrm>
            <a:off x="293925" y="2889625"/>
            <a:ext cx="548700" cy="602400"/>
          </a:xfrm>
          <a:prstGeom prst="mathMinus">
            <a:avLst>
              <a:gd fmla="val 23520" name="adj1"/>
            </a:avLst>
          </a:prstGeom>
          <a:solidFill>
            <a:srgbClr val="FFFFFF"/>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g831aa77a85_9_411"/>
          <p:cNvSpPr txBox="1"/>
          <p:nvPr/>
        </p:nvSpPr>
        <p:spPr>
          <a:xfrm>
            <a:off x="3762375" y="1074675"/>
            <a:ext cx="2733600" cy="40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Over the course of 1 year...</a:t>
            </a:r>
            <a:endParaRPr>
              <a:latin typeface="Montserrat"/>
              <a:ea typeface="Montserrat"/>
              <a:cs typeface="Montserrat"/>
              <a:sym typeface="Montserrat"/>
            </a:endParaRPr>
          </a:p>
        </p:txBody>
      </p:sp>
      <p:grpSp>
        <p:nvGrpSpPr>
          <p:cNvPr id="653" name="Google Shape;653;g831aa77a85_9_411"/>
          <p:cNvGrpSpPr/>
          <p:nvPr/>
        </p:nvGrpSpPr>
        <p:grpSpPr>
          <a:xfrm>
            <a:off x="7168375" y="2937525"/>
            <a:ext cx="1862100" cy="1091078"/>
            <a:chOff x="7142025" y="2823725"/>
            <a:chExt cx="1862100" cy="1466700"/>
          </a:xfrm>
        </p:grpSpPr>
        <p:sp>
          <p:nvSpPr>
            <p:cNvPr id="654" name="Google Shape;654;g831aa77a85_9_411"/>
            <p:cNvSpPr/>
            <p:nvPr/>
          </p:nvSpPr>
          <p:spPr>
            <a:xfrm rot="5400000">
              <a:off x="7339725" y="2626025"/>
              <a:ext cx="1466700" cy="1862100"/>
            </a:xfrm>
            <a:prstGeom prst="wedgeRectCallout">
              <a:avLst>
                <a:gd fmla="val -20137" name="adj1"/>
                <a:gd fmla="val 63889" name="adj2"/>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g831aa77a85_9_411"/>
            <p:cNvSpPr txBox="1"/>
            <p:nvPr/>
          </p:nvSpPr>
          <p:spPr>
            <a:xfrm>
              <a:off x="7194775" y="2873588"/>
              <a:ext cx="1809300" cy="105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Individuals pay on average </a:t>
              </a:r>
              <a:r>
                <a:rPr b="1" lang="en">
                  <a:latin typeface="Montserrat"/>
                  <a:ea typeface="Montserrat"/>
                  <a:cs typeface="Montserrat"/>
                  <a:sym typeface="Montserrat"/>
                </a:rPr>
                <a:t>$109 Mil</a:t>
              </a:r>
              <a:r>
                <a:rPr lang="en">
                  <a:latin typeface="Montserrat"/>
                  <a:ea typeface="Montserrat"/>
                  <a:cs typeface="Montserrat"/>
                  <a:sym typeface="Montserrat"/>
                </a:rPr>
                <a:t> for cardiovascular medications</a:t>
              </a:r>
              <a:endParaRPr>
                <a:latin typeface="Montserrat"/>
                <a:ea typeface="Montserrat"/>
                <a:cs typeface="Montserrat"/>
                <a:sym typeface="Montserrat"/>
              </a:endParaRPr>
            </a:p>
          </p:txBody>
        </p:sp>
      </p:grpSp>
      <p:sp>
        <p:nvSpPr>
          <p:cNvPr id="656" name="Google Shape;656;g831aa77a85_9_411"/>
          <p:cNvSpPr txBox="1"/>
          <p:nvPr/>
        </p:nvSpPr>
        <p:spPr>
          <a:xfrm>
            <a:off x="4065950" y="2845100"/>
            <a:ext cx="2842800" cy="489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Montserrat"/>
                <a:ea typeface="Montserrat"/>
                <a:cs typeface="Montserrat"/>
                <a:sym typeface="Montserrat"/>
              </a:rPr>
              <a:t>$</a:t>
            </a:r>
            <a:r>
              <a:rPr b="1" lang="en" sz="1800">
                <a:latin typeface="Montserrat"/>
                <a:ea typeface="Montserrat"/>
                <a:cs typeface="Montserrat"/>
                <a:sym typeface="Montserrat"/>
              </a:rPr>
              <a:t>109 Mil x 20%</a:t>
            </a:r>
            <a:endParaRPr b="1" sz="1800">
              <a:latin typeface="Montserrat"/>
              <a:ea typeface="Montserrat"/>
              <a:cs typeface="Montserrat"/>
              <a:sym typeface="Montserrat"/>
            </a:endParaRPr>
          </a:p>
        </p:txBody>
      </p:sp>
      <p:sp>
        <p:nvSpPr>
          <p:cNvPr id="657" name="Google Shape;657;g831aa77a85_9_411"/>
          <p:cNvSpPr txBox="1"/>
          <p:nvPr/>
        </p:nvSpPr>
        <p:spPr>
          <a:xfrm>
            <a:off x="4065950" y="2840663"/>
            <a:ext cx="2842800" cy="489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accent4"/>
                </a:solidFill>
                <a:latin typeface="Montserrat"/>
                <a:ea typeface="Montserrat"/>
                <a:cs typeface="Montserrat"/>
                <a:sym typeface="Montserrat"/>
              </a:rPr>
              <a:t>$21.8 Mil</a:t>
            </a:r>
            <a:endParaRPr b="1" sz="1800">
              <a:solidFill>
                <a:schemeClr val="accent4"/>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63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000"/>
                                          </p:stCondLst>
                                        </p:cTn>
                                        <p:tgtEl>
                                          <p:spTgt spid="6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63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000"/>
                                          </p:stCondLst>
                                        </p:cTn>
                                        <p:tgtEl>
                                          <p:spTgt spid="63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64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6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000"/>
                                          </p:stCondLst>
                                        </p:cTn>
                                        <p:tgtEl>
                                          <p:spTgt spid="63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6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61" name="Shape 661"/>
        <p:cNvGrpSpPr/>
        <p:nvPr/>
      </p:nvGrpSpPr>
      <p:grpSpPr>
        <a:xfrm>
          <a:off x="0" y="0"/>
          <a:ext cx="0" cy="0"/>
          <a:chOff x="0" y="0"/>
          <a:chExt cx="0" cy="0"/>
        </a:xfrm>
      </p:grpSpPr>
      <p:sp>
        <p:nvSpPr>
          <p:cNvPr id="662" name="Google Shape;662;g831aa77a85_9_5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3" name="Google Shape;663;g831aa77a85_9_523"/>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200"/>
              <a:t>CAVEATS</a:t>
            </a:r>
            <a:endParaRPr sz="2200"/>
          </a:p>
        </p:txBody>
      </p:sp>
      <p:cxnSp>
        <p:nvCxnSpPr>
          <p:cNvPr id="664" name="Google Shape;664;g831aa77a85_9_523"/>
          <p:cNvCxnSpPr/>
          <p:nvPr/>
        </p:nvCxnSpPr>
        <p:spPr>
          <a:xfrm flipH="1" rot="10800000">
            <a:off x="459400" y="881950"/>
            <a:ext cx="1306200" cy="3900"/>
          </a:xfrm>
          <a:prstGeom prst="straightConnector1">
            <a:avLst/>
          </a:prstGeom>
          <a:noFill/>
          <a:ln cap="flat" cmpd="sng" w="19050">
            <a:solidFill>
              <a:schemeClr val="accent3"/>
            </a:solidFill>
            <a:prstDash val="solid"/>
            <a:round/>
            <a:headEnd len="sm" w="sm" type="none"/>
            <a:tailEnd len="sm" w="sm" type="none"/>
          </a:ln>
        </p:spPr>
      </p:cxnSp>
      <p:cxnSp>
        <p:nvCxnSpPr>
          <p:cNvPr id="665" name="Google Shape;665;g831aa77a85_9_523"/>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666" name="Google Shape;666;g831aa77a85_9_523"/>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g831aa77a85_9_523"/>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g831aa77a85_9_523"/>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g831aa77a85_9_523"/>
          <p:cNvSpPr/>
          <p:nvPr/>
        </p:nvSpPr>
        <p:spPr>
          <a:xfrm>
            <a:off x="2935603"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g831aa77a85_9_523"/>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671" name="Google Shape;671;g831aa77a85_9_523"/>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672" name="Google Shape;672;g831aa77a85_9_523"/>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673" name="Google Shape;673;g831aa77a85_9_523"/>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674" name="Google Shape;674;g831aa77a85_9_523"/>
          <p:cNvGrpSpPr/>
          <p:nvPr/>
        </p:nvGrpSpPr>
        <p:grpSpPr>
          <a:xfrm>
            <a:off x="582066" y="4477985"/>
            <a:ext cx="244241" cy="263244"/>
            <a:chOff x="5027525" y="4402450"/>
            <a:chExt cx="477500" cy="496875"/>
          </a:xfrm>
        </p:grpSpPr>
        <p:sp>
          <p:nvSpPr>
            <p:cNvPr id="675" name="Google Shape;675;g831aa77a85_9_523"/>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g831aa77a85_9_523"/>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g831aa77a85_9_523"/>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8" name="Google Shape;678;g831aa77a85_9_523"/>
          <p:cNvGrpSpPr/>
          <p:nvPr/>
        </p:nvGrpSpPr>
        <p:grpSpPr>
          <a:xfrm>
            <a:off x="2245632" y="4506289"/>
            <a:ext cx="258228" cy="227366"/>
            <a:chOff x="3539102" y="2427549"/>
            <a:chExt cx="355099" cy="355481"/>
          </a:xfrm>
        </p:grpSpPr>
        <p:sp>
          <p:nvSpPr>
            <p:cNvPr id="679" name="Google Shape;679;g831aa77a85_9_523"/>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g831aa77a85_9_523"/>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681" name="Google Shape;681;g831aa77a85_9_523"/>
          <p:cNvPicPr preferRelativeResize="0"/>
          <p:nvPr/>
        </p:nvPicPr>
        <p:blipFill>
          <a:blip r:embed="rId3">
            <a:alphaModFix/>
          </a:blip>
          <a:stretch>
            <a:fillRect/>
          </a:stretch>
        </p:blipFill>
        <p:spPr>
          <a:xfrm>
            <a:off x="3009546" y="4492026"/>
            <a:ext cx="258200" cy="255438"/>
          </a:xfrm>
          <a:prstGeom prst="rect">
            <a:avLst/>
          </a:prstGeom>
          <a:noFill/>
          <a:ln>
            <a:noFill/>
          </a:ln>
        </p:spPr>
      </p:pic>
      <p:pic>
        <p:nvPicPr>
          <p:cNvPr id="682" name="Google Shape;682;g831aa77a85_9_523"/>
          <p:cNvPicPr preferRelativeResize="0"/>
          <p:nvPr/>
        </p:nvPicPr>
        <p:blipFill>
          <a:blip r:embed="rId4">
            <a:alphaModFix/>
          </a:blip>
          <a:stretch>
            <a:fillRect/>
          </a:stretch>
        </p:blipFill>
        <p:spPr>
          <a:xfrm>
            <a:off x="1424264" y="4498930"/>
            <a:ext cx="303032" cy="241644"/>
          </a:xfrm>
          <a:prstGeom prst="rect">
            <a:avLst/>
          </a:prstGeom>
          <a:noFill/>
          <a:ln>
            <a:noFill/>
          </a:ln>
        </p:spPr>
      </p:pic>
      <p:sp>
        <p:nvSpPr>
          <p:cNvPr id="683" name="Google Shape;683;g831aa77a85_9_523"/>
          <p:cNvSpPr/>
          <p:nvPr/>
        </p:nvSpPr>
        <p:spPr>
          <a:xfrm>
            <a:off x="7082200" y="1374325"/>
            <a:ext cx="1026600" cy="863700"/>
          </a:xfrm>
          <a:prstGeom prst="hexagon">
            <a:avLst>
              <a:gd fmla="val 25000" name="adj"/>
              <a:gd fmla="val 115470" name="vf"/>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g831aa77a85_9_523"/>
          <p:cNvSpPr/>
          <p:nvPr/>
        </p:nvSpPr>
        <p:spPr>
          <a:xfrm>
            <a:off x="4125375" y="1374325"/>
            <a:ext cx="1026600" cy="863700"/>
          </a:xfrm>
          <a:prstGeom prst="hexagon">
            <a:avLst>
              <a:gd fmla="val 25000" name="adj"/>
              <a:gd fmla="val 115470" name="vf"/>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g831aa77a85_9_523"/>
          <p:cNvSpPr/>
          <p:nvPr/>
        </p:nvSpPr>
        <p:spPr>
          <a:xfrm>
            <a:off x="1005800" y="1382213"/>
            <a:ext cx="1026600" cy="863700"/>
          </a:xfrm>
          <a:prstGeom prst="hexagon">
            <a:avLst>
              <a:gd fmla="val 25000" name="adj"/>
              <a:gd fmla="val 115470" name="vf"/>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g831aa77a85_9_523"/>
          <p:cNvSpPr txBox="1"/>
          <p:nvPr>
            <p:ph idx="2" type="title"/>
          </p:nvPr>
        </p:nvSpPr>
        <p:spPr>
          <a:xfrm>
            <a:off x="591250" y="2347433"/>
            <a:ext cx="1875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600"/>
              <a:t>COST BURDEN</a:t>
            </a:r>
            <a:endParaRPr sz="1600"/>
          </a:p>
        </p:txBody>
      </p:sp>
      <p:sp>
        <p:nvSpPr>
          <p:cNvPr id="687" name="Google Shape;687;g831aa77a85_9_523"/>
          <p:cNvSpPr txBox="1"/>
          <p:nvPr>
            <p:ph idx="1" type="subTitle"/>
          </p:nvPr>
        </p:nvSpPr>
        <p:spPr>
          <a:xfrm>
            <a:off x="470350" y="2608550"/>
            <a:ext cx="2626500" cy="153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t>Knowing cost burden could help determine whether or not possible lack of medication adherence is related to cost</a:t>
            </a:r>
            <a:endParaRPr sz="1600"/>
          </a:p>
          <a:p>
            <a:pPr indent="0" lvl="0" marL="0" rtl="0" algn="l">
              <a:lnSpc>
                <a:spcPct val="115000"/>
              </a:lnSpc>
              <a:spcBef>
                <a:spcPts val="1600"/>
              </a:spcBef>
              <a:spcAft>
                <a:spcPts val="0"/>
              </a:spcAft>
              <a:buNone/>
            </a:pPr>
            <a:r>
              <a:t/>
            </a:r>
            <a:endParaRPr sz="1600"/>
          </a:p>
        </p:txBody>
      </p:sp>
      <p:sp>
        <p:nvSpPr>
          <p:cNvPr id="688" name="Google Shape;688;g831aa77a85_9_523"/>
          <p:cNvSpPr txBox="1"/>
          <p:nvPr>
            <p:ph idx="5" type="title"/>
          </p:nvPr>
        </p:nvSpPr>
        <p:spPr>
          <a:xfrm>
            <a:off x="3701022" y="2339546"/>
            <a:ext cx="1875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600"/>
              <a:t>ADHERENCE</a:t>
            </a:r>
            <a:endParaRPr sz="1600"/>
          </a:p>
        </p:txBody>
      </p:sp>
      <p:sp>
        <p:nvSpPr>
          <p:cNvPr id="689" name="Google Shape;689;g831aa77a85_9_523"/>
          <p:cNvSpPr txBox="1"/>
          <p:nvPr>
            <p:ph idx="6" type="subTitle"/>
          </p:nvPr>
        </p:nvSpPr>
        <p:spPr>
          <a:xfrm>
            <a:off x="3265300" y="2671775"/>
            <a:ext cx="2735400" cy="174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600"/>
              <a:t>With the given data, we cannot be certain if lack of medication adherence is a primary risk for CVD</a:t>
            </a:r>
            <a:endParaRPr sz="1600"/>
          </a:p>
        </p:txBody>
      </p:sp>
      <p:sp>
        <p:nvSpPr>
          <p:cNvPr id="690" name="Google Shape;690;g831aa77a85_9_523"/>
          <p:cNvSpPr txBox="1"/>
          <p:nvPr>
            <p:ph idx="5" type="title"/>
          </p:nvPr>
        </p:nvSpPr>
        <p:spPr>
          <a:xfrm>
            <a:off x="6657847" y="2339546"/>
            <a:ext cx="1875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600"/>
              <a:t>LIMITED DATA</a:t>
            </a:r>
            <a:endParaRPr sz="1600"/>
          </a:p>
        </p:txBody>
      </p:sp>
      <p:sp>
        <p:nvSpPr>
          <p:cNvPr id="691" name="Google Shape;691;g831aa77a85_9_523"/>
          <p:cNvSpPr txBox="1"/>
          <p:nvPr>
            <p:ph idx="6" type="subTitle"/>
          </p:nvPr>
        </p:nvSpPr>
        <p:spPr>
          <a:xfrm>
            <a:off x="6169150" y="2671775"/>
            <a:ext cx="2847300" cy="147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600"/>
              <a:t>With only data for two years (2012 and 2016), any causal assumptions are limited in scope</a:t>
            </a:r>
            <a:endParaRPr i="1" sz="1600"/>
          </a:p>
        </p:txBody>
      </p:sp>
      <p:pic>
        <p:nvPicPr>
          <p:cNvPr id="692" name="Google Shape;692;g831aa77a85_9_523"/>
          <p:cNvPicPr preferRelativeResize="0"/>
          <p:nvPr/>
        </p:nvPicPr>
        <p:blipFill>
          <a:blip r:embed="rId5">
            <a:alphaModFix/>
          </a:blip>
          <a:stretch>
            <a:fillRect/>
          </a:stretch>
        </p:blipFill>
        <p:spPr>
          <a:xfrm>
            <a:off x="1252300" y="1549425"/>
            <a:ext cx="594950" cy="594950"/>
          </a:xfrm>
          <a:prstGeom prst="rect">
            <a:avLst/>
          </a:prstGeom>
          <a:noFill/>
          <a:ln>
            <a:noFill/>
          </a:ln>
        </p:spPr>
      </p:pic>
      <p:pic>
        <p:nvPicPr>
          <p:cNvPr id="693" name="Google Shape;693;g831aa77a85_9_523"/>
          <p:cNvPicPr preferRelativeResize="0"/>
          <p:nvPr/>
        </p:nvPicPr>
        <p:blipFill>
          <a:blip r:embed="rId6">
            <a:alphaModFix/>
          </a:blip>
          <a:stretch>
            <a:fillRect/>
          </a:stretch>
        </p:blipFill>
        <p:spPr>
          <a:xfrm>
            <a:off x="4359849" y="1535199"/>
            <a:ext cx="600700" cy="600700"/>
          </a:xfrm>
          <a:prstGeom prst="rect">
            <a:avLst/>
          </a:prstGeom>
          <a:noFill/>
          <a:ln>
            <a:noFill/>
          </a:ln>
        </p:spPr>
      </p:pic>
      <p:pic>
        <p:nvPicPr>
          <p:cNvPr id="694" name="Google Shape;694;g831aa77a85_9_523"/>
          <p:cNvPicPr preferRelativeResize="0"/>
          <p:nvPr/>
        </p:nvPicPr>
        <p:blipFill>
          <a:blip r:embed="rId7">
            <a:alphaModFix/>
          </a:blip>
          <a:stretch>
            <a:fillRect/>
          </a:stretch>
        </p:blipFill>
        <p:spPr>
          <a:xfrm>
            <a:off x="7285550" y="1506775"/>
            <a:ext cx="600700" cy="600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98" name="Shape 698"/>
        <p:cNvGrpSpPr/>
        <p:nvPr/>
      </p:nvGrpSpPr>
      <p:grpSpPr>
        <a:xfrm>
          <a:off x="0" y="0"/>
          <a:ext cx="0" cy="0"/>
          <a:chOff x="0" y="0"/>
          <a:chExt cx="0" cy="0"/>
        </a:xfrm>
      </p:grpSpPr>
      <p:sp>
        <p:nvSpPr>
          <p:cNvPr id="699" name="Google Shape;699;g830c98ff86_1_9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700" name="Google Shape;700;g830c98ff86_1_93"/>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701" name="Google Shape;701;g830c98ff86_1_93"/>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g830c98ff86_1_93"/>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g830c98ff86_1_93"/>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g830c98ff86_1_93"/>
          <p:cNvSpPr/>
          <p:nvPr/>
        </p:nvSpPr>
        <p:spPr>
          <a:xfrm>
            <a:off x="2935603"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g830c98ff86_1_93"/>
          <p:cNvSpPr txBox="1"/>
          <p:nvPr>
            <p:ph idx="4294967295"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706" name="Google Shape;706;g830c98ff86_1_93"/>
          <p:cNvSpPr txBox="1"/>
          <p:nvPr>
            <p:ph idx="4294967295"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707" name="Google Shape;707;g830c98ff86_1_93"/>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708" name="Google Shape;708;g830c98ff86_1_93"/>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709" name="Google Shape;709;g830c98ff86_1_93"/>
          <p:cNvGrpSpPr/>
          <p:nvPr/>
        </p:nvGrpSpPr>
        <p:grpSpPr>
          <a:xfrm>
            <a:off x="582066" y="4477985"/>
            <a:ext cx="244241" cy="263244"/>
            <a:chOff x="5027525" y="4402450"/>
            <a:chExt cx="477500" cy="496875"/>
          </a:xfrm>
        </p:grpSpPr>
        <p:sp>
          <p:nvSpPr>
            <p:cNvPr id="710" name="Google Shape;710;g830c98ff86_1_93"/>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1" name="Google Shape;711;g830c98ff86_1_93"/>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g830c98ff86_1_93"/>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13" name="Google Shape;713;g830c98ff86_1_93"/>
          <p:cNvGrpSpPr/>
          <p:nvPr/>
        </p:nvGrpSpPr>
        <p:grpSpPr>
          <a:xfrm>
            <a:off x="2245632" y="4506289"/>
            <a:ext cx="258228" cy="227366"/>
            <a:chOff x="3539102" y="2427549"/>
            <a:chExt cx="355099" cy="355481"/>
          </a:xfrm>
        </p:grpSpPr>
        <p:sp>
          <p:nvSpPr>
            <p:cNvPr id="714" name="Google Shape;714;g830c98ff86_1_93"/>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g830c98ff86_1_93"/>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716" name="Google Shape;716;g830c98ff86_1_93"/>
          <p:cNvPicPr preferRelativeResize="0"/>
          <p:nvPr/>
        </p:nvPicPr>
        <p:blipFill>
          <a:blip r:embed="rId3">
            <a:alphaModFix/>
          </a:blip>
          <a:stretch>
            <a:fillRect/>
          </a:stretch>
        </p:blipFill>
        <p:spPr>
          <a:xfrm>
            <a:off x="3009546" y="4492026"/>
            <a:ext cx="258200" cy="255438"/>
          </a:xfrm>
          <a:prstGeom prst="rect">
            <a:avLst/>
          </a:prstGeom>
          <a:noFill/>
          <a:ln>
            <a:noFill/>
          </a:ln>
        </p:spPr>
      </p:pic>
      <p:pic>
        <p:nvPicPr>
          <p:cNvPr id="717" name="Google Shape;717;g830c98ff86_1_93"/>
          <p:cNvPicPr preferRelativeResize="0"/>
          <p:nvPr/>
        </p:nvPicPr>
        <p:blipFill>
          <a:blip r:embed="rId4">
            <a:alphaModFix/>
          </a:blip>
          <a:stretch>
            <a:fillRect/>
          </a:stretch>
        </p:blipFill>
        <p:spPr>
          <a:xfrm>
            <a:off x="1424264" y="4498930"/>
            <a:ext cx="303032" cy="241644"/>
          </a:xfrm>
          <a:prstGeom prst="rect">
            <a:avLst/>
          </a:prstGeom>
          <a:noFill/>
          <a:ln>
            <a:noFill/>
          </a:ln>
        </p:spPr>
      </p:pic>
      <p:sp>
        <p:nvSpPr>
          <p:cNvPr id="718" name="Google Shape;718;g830c98ff86_1_93"/>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lang="en" sz="2200"/>
              <a:t>PREVENTION MATTERS</a:t>
            </a:r>
            <a:endParaRPr sz="2200"/>
          </a:p>
        </p:txBody>
      </p:sp>
      <p:cxnSp>
        <p:nvCxnSpPr>
          <p:cNvPr id="719" name="Google Shape;719;g830c98ff86_1_93"/>
          <p:cNvCxnSpPr/>
          <p:nvPr/>
        </p:nvCxnSpPr>
        <p:spPr>
          <a:xfrm>
            <a:off x="459400" y="885850"/>
            <a:ext cx="3379200" cy="18900"/>
          </a:xfrm>
          <a:prstGeom prst="straightConnector1">
            <a:avLst/>
          </a:prstGeom>
          <a:noFill/>
          <a:ln cap="flat" cmpd="sng" w="19050">
            <a:solidFill>
              <a:schemeClr val="accent3"/>
            </a:solidFill>
            <a:prstDash val="solid"/>
            <a:round/>
            <a:headEnd len="sm" w="sm" type="none"/>
            <a:tailEnd len="sm" w="sm" type="none"/>
          </a:ln>
        </p:spPr>
      </p:cxnSp>
      <p:grpSp>
        <p:nvGrpSpPr>
          <p:cNvPr id="720" name="Google Shape;720;g830c98ff86_1_93"/>
          <p:cNvGrpSpPr/>
          <p:nvPr/>
        </p:nvGrpSpPr>
        <p:grpSpPr>
          <a:xfrm>
            <a:off x="4122113" y="2982758"/>
            <a:ext cx="975972" cy="960059"/>
            <a:chOff x="-28069875" y="3175300"/>
            <a:chExt cx="260725" cy="296150"/>
          </a:xfrm>
        </p:grpSpPr>
        <p:sp>
          <p:nvSpPr>
            <p:cNvPr id="721" name="Google Shape;721;g830c98ff86_1_93"/>
            <p:cNvSpPr/>
            <p:nvPr/>
          </p:nvSpPr>
          <p:spPr>
            <a:xfrm>
              <a:off x="-28059650" y="3192625"/>
              <a:ext cx="26025" cy="70125"/>
            </a:xfrm>
            <a:custGeom>
              <a:rect b="b" l="l" r="r" t="t"/>
              <a:pathLst>
                <a:path extrusionOk="0" h="2805" w="1041">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g830c98ff86_1_93"/>
            <p:cNvSpPr/>
            <p:nvPr/>
          </p:nvSpPr>
          <p:spPr>
            <a:xfrm>
              <a:off x="-27843050" y="3192625"/>
              <a:ext cx="26025" cy="69325"/>
            </a:xfrm>
            <a:custGeom>
              <a:rect b="b" l="l" r="r" t="t"/>
              <a:pathLst>
                <a:path extrusionOk="0" h="2773" w="1041">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g830c98ff86_1_93"/>
            <p:cNvSpPr/>
            <p:nvPr/>
          </p:nvSpPr>
          <p:spPr>
            <a:xfrm>
              <a:off x="-27973000" y="3202075"/>
              <a:ext cx="26000" cy="57525"/>
            </a:xfrm>
            <a:custGeom>
              <a:rect b="b" l="l" r="r" t="t"/>
              <a:pathLst>
                <a:path extrusionOk="0" h="2301" w="104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g830c98ff86_1_93"/>
            <p:cNvSpPr/>
            <p:nvPr/>
          </p:nvSpPr>
          <p:spPr>
            <a:xfrm>
              <a:off x="-27929675" y="3202075"/>
              <a:ext cx="26000" cy="57525"/>
            </a:xfrm>
            <a:custGeom>
              <a:rect b="b" l="l" r="r" t="t"/>
              <a:pathLst>
                <a:path extrusionOk="0" h="2301" w="104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g830c98ff86_1_93"/>
            <p:cNvSpPr/>
            <p:nvPr/>
          </p:nvSpPr>
          <p:spPr>
            <a:xfrm>
              <a:off x="-28016325" y="3175300"/>
              <a:ext cx="26025" cy="91375"/>
            </a:xfrm>
            <a:custGeom>
              <a:rect b="b" l="l" r="r" t="t"/>
              <a:pathLst>
                <a:path extrusionOk="0" h="3655" w="1041">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g830c98ff86_1_93"/>
            <p:cNvSpPr/>
            <p:nvPr/>
          </p:nvSpPr>
          <p:spPr>
            <a:xfrm>
              <a:off x="-27886375" y="3176075"/>
              <a:ext cx="26025" cy="91400"/>
            </a:xfrm>
            <a:custGeom>
              <a:rect b="b" l="l" r="r" t="t"/>
              <a:pathLst>
                <a:path extrusionOk="0" h="3656" w="1041">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g830c98ff86_1_93"/>
            <p:cNvSpPr/>
            <p:nvPr/>
          </p:nvSpPr>
          <p:spPr>
            <a:xfrm>
              <a:off x="-28017900" y="3269025"/>
              <a:ext cx="161475" cy="133125"/>
            </a:xfrm>
            <a:custGeom>
              <a:rect b="b" l="l" r="r" t="t"/>
              <a:pathLst>
                <a:path extrusionOk="0" h="5325" w="6459">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g830c98ff86_1_93"/>
            <p:cNvSpPr/>
            <p:nvPr/>
          </p:nvSpPr>
          <p:spPr>
            <a:xfrm>
              <a:off x="-27930475" y="3269800"/>
              <a:ext cx="121325" cy="201650"/>
            </a:xfrm>
            <a:custGeom>
              <a:rect b="b" l="l" r="r" t="t"/>
              <a:pathLst>
                <a:path extrusionOk="0" h="8066" w="4853">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g830c98ff86_1_93"/>
            <p:cNvSpPr/>
            <p:nvPr/>
          </p:nvSpPr>
          <p:spPr>
            <a:xfrm>
              <a:off x="-28069875" y="3271375"/>
              <a:ext cx="122875" cy="200075"/>
            </a:xfrm>
            <a:custGeom>
              <a:rect b="b" l="l" r="r" t="t"/>
              <a:pathLst>
                <a:path extrusionOk="0" h="8003" w="4915">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0" name="Google Shape;730;g830c98ff86_1_93"/>
          <p:cNvGrpSpPr/>
          <p:nvPr/>
        </p:nvGrpSpPr>
        <p:grpSpPr>
          <a:xfrm>
            <a:off x="2102062" y="1581672"/>
            <a:ext cx="740417" cy="684906"/>
            <a:chOff x="-23615075" y="3148525"/>
            <a:chExt cx="295375" cy="296150"/>
          </a:xfrm>
        </p:grpSpPr>
        <p:sp>
          <p:nvSpPr>
            <p:cNvPr id="731" name="Google Shape;731;g830c98ff86_1_93"/>
            <p:cNvSpPr/>
            <p:nvPr/>
          </p:nvSpPr>
          <p:spPr>
            <a:xfrm>
              <a:off x="-23493775" y="3183950"/>
              <a:ext cx="52775" cy="53600"/>
            </a:xfrm>
            <a:custGeom>
              <a:rect b="b" l="l" r="r" t="t"/>
              <a:pathLst>
                <a:path extrusionOk="0" h="2144" w="2111">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rgbClr val="6D9E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g830c98ff86_1_93"/>
            <p:cNvSpPr/>
            <p:nvPr/>
          </p:nvSpPr>
          <p:spPr>
            <a:xfrm>
              <a:off x="-23615075" y="3268225"/>
              <a:ext cx="34675" cy="173300"/>
            </a:xfrm>
            <a:custGeom>
              <a:rect b="b" l="l" r="r" t="t"/>
              <a:pathLst>
                <a:path extrusionOk="0" h="6932" w="1387">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rgbClr val="6D9E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g830c98ff86_1_93"/>
            <p:cNvSpPr/>
            <p:nvPr/>
          </p:nvSpPr>
          <p:spPr>
            <a:xfrm>
              <a:off x="-23354375" y="3270600"/>
              <a:ext cx="34675" cy="173300"/>
            </a:xfrm>
            <a:custGeom>
              <a:rect b="b" l="l" r="r" t="t"/>
              <a:pathLst>
                <a:path extrusionOk="0" h="6932" w="1387">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rgbClr val="6D9E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g830c98ff86_1_93"/>
            <p:cNvSpPr/>
            <p:nvPr/>
          </p:nvSpPr>
          <p:spPr>
            <a:xfrm>
              <a:off x="-23562300" y="3148525"/>
              <a:ext cx="191400" cy="296150"/>
            </a:xfrm>
            <a:custGeom>
              <a:rect b="b" l="l" r="r" t="t"/>
              <a:pathLst>
                <a:path extrusionOk="0" h="11846" w="7656">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rgbClr val="6D9EE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5" name="Google Shape;735;g830c98ff86_1_93"/>
          <p:cNvGrpSpPr/>
          <p:nvPr/>
        </p:nvGrpSpPr>
        <p:grpSpPr>
          <a:xfrm>
            <a:off x="4169189" y="962040"/>
            <a:ext cx="826015" cy="764078"/>
            <a:chOff x="-20946600" y="3317850"/>
            <a:chExt cx="304825" cy="304050"/>
          </a:xfrm>
        </p:grpSpPr>
        <p:sp>
          <p:nvSpPr>
            <p:cNvPr id="736" name="Google Shape;736;g830c98ff86_1_93"/>
            <p:cNvSpPr/>
            <p:nvPr/>
          </p:nvSpPr>
          <p:spPr>
            <a:xfrm>
              <a:off x="-20946600" y="3317850"/>
              <a:ext cx="232350" cy="248925"/>
            </a:xfrm>
            <a:custGeom>
              <a:rect b="b" l="l" r="r" t="t"/>
              <a:pathLst>
                <a:path extrusionOk="0" h="9957" w="9294">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rgbClr val="387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g830c98ff86_1_93"/>
            <p:cNvSpPr/>
            <p:nvPr/>
          </p:nvSpPr>
          <p:spPr>
            <a:xfrm>
              <a:off x="-20775700" y="3318650"/>
              <a:ext cx="133925" cy="249700"/>
            </a:xfrm>
            <a:custGeom>
              <a:rect b="b" l="l" r="r" t="t"/>
              <a:pathLst>
                <a:path extrusionOk="0" h="9988" w="5357">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rgbClr val="387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g830c98ff86_1_93"/>
            <p:cNvSpPr/>
            <p:nvPr/>
          </p:nvSpPr>
          <p:spPr>
            <a:xfrm>
              <a:off x="-20890700" y="3586425"/>
              <a:ext cx="195375" cy="35475"/>
            </a:xfrm>
            <a:custGeom>
              <a:rect b="b" l="l" r="r" t="t"/>
              <a:pathLst>
                <a:path extrusionOk="0" h="1419" w="7815">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rgbClr val="38761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39" name="Google Shape;739;g830c98ff86_1_93"/>
          <p:cNvSpPr/>
          <p:nvPr/>
        </p:nvSpPr>
        <p:spPr>
          <a:xfrm>
            <a:off x="6321926" y="1610000"/>
            <a:ext cx="826031" cy="628226"/>
          </a:xfrm>
          <a:custGeom>
            <a:rect b="b" l="l" r="r" t="t"/>
            <a:pathLst>
              <a:path extrusionOk="0" h="12634" w="15029">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rgbClr val="E066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40" name="Google Shape;740;g830c98ff86_1_93"/>
          <p:cNvCxnSpPr/>
          <p:nvPr/>
        </p:nvCxnSpPr>
        <p:spPr>
          <a:xfrm>
            <a:off x="2911825" y="2655200"/>
            <a:ext cx="924600" cy="510000"/>
          </a:xfrm>
          <a:prstGeom prst="straightConnector1">
            <a:avLst/>
          </a:prstGeom>
          <a:noFill/>
          <a:ln cap="flat" cmpd="sng" w="28575">
            <a:solidFill>
              <a:schemeClr val="dk2"/>
            </a:solidFill>
            <a:prstDash val="solid"/>
            <a:round/>
            <a:headEnd len="med" w="med" type="none"/>
            <a:tailEnd len="med" w="med" type="triangle"/>
          </a:ln>
        </p:spPr>
      </p:cxnSp>
      <p:cxnSp>
        <p:nvCxnSpPr>
          <p:cNvPr id="741" name="Google Shape;741;g830c98ff86_1_93"/>
          <p:cNvCxnSpPr/>
          <p:nvPr/>
        </p:nvCxnSpPr>
        <p:spPr>
          <a:xfrm>
            <a:off x="4622775" y="2208850"/>
            <a:ext cx="0" cy="701400"/>
          </a:xfrm>
          <a:prstGeom prst="straightConnector1">
            <a:avLst/>
          </a:prstGeom>
          <a:noFill/>
          <a:ln cap="flat" cmpd="sng" w="28575">
            <a:solidFill>
              <a:schemeClr val="dk2"/>
            </a:solidFill>
            <a:prstDash val="solid"/>
            <a:round/>
            <a:headEnd len="med" w="med" type="none"/>
            <a:tailEnd len="med" w="med" type="triangle"/>
          </a:ln>
        </p:spPr>
      </p:cxnSp>
      <p:cxnSp>
        <p:nvCxnSpPr>
          <p:cNvPr id="742" name="Google Shape;742;g830c98ff86_1_93"/>
          <p:cNvCxnSpPr/>
          <p:nvPr/>
        </p:nvCxnSpPr>
        <p:spPr>
          <a:xfrm flipH="1">
            <a:off x="5383775" y="2571375"/>
            <a:ext cx="930900" cy="572700"/>
          </a:xfrm>
          <a:prstGeom prst="straightConnector1">
            <a:avLst/>
          </a:prstGeom>
          <a:noFill/>
          <a:ln cap="flat" cmpd="sng" w="28575">
            <a:solidFill>
              <a:schemeClr val="dk2"/>
            </a:solidFill>
            <a:prstDash val="solid"/>
            <a:round/>
            <a:headEnd len="med" w="med" type="none"/>
            <a:tailEnd len="med" w="med" type="triangle"/>
          </a:ln>
        </p:spPr>
      </p:cxnSp>
      <p:sp>
        <p:nvSpPr>
          <p:cNvPr id="743" name="Google Shape;743;g830c98ff86_1_93"/>
          <p:cNvSpPr txBox="1"/>
          <p:nvPr>
            <p:ph idx="4294967295" type="body"/>
          </p:nvPr>
        </p:nvSpPr>
        <p:spPr>
          <a:xfrm>
            <a:off x="1533250" y="2266575"/>
            <a:ext cx="18780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t>Medical Access</a:t>
            </a:r>
            <a:endParaRPr b="1" sz="1600"/>
          </a:p>
        </p:txBody>
      </p:sp>
      <p:sp>
        <p:nvSpPr>
          <p:cNvPr id="744" name="Google Shape;744;g830c98ff86_1_93"/>
          <p:cNvSpPr txBox="1"/>
          <p:nvPr>
            <p:ph idx="4294967295" type="body"/>
          </p:nvPr>
        </p:nvSpPr>
        <p:spPr>
          <a:xfrm>
            <a:off x="3605925" y="1770688"/>
            <a:ext cx="20337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t>Healthy Routines</a:t>
            </a:r>
            <a:endParaRPr b="1" sz="1600"/>
          </a:p>
        </p:txBody>
      </p:sp>
      <p:sp>
        <p:nvSpPr>
          <p:cNvPr id="745" name="Google Shape;745;g830c98ff86_1_93"/>
          <p:cNvSpPr txBox="1"/>
          <p:nvPr>
            <p:ph idx="4294967295" type="body"/>
          </p:nvPr>
        </p:nvSpPr>
        <p:spPr>
          <a:xfrm>
            <a:off x="5795938" y="2208850"/>
            <a:ext cx="18780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t>Healthy Diet</a:t>
            </a:r>
            <a:endParaRPr b="1" sz="1600"/>
          </a:p>
        </p:txBody>
      </p:sp>
      <p:sp>
        <p:nvSpPr>
          <p:cNvPr id="746" name="Google Shape;746;g830c98ff86_1_93"/>
          <p:cNvSpPr txBox="1"/>
          <p:nvPr>
            <p:ph idx="4294967295" type="body"/>
          </p:nvPr>
        </p:nvSpPr>
        <p:spPr>
          <a:xfrm>
            <a:off x="3699775" y="3863825"/>
            <a:ext cx="1878000" cy="62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t>Improved</a:t>
            </a:r>
            <a:endParaRPr b="1" sz="1600"/>
          </a:p>
          <a:p>
            <a:pPr indent="0" lvl="0" marL="0" rtl="0" algn="ctr">
              <a:spcBef>
                <a:spcPts val="0"/>
              </a:spcBef>
              <a:spcAft>
                <a:spcPts val="0"/>
              </a:spcAft>
              <a:buNone/>
            </a:pPr>
            <a:r>
              <a:rPr b="1" lang="en" sz="1600"/>
              <a:t>Heart Health</a:t>
            </a:r>
            <a:endParaRPr b="1" sz="1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50" name="Shape 750"/>
        <p:cNvGrpSpPr/>
        <p:nvPr/>
      </p:nvGrpSpPr>
      <p:grpSpPr>
        <a:xfrm>
          <a:off x="0" y="0"/>
          <a:ext cx="0" cy="0"/>
          <a:chOff x="0" y="0"/>
          <a:chExt cx="0" cy="0"/>
        </a:xfrm>
      </p:grpSpPr>
      <p:sp>
        <p:nvSpPr>
          <p:cNvPr id="751" name="Google Shape;751;g82eb9f9b71_1_12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752" name="Google Shape;752;g82eb9f9b71_1_1219"/>
          <p:cNvCxnSpPr/>
          <p:nvPr/>
        </p:nvCxnSpPr>
        <p:spPr>
          <a:xfrm>
            <a:off x="-83550" y="1659102"/>
            <a:ext cx="9311100" cy="0"/>
          </a:xfrm>
          <a:prstGeom prst="straightConnector1">
            <a:avLst/>
          </a:prstGeom>
          <a:noFill/>
          <a:ln cap="flat" cmpd="sng" w="19050">
            <a:solidFill>
              <a:schemeClr val="accent1"/>
            </a:solidFill>
            <a:prstDash val="solid"/>
            <a:round/>
            <a:headEnd len="sm" w="sm" type="none"/>
            <a:tailEnd len="sm" w="sm" type="none"/>
          </a:ln>
        </p:spPr>
      </p:cxnSp>
      <p:sp>
        <p:nvSpPr>
          <p:cNvPr id="753" name="Google Shape;753;g82eb9f9b71_1_1219"/>
          <p:cNvSpPr txBox="1"/>
          <p:nvPr>
            <p:ph idx="2" type="title"/>
          </p:nvPr>
        </p:nvSpPr>
        <p:spPr>
          <a:xfrm>
            <a:off x="3206988" y="2126750"/>
            <a:ext cx="2493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600"/>
              <a:t>INSIGHTS</a:t>
            </a:r>
            <a:endParaRPr sz="1600"/>
          </a:p>
        </p:txBody>
      </p:sp>
      <p:sp>
        <p:nvSpPr>
          <p:cNvPr id="754" name="Google Shape;754;g82eb9f9b71_1_1219"/>
          <p:cNvSpPr txBox="1"/>
          <p:nvPr>
            <p:ph idx="1" type="subTitle"/>
          </p:nvPr>
        </p:nvSpPr>
        <p:spPr>
          <a:xfrm>
            <a:off x="3206988" y="2458972"/>
            <a:ext cx="24933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sz="1600"/>
              <a:t>The disparity is most apparent for patients 45+ with either commercial or Medicare coverage</a:t>
            </a:r>
            <a:endParaRPr sz="1600"/>
          </a:p>
        </p:txBody>
      </p:sp>
      <p:sp>
        <p:nvSpPr>
          <p:cNvPr id="755" name="Google Shape;755;g82eb9f9b71_1_1219"/>
          <p:cNvSpPr txBox="1"/>
          <p:nvPr>
            <p:ph idx="3" type="title"/>
          </p:nvPr>
        </p:nvSpPr>
        <p:spPr>
          <a:xfrm>
            <a:off x="6339323" y="2126750"/>
            <a:ext cx="2493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600"/>
              <a:t>SOLUTION</a:t>
            </a:r>
            <a:endParaRPr sz="1600"/>
          </a:p>
        </p:txBody>
      </p:sp>
      <p:sp>
        <p:nvSpPr>
          <p:cNvPr id="756" name="Google Shape;756;g82eb9f9b71_1_1219"/>
          <p:cNvSpPr txBox="1"/>
          <p:nvPr>
            <p:ph idx="4" type="subTitle"/>
          </p:nvPr>
        </p:nvSpPr>
        <p:spPr>
          <a:xfrm>
            <a:off x="6339323" y="2458972"/>
            <a:ext cx="24933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lang="en" sz="1600"/>
              <a:t>Addressing the disparity by increasing CVD prescription coverage for this at risk population may increase health outcomes and reduce costs</a:t>
            </a:r>
            <a:endParaRPr sz="1600"/>
          </a:p>
        </p:txBody>
      </p:sp>
      <p:sp>
        <p:nvSpPr>
          <p:cNvPr id="757" name="Google Shape;757;g82eb9f9b71_1_1219"/>
          <p:cNvSpPr txBox="1"/>
          <p:nvPr>
            <p:ph idx="1" type="subTitle"/>
          </p:nvPr>
        </p:nvSpPr>
        <p:spPr>
          <a:xfrm>
            <a:off x="82788" y="2458972"/>
            <a:ext cx="24933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200"/>
              <a:buNone/>
            </a:pPr>
            <a:r>
              <a:rPr lang="en" sz="1600"/>
              <a:t>There is a disparity between Cardiovascular Drug Usage and Insurance Coverage</a:t>
            </a:r>
            <a:endParaRPr sz="1600"/>
          </a:p>
        </p:txBody>
      </p:sp>
      <p:sp>
        <p:nvSpPr>
          <p:cNvPr id="758" name="Google Shape;758;g82eb9f9b71_1_1219"/>
          <p:cNvSpPr txBox="1"/>
          <p:nvPr>
            <p:ph idx="2" type="title"/>
          </p:nvPr>
        </p:nvSpPr>
        <p:spPr>
          <a:xfrm>
            <a:off x="82788" y="2126750"/>
            <a:ext cx="24933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1600"/>
              <a:t>PROBLEM</a:t>
            </a:r>
            <a:endParaRPr sz="1600"/>
          </a:p>
        </p:txBody>
      </p:sp>
      <p:sp>
        <p:nvSpPr>
          <p:cNvPr id="759" name="Google Shape;759;g82eb9f9b71_1_1219"/>
          <p:cNvSpPr/>
          <p:nvPr/>
        </p:nvSpPr>
        <p:spPr>
          <a:xfrm>
            <a:off x="7205575" y="1304075"/>
            <a:ext cx="760800" cy="719700"/>
          </a:xfrm>
          <a:prstGeom prst="hexagon">
            <a:avLst>
              <a:gd fmla="val 25000" name="adj"/>
              <a:gd fmla="val 115470" name="vf"/>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g82eb9f9b71_1_1219"/>
          <p:cNvSpPr/>
          <p:nvPr/>
        </p:nvSpPr>
        <p:spPr>
          <a:xfrm>
            <a:off x="4081375" y="1304075"/>
            <a:ext cx="760800" cy="719700"/>
          </a:xfrm>
          <a:prstGeom prst="hexagon">
            <a:avLst>
              <a:gd fmla="val 25000" name="adj"/>
              <a:gd fmla="val 115470" name="vf"/>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g82eb9f9b71_1_1219"/>
          <p:cNvSpPr/>
          <p:nvPr/>
        </p:nvSpPr>
        <p:spPr>
          <a:xfrm>
            <a:off x="957175" y="1304075"/>
            <a:ext cx="760800" cy="719700"/>
          </a:xfrm>
          <a:prstGeom prst="hexagon">
            <a:avLst>
              <a:gd fmla="val 25000" name="adj"/>
              <a:gd fmla="val 115470" name="vf"/>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g82eb9f9b71_1_1219"/>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200"/>
              <a:t>CONCLUSION</a:t>
            </a:r>
            <a:endParaRPr sz="2200"/>
          </a:p>
        </p:txBody>
      </p:sp>
      <p:cxnSp>
        <p:nvCxnSpPr>
          <p:cNvPr id="763" name="Google Shape;763;g82eb9f9b71_1_1219"/>
          <p:cNvCxnSpPr/>
          <p:nvPr/>
        </p:nvCxnSpPr>
        <p:spPr>
          <a:xfrm flipH="1" rot="10800000">
            <a:off x="459400" y="872650"/>
            <a:ext cx="2066400" cy="13200"/>
          </a:xfrm>
          <a:prstGeom prst="straightConnector1">
            <a:avLst/>
          </a:prstGeom>
          <a:noFill/>
          <a:ln cap="flat" cmpd="sng" w="19050">
            <a:solidFill>
              <a:schemeClr val="accent3"/>
            </a:solidFill>
            <a:prstDash val="solid"/>
            <a:round/>
            <a:headEnd len="sm" w="sm" type="none"/>
            <a:tailEnd len="sm" w="sm" type="none"/>
          </a:ln>
        </p:spPr>
      </p:cxnSp>
      <p:cxnSp>
        <p:nvCxnSpPr>
          <p:cNvPr id="764" name="Google Shape;764;g82eb9f9b71_1_1219"/>
          <p:cNvCxnSpPr/>
          <p:nvPr/>
        </p:nvCxnSpPr>
        <p:spPr>
          <a:xfrm flipH="1" rot="10800000">
            <a:off x="-90900" y="4592444"/>
            <a:ext cx="9551400" cy="27300"/>
          </a:xfrm>
          <a:prstGeom prst="straightConnector1">
            <a:avLst/>
          </a:prstGeom>
          <a:noFill/>
          <a:ln cap="flat" cmpd="sng" w="19050">
            <a:solidFill>
              <a:srgbClr val="FBD76D"/>
            </a:solidFill>
            <a:prstDash val="solid"/>
            <a:round/>
            <a:headEnd len="sm" w="sm" type="none"/>
            <a:tailEnd len="sm" w="sm" type="none"/>
          </a:ln>
        </p:spPr>
      </p:cxnSp>
      <p:sp>
        <p:nvSpPr>
          <p:cNvPr id="765" name="Google Shape;765;g82eb9f9b71_1_1219"/>
          <p:cNvSpPr/>
          <p:nvPr/>
        </p:nvSpPr>
        <p:spPr>
          <a:xfrm>
            <a:off x="474725"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g82eb9f9b71_1_1219"/>
          <p:cNvSpPr/>
          <p:nvPr/>
        </p:nvSpPr>
        <p:spPr>
          <a:xfrm>
            <a:off x="1365157"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g82eb9f9b71_1_1219"/>
          <p:cNvSpPr/>
          <p:nvPr/>
        </p:nvSpPr>
        <p:spPr>
          <a:xfrm>
            <a:off x="2171421" y="4418875"/>
            <a:ext cx="405900" cy="402000"/>
          </a:xfrm>
          <a:prstGeom prst="ellipse">
            <a:avLst/>
          </a:prstGeom>
          <a:solidFill>
            <a:schemeClr val="lt2"/>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g82eb9f9b71_1_1219"/>
          <p:cNvSpPr/>
          <p:nvPr/>
        </p:nvSpPr>
        <p:spPr>
          <a:xfrm>
            <a:off x="2935603" y="4418875"/>
            <a:ext cx="405900" cy="402000"/>
          </a:xfrm>
          <a:prstGeom prst="ellipse">
            <a:avLst/>
          </a:prstGeom>
          <a:solidFill>
            <a:schemeClr val="accent3"/>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g82eb9f9b71_1_1219"/>
          <p:cNvSpPr txBox="1"/>
          <p:nvPr>
            <p:ph idx="3" type="title"/>
          </p:nvPr>
        </p:nvSpPr>
        <p:spPr>
          <a:xfrm>
            <a:off x="209468"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BACKGROUND &amp; MOTIVATION</a:t>
            </a:r>
            <a:endParaRPr sz="700"/>
          </a:p>
        </p:txBody>
      </p:sp>
      <p:sp>
        <p:nvSpPr>
          <p:cNvPr id="770" name="Google Shape;770;g82eb9f9b71_1_1219"/>
          <p:cNvSpPr txBox="1"/>
          <p:nvPr>
            <p:ph idx="7" type="title"/>
          </p:nvPr>
        </p:nvSpPr>
        <p:spPr>
          <a:xfrm>
            <a:off x="1099899"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METHODOLOGY</a:t>
            </a:r>
            <a:endParaRPr sz="700"/>
          </a:p>
        </p:txBody>
      </p:sp>
      <p:sp>
        <p:nvSpPr>
          <p:cNvPr id="771" name="Google Shape;771;g82eb9f9b71_1_1219"/>
          <p:cNvSpPr txBox="1"/>
          <p:nvPr>
            <p:ph idx="4294967295" type="title"/>
          </p:nvPr>
        </p:nvSpPr>
        <p:spPr>
          <a:xfrm>
            <a:off x="1906163"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DATA</a:t>
            </a:r>
            <a:endParaRPr sz="700"/>
          </a:p>
          <a:p>
            <a:pPr indent="0" lvl="0" marL="0" rtl="0" algn="ctr">
              <a:lnSpc>
                <a:spcPct val="100000"/>
              </a:lnSpc>
              <a:spcBef>
                <a:spcPts val="0"/>
              </a:spcBef>
              <a:spcAft>
                <a:spcPts val="0"/>
              </a:spcAft>
              <a:buSzPts val="1400"/>
              <a:buNone/>
            </a:pPr>
            <a:r>
              <a:rPr lang="en" sz="700"/>
              <a:t>ANALYSIS</a:t>
            </a:r>
            <a:endParaRPr sz="700"/>
          </a:p>
        </p:txBody>
      </p:sp>
      <p:sp>
        <p:nvSpPr>
          <p:cNvPr id="772" name="Google Shape;772;g82eb9f9b71_1_1219"/>
          <p:cNvSpPr txBox="1"/>
          <p:nvPr>
            <p:ph idx="4294967295" type="title"/>
          </p:nvPr>
        </p:nvSpPr>
        <p:spPr>
          <a:xfrm>
            <a:off x="2670344" y="4789246"/>
            <a:ext cx="936300" cy="313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1400"/>
              <a:buNone/>
            </a:pPr>
            <a:r>
              <a:rPr lang="en" sz="700"/>
              <a:t>PROPOSED SOLUTIONS</a:t>
            </a:r>
            <a:endParaRPr sz="700"/>
          </a:p>
        </p:txBody>
      </p:sp>
      <p:grpSp>
        <p:nvGrpSpPr>
          <p:cNvPr id="773" name="Google Shape;773;g82eb9f9b71_1_1219"/>
          <p:cNvGrpSpPr/>
          <p:nvPr/>
        </p:nvGrpSpPr>
        <p:grpSpPr>
          <a:xfrm>
            <a:off x="582066" y="4477985"/>
            <a:ext cx="244241" cy="263244"/>
            <a:chOff x="5027525" y="4402450"/>
            <a:chExt cx="477500" cy="496875"/>
          </a:xfrm>
        </p:grpSpPr>
        <p:sp>
          <p:nvSpPr>
            <p:cNvPr id="774" name="Google Shape;774;g82eb9f9b71_1_1219"/>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g82eb9f9b71_1_1219"/>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6" name="Google Shape;776;g82eb9f9b71_1_1219"/>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7" name="Google Shape;777;g82eb9f9b71_1_1219"/>
          <p:cNvGrpSpPr/>
          <p:nvPr/>
        </p:nvGrpSpPr>
        <p:grpSpPr>
          <a:xfrm>
            <a:off x="2245632" y="4506289"/>
            <a:ext cx="258228" cy="227366"/>
            <a:chOff x="3539102" y="2427549"/>
            <a:chExt cx="355099" cy="355481"/>
          </a:xfrm>
        </p:grpSpPr>
        <p:sp>
          <p:nvSpPr>
            <p:cNvPr id="778" name="Google Shape;778;g82eb9f9b71_1_1219"/>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g82eb9f9b71_1_1219"/>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780" name="Google Shape;780;g82eb9f9b71_1_1219"/>
          <p:cNvPicPr preferRelativeResize="0"/>
          <p:nvPr/>
        </p:nvPicPr>
        <p:blipFill>
          <a:blip r:embed="rId3">
            <a:alphaModFix/>
          </a:blip>
          <a:stretch>
            <a:fillRect/>
          </a:stretch>
        </p:blipFill>
        <p:spPr>
          <a:xfrm>
            <a:off x="3009546" y="4492026"/>
            <a:ext cx="258200" cy="255438"/>
          </a:xfrm>
          <a:prstGeom prst="rect">
            <a:avLst/>
          </a:prstGeom>
          <a:noFill/>
          <a:ln>
            <a:noFill/>
          </a:ln>
        </p:spPr>
      </p:pic>
      <p:pic>
        <p:nvPicPr>
          <p:cNvPr id="781" name="Google Shape;781;g82eb9f9b71_1_1219"/>
          <p:cNvPicPr preferRelativeResize="0"/>
          <p:nvPr/>
        </p:nvPicPr>
        <p:blipFill>
          <a:blip r:embed="rId4">
            <a:alphaModFix/>
          </a:blip>
          <a:stretch>
            <a:fillRect/>
          </a:stretch>
        </p:blipFill>
        <p:spPr>
          <a:xfrm>
            <a:off x="1424264" y="4498930"/>
            <a:ext cx="303032" cy="241644"/>
          </a:xfrm>
          <a:prstGeom prst="rect">
            <a:avLst/>
          </a:prstGeom>
          <a:noFill/>
          <a:ln>
            <a:noFill/>
          </a:ln>
        </p:spPr>
      </p:pic>
      <p:pic>
        <p:nvPicPr>
          <p:cNvPr id="782" name="Google Shape;782;g82eb9f9b71_1_1219"/>
          <p:cNvPicPr preferRelativeResize="0"/>
          <p:nvPr/>
        </p:nvPicPr>
        <p:blipFill>
          <a:blip r:embed="rId3">
            <a:alphaModFix/>
          </a:blip>
          <a:stretch>
            <a:fillRect/>
          </a:stretch>
        </p:blipFill>
        <p:spPr>
          <a:xfrm>
            <a:off x="7311625" y="1360000"/>
            <a:ext cx="548700" cy="572700"/>
          </a:xfrm>
          <a:prstGeom prst="rect">
            <a:avLst/>
          </a:prstGeom>
          <a:noFill/>
          <a:ln>
            <a:noFill/>
          </a:ln>
        </p:spPr>
      </p:pic>
      <p:grpSp>
        <p:nvGrpSpPr>
          <p:cNvPr id="783" name="Google Shape;783;g82eb9f9b71_1_1219"/>
          <p:cNvGrpSpPr/>
          <p:nvPr/>
        </p:nvGrpSpPr>
        <p:grpSpPr>
          <a:xfrm>
            <a:off x="4260609" y="1399239"/>
            <a:ext cx="402328" cy="464365"/>
            <a:chOff x="3539102" y="2427549"/>
            <a:chExt cx="355099" cy="355481"/>
          </a:xfrm>
        </p:grpSpPr>
        <p:sp>
          <p:nvSpPr>
            <p:cNvPr id="784" name="Google Shape;784;g82eb9f9b71_1_1219"/>
            <p:cNvSpPr/>
            <p:nvPr/>
          </p:nvSpPr>
          <p:spPr>
            <a:xfrm>
              <a:off x="3539102" y="2561320"/>
              <a:ext cx="355099" cy="221710"/>
            </a:xfrm>
            <a:custGeom>
              <a:rect b="b" l="l" r="r" t="t"/>
              <a:pathLst>
                <a:path extrusionOk="0" h="6966" w="11157">
                  <a:moveTo>
                    <a:pt x="2953" y="3131"/>
                  </a:moveTo>
                  <a:lnTo>
                    <a:pt x="2953" y="6644"/>
                  </a:lnTo>
                  <a:lnTo>
                    <a:pt x="1537" y="6644"/>
                  </a:lnTo>
                  <a:lnTo>
                    <a:pt x="1537" y="3131"/>
                  </a:lnTo>
                  <a:close/>
                  <a:moveTo>
                    <a:pt x="6263" y="2250"/>
                  </a:moveTo>
                  <a:lnTo>
                    <a:pt x="6263" y="6644"/>
                  </a:lnTo>
                  <a:lnTo>
                    <a:pt x="4858" y="6644"/>
                  </a:lnTo>
                  <a:lnTo>
                    <a:pt x="4858" y="2250"/>
                  </a:lnTo>
                  <a:close/>
                  <a:moveTo>
                    <a:pt x="9585" y="333"/>
                  </a:moveTo>
                  <a:lnTo>
                    <a:pt x="9585" y="6644"/>
                  </a:lnTo>
                  <a:lnTo>
                    <a:pt x="8168" y="6644"/>
                  </a:lnTo>
                  <a:lnTo>
                    <a:pt x="8168" y="333"/>
                  </a:lnTo>
                  <a:close/>
                  <a:moveTo>
                    <a:pt x="8025" y="0"/>
                  </a:moveTo>
                  <a:cubicBezTo>
                    <a:pt x="7930" y="0"/>
                    <a:pt x="7859" y="83"/>
                    <a:pt x="7859" y="167"/>
                  </a:cubicBezTo>
                  <a:lnTo>
                    <a:pt x="7859" y="6644"/>
                  </a:lnTo>
                  <a:lnTo>
                    <a:pt x="6609" y="6644"/>
                  </a:lnTo>
                  <a:lnTo>
                    <a:pt x="6609" y="2084"/>
                  </a:lnTo>
                  <a:cubicBezTo>
                    <a:pt x="6609" y="2000"/>
                    <a:pt x="6537" y="1917"/>
                    <a:pt x="6442" y="1917"/>
                  </a:cubicBezTo>
                  <a:lnTo>
                    <a:pt x="4704" y="1917"/>
                  </a:lnTo>
                  <a:cubicBezTo>
                    <a:pt x="4608" y="1917"/>
                    <a:pt x="4537" y="2000"/>
                    <a:pt x="4537" y="2084"/>
                  </a:cubicBezTo>
                  <a:lnTo>
                    <a:pt x="4537" y="6644"/>
                  </a:lnTo>
                  <a:lnTo>
                    <a:pt x="3287" y="6644"/>
                  </a:lnTo>
                  <a:lnTo>
                    <a:pt x="3287" y="2965"/>
                  </a:lnTo>
                  <a:cubicBezTo>
                    <a:pt x="3287" y="2881"/>
                    <a:pt x="3215" y="2798"/>
                    <a:pt x="3120" y="2798"/>
                  </a:cubicBezTo>
                  <a:lnTo>
                    <a:pt x="1382" y="2798"/>
                  </a:lnTo>
                  <a:cubicBezTo>
                    <a:pt x="1298" y="2798"/>
                    <a:pt x="1215" y="2881"/>
                    <a:pt x="1215" y="2965"/>
                  </a:cubicBezTo>
                  <a:lnTo>
                    <a:pt x="1215" y="6644"/>
                  </a:lnTo>
                  <a:lnTo>
                    <a:pt x="167" y="6644"/>
                  </a:lnTo>
                  <a:cubicBezTo>
                    <a:pt x="72" y="6644"/>
                    <a:pt x="1" y="6715"/>
                    <a:pt x="1" y="6810"/>
                  </a:cubicBezTo>
                  <a:cubicBezTo>
                    <a:pt x="1" y="6894"/>
                    <a:pt x="72" y="6965"/>
                    <a:pt x="167" y="6965"/>
                  </a:cubicBezTo>
                  <a:lnTo>
                    <a:pt x="11002" y="6965"/>
                  </a:lnTo>
                  <a:cubicBezTo>
                    <a:pt x="11085" y="6965"/>
                    <a:pt x="11157" y="6894"/>
                    <a:pt x="11157" y="6810"/>
                  </a:cubicBezTo>
                  <a:cubicBezTo>
                    <a:pt x="11145" y="6715"/>
                    <a:pt x="11073" y="6644"/>
                    <a:pt x="10990" y="6644"/>
                  </a:cubicBezTo>
                  <a:lnTo>
                    <a:pt x="9930" y="6644"/>
                  </a:lnTo>
                  <a:lnTo>
                    <a:pt x="9930" y="167"/>
                  </a:lnTo>
                  <a:cubicBezTo>
                    <a:pt x="9930" y="83"/>
                    <a:pt x="9859" y="0"/>
                    <a:pt x="9764"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g82eb9f9b71_1_1219"/>
            <p:cNvSpPr/>
            <p:nvPr/>
          </p:nvSpPr>
          <p:spPr>
            <a:xfrm>
              <a:off x="3544417" y="2427549"/>
              <a:ext cx="339568" cy="205415"/>
            </a:xfrm>
            <a:custGeom>
              <a:rect b="b" l="l" r="r" t="t"/>
              <a:pathLst>
                <a:path extrusionOk="0" h="6454" w="10669">
                  <a:moveTo>
                    <a:pt x="10157" y="0"/>
                  </a:moveTo>
                  <a:cubicBezTo>
                    <a:pt x="10125" y="0"/>
                    <a:pt x="10093" y="4"/>
                    <a:pt x="10061" y="12"/>
                  </a:cubicBezTo>
                  <a:lnTo>
                    <a:pt x="8656" y="191"/>
                  </a:lnTo>
                  <a:cubicBezTo>
                    <a:pt x="8382" y="214"/>
                    <a:pt x="8180" y="488"/>
                    <a:pt x="8216" y="762"/>
                  </a:cubicBezTo>
                  <a:cubicBezTo>
                    <a:pt x="8238" y="1032"/>
                    <a:pt x="8483" y="1217"/>
                    <a:pt x="8751" y="1217"/>
                  </a:cubicBezTo>
                  <a:cubicBezTo>
                    <a:pt x="8767" y="1217"/>
                    <a:pt x="8783" y="1216"/>
                    <a:pt x="8799" y="1215"/>
                  </a:cubicBezTo>
                  <a:lnTo>
                    <a:pt x="8906" y="1203"/>
                  </a:lnTo>
                  <a:lnTo>
                    <a:pt x="8906" y="1203"/>
                  </a:lnTo>
                  <a:cubicBezTo>
                    <a:pt x="7204" y="3191"/>
                    <a:pt x="5156" y="4215"/>
                    <a:pt x="3715" y="4727"/>
                  </a:cubicBezTo>
                  <a:cubicBezTo>
                    <a:pt x="1917" y="5370"/>
                    <a:pt x="524" y="5429"/>
                    <a:pt x="500" y="5429"/>
                  </a:cubicBezTo>
                  <a:cubicBezTo>
                    <a:pt x="227" y="5441"/>
                    <a:pt x="0" y="5679"/>
                    <a:pt x="12" y="5965"/>
                  </a:cubicBezTo>
                  <a:cubicBezTo>
                    <a:pt x="24" y="6239"/>
                    <a:pt x="250" y="6453"/>
                    <a:pt x="524" y="6453"/>
                  </a:cubicBezTo>
                  <a:lnTo>
                    <a:pt x="536" y="6453"/>
                  </a:lnTo>
                  <a:cubicBezTo>
                    <a:pt x="596" y="6453"/>
                    <a:pt x="2084" y="6394"/>
                    <a:pt x="4037" y="5703"/>
                  </a:cubicBezTo>
                  <a:cubicBezTo>
                    <a:pt x="5132" y="5322"/>
                    <a:pt x="6156" y="4798"/>
                    <a:pt x="7096" y="4167"/>
                  </a:cubicBezTo>
                  <a:cubicBezTo>
                    <a:pt x="7168" y="4120"/>
                    <a:pt x="7192" y="4013"/>
                    <a:pt x="7144" y="3941"/>
                  </a:cubicBezTo>
                  <a:cubicBezTo>
                    <a:pt x="7113" y="3895"/>
                    <a:pt x="7058" y="3869"/>
                    <a:pt x="7003" y="3869"/>
                  </a:cubicBezTo>
                  <a:cubicBezTo>
                    <a:pt x="6973" y="3869"/>
                    <a:pt x="6943" y="3877"/>
                    <a:pt x="6918" y="3893"/>
                  </a:cubicBezTo>
                  <a:cubicBezTo>
                    <a:pt x="5989" y="4513"/>
                    <a:pt x="5001" y="5025"/>
                    <a:pt x="3929" y="5394"/>
                  </a:cubicBezTo>
                  <a:cubicBezTo>
                    <a:pt x="2024" y="6084"/>
                    <a:pt x="596" y="6120"/>
                    <a:pt x="536" y="6120"/>
                  </a:cubicBezTo>
                  <a:cubicBezTo>
                    <a:pt x="429" y="6120"/>
                    <a:pt x="358" y="6049"/>
                    <a:pt x="358" y="5953"/>
                  </a:cubicBezTo>
                  <a:cubicBezTo>
                    <a:pt x="358" y="5846"/>
                    <a:pt x="429" y="5751"/>
                    <a:pt x="536" y="5751"/>
                  </a:cubicBezTo>
                  <a:cubicBezTo>
                    <a:pt x="548" y="5751"/>
                    <a:pt x="1989" y="5691"/>
                    <a:pt x="3834" y="5036"/>
                  </a:cubicBezTo>
                  <a:cubicBezTo>
                    <a:pt x="5406" y="4489"/>
                    <a:pt x="7632" y="3346"/>
                    <a:pt x="9454" y="1084"/>
                  </a:cubicBezTo>
                  <a:cubicBezTo>
                    <a:pt x="9534" y="969"/>
                    <a:pt x="9459" y="809"/>
                    <a:pt x="9315" y="809"/>
                  </a:cubicBezTo>
                  <a:cubicBezTo>
                    <a:pt x="9310" y="809"/>
                    <a:pt x="9304" y="809"/>
                    <a:pt x="9299" y="810"/>
                  </a:cubicBezTo>
                  <a:lnTo>
                    <a:pt x="8775" y="869"/>
                  </a:lnTo>
                  <a:cubicBezTo>
                    <a:pt x="8768" y="870"/>
                    <a:pt x="8761" y="871"/>
                    <a:pt x="8754" y="871"/>
                  </a:cubicBezTo>
                  <a:cubicBezTo>
                    <a:pt x="8676" y="871"/>
                    <a:pt x="8595" y="815"/>
                    <a:pt x="8573" y="738"/>
                  </a:cubicBezTo>
                  <a:cubicBezTo>
                    <a:pt x="8537" y="631"/>
                    <a:pt x="8620" y="512"/>
                    <a:pt x="8740" y="500"/>
                  </a:cubicBezTo>
                  <a:lnTo>
                    <a:pt x="10133" y="322"/>
                  </a:lnTo>
                  <a:cubicBezTo>
                    <a:pt x="10139" y="321"/>
                    <a:pt x="10146" y="320"/>
                    <a:pt x="10153" y="320"/>
                  </a:cubicBezTo>
                  <a:cubicBezTo>
                    <a:pt x="10253" y="320"/>
                    <a:pt x="10347" y="400"/>
                    <a:pt x="10347" y="500"/>
                  </a:cubicBezTo>
                  <a:lnTo>
                    <a:pt x="10347" y="1893"/>
                  </a:lnTo>
                  <a:cubicBezTo>
                    <a:pt x="10347" y="2000"/>
                    <a:pt x="10252" y="2072"/>
                    <a:pt x="10168" y="2072"/>
                  </a:cubicBezTo>
                  <a:cubicBezTo>
                    <a:pt x="10073" y="2072"/>
                    <a:pt x="9990" y="1988"/>
                    <a:pt x="9990" y="1893"/>
                  </a:cubicBezTo>
                  <a:lnTo>
                    <a:pt x="9990" y="1477"/>
                  </a:lnTo>
                  <a:cubicBezTo>
                    <a:pt x="9990" y="1417"/>
                    <a:pt x="9942" y="1346"/>
                    <a:pt x="9883" y="1334"/>
                  </a:cubicBezTo>
                  <a:cubicBezTo>
                    <a:pt x="9866" y="1324"/>
                    <a:pt x="9848" y="1319"/>
                    <a:pt x="9830" y="1319"/>
                  </a:cubicBezTo>
                  <a:cubicBezTo>
                    <a:pt x="9784" y="1319"/>
                    <a:pt x="9738" y="1347"/>
                    <a:pt x="9704" y="1381"/>
                  </a:cubicBezTo>
                  <a:cubicBezTo>
                    <a:pt x="9085" y="2119"/>
                    <a:pt x="8394" y="2810"/>
                    <a:pt x="7632" y="3382"/>
                  </a:cubicBezTo>
                  <a:cubicBezTo>
                    <a:pt x="7561" y="3441"/>
                    <a:pt x="7537" y="3548"/>
                    <a:pt x="7597" y="3608"/>
                  </a:cubicBezTo>
                  <a:cubicBezTo>
                    <a:pt x="7635" y="3646"/>
                    <a:pt x="7692" y="3674"/>
                    <a:pt x="7744" y="3674"/>
                  </a:cubicBezTo>
                  <a:cubicBezTo>
                    <a:pt x="7773" y="3674"/>
                    <a:pt x="7801" y="3665"/>
                    <a:pt x="7823" y="3643"/>
                  </a:cubicBezTo>
                  <a:cubicBezTo>
                    <a:pt x="8489" y="3131"/>
                    <a:pt x="9109" y="2548"/>
                    <a:pt x="9656" y="1917"/>
                  </a:cubicBezTo>
                  <a:cubicBezTo>
                    <a:pt x="9668" y="2179"/>
                    <a:pt x="9894" y="2405"/>
                    <a:pt x="10156" y="2405"/>
                  </a:cubicBezTo>
                  <a:cubicBezTo>
                    <a:pt x="10442" y="2405"/>
                    <a:pt x="10668" y="2179"/>
                    <a:pt x="10668" y="1893"/>
                  </a:cubicBezTo>
                  <a:lnTo>
                    <a:pt x="10668" y="500"/>
                  </a:lnTo>
                  <a:cubicBezTo>
                    <a:pt x="10621" y="369"/>
                    <a:pt x="10561" y="238"/>
                    <a:pt x="10466" y="131"/>
                  </a:cubicBezTo>
                  <a:cubicBezTo>
                    <a:pt x="10382" y="48"/>
                    <a:pt x="10270" y="0"/>
                    <a:pt x="10157"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6" name="Google Shape;786;g82eb9f9b71_1_1219"/>
          <p:cNvGrpSpPr/>
          <p:nvPr/>
        </p:nvGrpSpPr>
        <p:grpSpPr>
          <a:xfrm>
            <a:off x="1132989" y="1390070"/>
            <a:ext cx="478932" cy="556947"/>
            <a:chOff x="5027525" y="4402450"/>
            <a:chExt cx="477500" cy="496875"/>
          </a:xfrm>
        </p:grpSpPr>
        <p:sp>
          <p:nvSpPr>
            <p:cNvPr id="787" name="Google Shape;787;g82eb9f9b71_1_1219"/>
            <p:cNvSpPr/>
            <p:nvPr/>
          </p:nvSpPr>
          <p:spPr>
            <a:xfrm>
              <a:off x="5121300" y="4524725"/>
              <a:ext cx="22700" cy="19425"/>
            </a:xfrm>
            <a:custGeom>
              <a:rect b="b" l="l" r="r" t="t"/>
              <a:pathLst>
                <a:path extrusionOk="0" h="777" w="908">
                  <a:moveTo>
                    <a:pt x="519" y="0"/>
                  </a:moveTo>
                  <a:cubicBezTo>
                    <a:pt x="173" y="0"/>
                    <a:pt x="0" y="418"/>
                    <a:pt x="244" y="662"/>
                  </a:cubicBezTo>
                  <a:cubicBezTo>
                    <a:pt x="323" y="741"/>
                    <a:pt x="421" y="777"/>
                    <a:pt x="516" y="777"/>
                  </a:cubicBezTo>
                  <a:cubicBezTo>
                    <a:pt x="716" y="777"/>
                    <a:pt x="907" y="622"/>
                    <a:pt x="908" y="388"/>
                  </a:cubicBezTo>
                  <a:cubicBezTo>
                    <a:pt x="908" y="174"/>
                    <a:pt x="733" y="0"/>
                    <a:pt x="519" y="0"/>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8" name="Google Shape;788;g82eb9f9b71_1_1219"/>
            <p:cNvSpPr/>
            <p:nvPr/>
          </p:nvSpPr>
          <p:spPr>
            <a:xfrm>
              <a:off x="5134450" y="4667525"/>
              <a:ext cx="96675" cy="96700"/>
            </a:xfrm>
            <a:custGeom>
              <a:rect b="b" l="l" r="r" t="t"/>
              <a:pathLst>
                <a:path extrusionOk="0" h="3868" w="3867">
                  <a:moveTo>
                    <a:pt x="1933" y="1"/>
                  </a:moveTo>
                  <a:cubicBezTo>
                    <a:pt x="1722" y="1"/>
                    <a:pt x="1549" y="169"/>
                    <a:pt x="1546" y="381"/>
                  </a:cubicBezTo>
                  <a:lnTo>
                    <a:pt x="1546" y="1545"/>
                  </a:lnTo>
                  <a:lnTo>
                    <a:pt x="382" y="1545"/>
                  </a:lnTo>
                  <a:cubicBezTo>
                    <a:pt x="170" y="1550"/>
                    <a:pt x="0" y="1722"/>
                    <a:pt x="0" y="1934"/>
                  </a:cubicBezTo>
                  <a:cubicBezTo>
                    <a:pt x="0" y="2145"/>
                    <a:pt x="170" y="2318"/>
                    <a:pt x="382" y="2322"/>
                  </a:cubicBezTo>
                  <a:lnTo>
                    <a:pt x="1546" y="2322"/>
                  </a:lnTo>
                  <a:lnTo>
                    <a:pt x="1546" y="3486"/>
                  </a:lnTo>
                  <a:cubicBezTo>
                    <a:pt x="1549" y="3697"/>
                    <a:pt x="1722" y="3867"/>
                    <a:pt x="1933" y="3867"/>
                  </a:cubicBezTo>
                  <a:cubicBezTo>
                    <a:pt x="2145" y="3867"/>
                    <a:pt x="2317" y="3697"/>
                    <a:pt x="2322" y="3486"/>
                  </a:cubicBezTo>
                  <a:lnTo>
                    <a:pt x="2322" y="2322"/>
                  </a:lnTo>
                  <a:lnTo>
                    <a:pt x="3486" y="2322"/>
                  </a:lnTo>
                  <a:cubicBezTo>
                    <a:pt x="3698" y="2318"/>
                    <a:pt x="3866" y="2145"/>
                    <a:pt x="3866" y="1934"/>
                  </a:cubicBezTo>
                  <a:cubicBezTo>
                    <a:pt x="3866" y="1722"/>
                    <a:pt x="3698" y="1550"/>
                    <a:pt x="3486" y="1545"/>
                  </a:cubicBezTo>
                  <a:lnTo>
                    <a:pt x="2322" y="1545"/>
                  </a:lnTo>
                  <a:lnTo>
                    <a:pt x="2322" y="381"/>
                  </a:lnTo>
                  <a:cubicBezTo>
                    <a:pt x="2317" y="169"/>
                    <a:pt x="2145" y="1"/>
                    <a:pt x="193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9" name="Google Shape;789;g82eb9f9b71_1_1219"/>
            <p:cNvSpPr/>
            <p:nvPr/>
          </p:nvSpPr>
          <p:spPr>
            <a:xfrm>
              <a:off x="5027525" y="4402450"/>
              <a:ext cx="477500" cy="496875"/>
            </a:xfrm>
            <a:custGeom>
              <a:rect b="b" l="l" r="r" t="t"/>
              <a:pathLst>
                <a:path extrusionOk="0" h="19875" w="19100">
                  <a:moveTo>
                    <a:pt x="9703" y="777"/>
                  </a:moveTo>
                  <a:cubicBezTo>
                    <a:pt x="9917" y="777"/>
                    <a:pt x="10091" y="951"/>
                    <a:pt x="10092" y="1165"/>
                  </a:cubicBezTo>
                  <a:lnTo>
                    <a:pt x="10092" y="2950"/>
                  </a:lnTo>
                  <a:cubicBezTo>
                    <a:pt x="10091" y="3164"/>
                    <a:pt x="9917" y="3337"/>
                    <a:pt x="9703" y="3339"/>
                  </a:cubicBezTo>
                  <a:lnTo>
                    <a:pt x="2717" y="3339"/>
                  </a:lnTo>
                  <a:cubicBezTo>
                    <a:pt x="2503" y="3339"/>
                    <a:pt x="2329" y="3164"/>
                    <a:pt x="2329" y="2950"/>
                  </a:cubicBezTo>
                  <a:lnTo>
                    <a:pt x="2329" y="1165"/>
                  </a:lnTo>
                  <a:cubicBezTo>
                    <a:pt x="2329" y="951"/>
                    <a:pt x="2503" y="777"/>
                    <a:pt x="2717" y="777"/>
                  </a:cubicBezTo>
                  <a:close/>
                  <a:moveTo>
                    <a:pt x="9316" y="4115"/>
                  </a:moveTo>
                  <a:lnTo>
                    <a:pt x="9316" y="4891"/>
                  </a:lnTo>
                  <a:lnTo>
                    <a:pt x="5823" y="4891"/>
                  </a:lnTo>
                  <a:cubicBezTo>
                    <a:pt x="5820" y="4891"/>
                    <a:pt x="5817" y="4891"/>
                    <a:pt x="5814" y="4891"/>
                  </a:cubicBezTo>
                  <a:cubicBezTo>
                    <a:pt x="5600" y="4891"/>
                    <a:pt x="5427" y="5064"/>
                    <a:pt x="5427" y="5279"/>
                  </a:cubicBezTo>
                  <a:cubicBezTo>
                    <a:pt x="5427" y="5494"/>
                    <a:pt x="5600" y="5667"/>
                    <a:pt x="5814" y="5667"/>
                  </a:cubicBezTo>
                  <a:cubicBezTo>
                    <a:pt x="5817" y="5667"/>
                    <a:pt x="5820" y="5667"/>
                    <a:pt x="5823" y="5667"/>
                  </a:cubicBezTo>
                  <a:lnTo>
                    <a:pt x="9508" y="5667"/>
                  </a:lnTo>
                  <a:lnTo>
                    <a:pt x="11410" y="8203"/>
                  </a:lnTo>
                  <a:cubicBezTo>
                    <a:pt x="11534" y="8369"/>
                    <a:pt x="11611" y="8565"/>
                    <a:pt x="11635" y="8772"/>
                  </a:cubicBezTo>
                  <a:lnTo>
                    <a:pt x="785" y="8772"/>
                  </a:lnTo>
                  <a:cubicBezTo>
                    <a:pt x="808" y="8565"/>
                    <a:pt x="886" y="8369"/>
                    <a:pt x="1010" y="8203"/>
                  </a:cubicBezTo>
                  <a:lnTo>
                    <a:pt x="3028" y="5511"/>
                  </a:lnTo>
                  <a:cubicBezTo>
                    <a:pt x="3078" y="5444"/>
                    <a:pt x="3106" y="5363"/>
                    <a:pt x="3106" y="5279"/>
                  </a:cubicBezTo>
                  <a:lnTo>
                    <a:pt x="3106" y="4115"/>
                  </a:lnTo>
                  <a:close/>
                  <a:moveTo>
                    <a:pt x="11643" y="9548"/>
                  </a:moveTo>
                  <a:lnTo>
                    <a:pt x="11643" y="12720"/>
                  </a:lnTo>
                  <a:lnTo>
                    <a:pt x="9292" y="14078"/>
                  </a:lnTo>
                  <a:cubicBezTo>
                    <a:pt x="8805" y="14357"/>
                    <a:pt x="8404" y="14764"/>
                    <a:pt x="8132" y="15254"/>
                  </a:cubicBezTo>
                  <a:lnTo>
                    <a:pt x="8132" y="15253"/>
                  </a:lnTo>
                  <a:lnTo>
                    <a:pt x="777" y="15253"/>
                  </a:lnTo>
                  <a:lnTo>
                    <a:pt x="777" y="9548"/>
                  </a:lnTo>
                  <a:close/>
                  <a:moveTo>
                    <a:pt x="15547" y="11721"/>
                  </a:moveTo>
                  <a:cubicBezTo>
                    <a:pt x="16352" y="11721"/>
                    <a:pt x="17135" y="12139"/>
                    <a:pt x="17566" y="12886"/>
                  </a:cubicBezTo>
                  <a:cubicBezTo>
                    <a:pt x="18212" y="14007"/>
                    <a:pt x="17818" y="15430"/>
                    <a:pt x="16713" y="16067"/>
                  </a:cubicBezTo>
                  <a:lnTo>
                    <a:pt x="16713" y="16066"/>
                  </a:lnTo>
                  <a:lnTo>
                    <a:pt x="14787" y="17178"/>
                  </a:lnTo>
                  <a:lnTo>
                    <a:pt x="12458" y="13146"/>
                  </a:lnTo>
                  <a:lnTo>
                    <a:pt x="14384" y="12034"/>
                  </a:lnTo>
                  <a:cubicBezTo>
                    <a:pt x="14751" y="11822"/>
                    <a:pt x="15152" y="11721"/>
                    <a:pt x="15547" y="11721"/>
                  </a:cubicBezTo>
                  <a:close/>
                  <a:moveTo>
                    <a:pt x="7828" y="16025"/>
                  </a:moveTo>
                  <a:cubicBezTo>
                    <a:pt x="7703" y="16538"/>
                    <a:pt x="7709" y="17073"/>
                    <a:pt x="7847" y="17582"/>
                  </a:cubicBezTo>
                  <a:lnTo>
                    <a:pt x="1941" y="17582"/>
                  </a:lnTo>
                  <a:cubicBezTo>
                    <a:pt x="1298" y="17580"/>
                    <a:pt x="778" y="17060"/>
                    <a:pt x="777" y="16418"/>
                  </a:cubicBezTo>
                  <a:lnTo>
                    <a:pt x="777" y="16025"/>
                  </a:lnTo>
                  <a:close/>
                  <a:moveTo>
                    <a:pt x="11786" y="13534"/>
                  </a:moveTo>
                  <a:lnTo>
                    <a:pt x="14115" y="17568"/>
                  </a:lnTo>
                  <a:lnTo>
                    <a:pt x="12008" y="18783"/>
                  </a:lnTo>
                  <a:cubicBezTo>
                    <a:pt x="11639" y="18998"/>
                    <a:pt x="11235" y="19101"/>
                    <a:pt x="10836" y="19101"/>
                  </a:cubicBezTo>
                  <a:cubicBezTo>
                    <a:pt x="10032" y="19101"/>
                    <a:pt x="9249" y="18684"/>
                    <a:pt x="8817" y="17937"/>
                  </a:cubicBezTo>
                  <a:cubicBezTo>
                    <a:pt x="8172" y="16819"/>
                    <a:pt x="8558" y="15390"/>
                    <a:pt x="9679" y="14749"/>
                  </a:cubicBezTo>
                  <a:lnTo>
                    <a:pt x="11786" y="13534"/>
                  </a:lnTo>
                  <a:close/>
                  <a:moveTo>
                    <a:pt x="2717" y="1"/>
                  </a:moveTo>
                  <a:cubicBezTo>
                    <a:pt x="2074" y="2"/>
                    <a:pt x="1553" y="522"/>
                    <a:pt x="1553" y="1165"/>
                  </a:cubicBezTo>
                  <a:lnTo>
                    <a:pt x="1553" y="2951"/>
                  </a:lnTo>
                  <a:cubicBezTo>
                    <a:pt x="1553" y="3443"/>
                    <a:pt x="1864" y="3884"/>
                    <a:pt x="2329" y="4049"/>
                  </a:cubicBezTo>
                  <a:lnTo>
                    <a:pt x="2329" y="5150"/>
                  </a:lnTo>
                  <a:lnTo>
                    <a:pt x="388" y="7738"/>
                  </a:lnTo>
                  <a:cubicBezTo>
                    <a:pt x="138" y="8075"/>
                    <a:pt x="2" y="8483"/>
                    <a:pt x="0" y="8902"/>
                  </a:cubicBezTo>
                  <a:lnTo>
                    <a:pt x="0" y="16419"/>
                  </a:lnTo>
                  <a:cubicBezTo>
                    <a:pt x="0" y="17490"/>
                    <a:pt x="869" y="18359"/>
                    <a:pt x="1941" y="18359"/>
                  </a:cubicBezTo>
                  <a:lnTo>
                    <a:pt x="8178" y="18359"/>
                  </a:lnTo>
                  <a:cubicBezTo>
                    <a:pt x="8758" y="19333"/>
                    <a:pt x="9788" y="19874"/>
                    <a:pt x="10845" y="19874"/>
                  </a:cubicBezTo>
                  <a:cubicBezTo>
                    <a:pt x="11373" y="19874"/>
                    <a:pt x="11907" y="19740"/>
                    <a:pt x="12396" y="19457"/>
                  </a:cubicBezTo>
                  <a:lnTo>
                    <a:pt x="17101" y="16740"/>
                  </a:lnTo>
                  <a:cubicBezTo>
                    <a:pt x="18574" y="15891"/>
                    <a:pt x="19099" y="13994"/>
                    <a:pt x="18237" y="12500"/>
                  </a:cubicBezTo>
                  <a:lnTo>
                    <a:pt x="18237" y="12497"/>
                  </a:lnTo>
                  <a:cubicBezTo>
                    <a:pt x="17662" y="11501"/>
                    <a:pt x="16619" y="10944"/>
                    <a:pt x="15546" y="10944"/>
                  </a:cubicBezTo>
                  <a:cubicBezTo>
                    <a:pt x="15019" y="10944"/>
                    <a:pt x="14485" y="11078"/>
                    <a:pt x="13997" y="11361"/>
                  </a:cubicBezTo>
                  <a:lnTo>
                    <a:pt x="12420" y="12272"/>
                  </a:lnTo>
                  <a:lnTo>
                    <a:pt x="12420" y="8902"/>
                  </a:lnTo>
                  <a:cubicBezTo>
                    <a:pt x="12419" y="8482"/>
                    <a:pt x="12283" y="8074"/>
                    <a:pt x="12032" y="7737"/>
                  </a:cubicBezTo>
                  <a:lnTo>
                    <a:pt x="10091" y="5149"/>
                  </a:lnTo>
                  <a:lnTo>
                    <a:pt x="10091" y="4048"/>
                  </a:lnTo>
                  <a:cubicBezTo>
                    <a:pt x="10555" y="3883"/>
                    <a:pt x="10867" y="3443"/>
                    <a:pt x="10867" y="2950"/>
                  </a:cubicBezTo>
                  <a:lnTo>
                    <a:pt x="10867" y="1165"/>
                  </a:lnTo>
                  <a:cubicBezTo>
                    <a:pt x="10866" y="522"/>
                    <a:pt x="10346" y="2"/>
                    <a:pt x="970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blipFill>
          <a:blip r:embed="rId3">
            <a:alphaModFix/>
          </a:blip>
          <a:stretch>
            <a:fillRect/>
          </a:stretch>
        </a:blipFill>
      </p:bgPr>
    </p:bg>
    <p:spTree>
      <p:nvGrpSpPr>
        <p:cNvPr id="793" name="Shape 793"/>
        <p:cNvGrpSpPr/>
        <p:nvPr/>
      </p:nvGrpSpPr>
      <p:grpSpPr>
        <a:xfrm>
          <a:off x="0" y="0"/>
          <a:ext cx="0" cy="0"/>
          <a:chOff x="0" y="0"/>
          <a:chExt cx="0" cy="0"/>
        </a:xfrm>
      </p:grpSpPr>
      <p:sp>
        <p:nvSpPr>
          <p:cNvPr id="794" name="Google Shape;794;g82eb9f9b71_1_1327"/>
          <p:cNvSpPr txBox="1"/>
          <p:nvPr>
            <p:ph type="ctrTitle"/>
          </p:nvPr>
        </p:nvSpPr>
        <p:spPr>
          <a:xfrm>
            <a:off x="4987075" y="781525"/>
            <a:ext cx="3437100" cy="2052600"/>
          </a:xfrm>
          <a:prstGeom prst="rect">
            <a:avLst/>
          </a:prstGeom>
          <a:noFill/>
          <a:ln>
            <a:noFill/>
          </a:ln>
        </p:spPr>
        <p:txBody>
          <a:bodyPr anchorCtr="0" anchor="b" bIns="91425" lIns="91425" spcFirstLastPara="1" rIns="91425" wrap="square" tIns="91425">
            <a:noAutofit/>
          </a:bodyPr>
          <a:lstStyle/>
          <a:p>
            <a:pPr indent="0" lvl="0" marL="0" rtl="0" algn="l">
              <a:lnSpc>
                <a:spcPct val="80000"/>
              </a:lnSpc>
              <a:spcBef>
                <a:spcPts val="0"/>
              </a:spcBef>
              <a:spcAft>
                <a:spcPts val="0"/>
              </a:spcAft>
              <a:buSzPts val="3600"/>
              <a:buNone/>
            </a:pPr>
            <a:r>
              <a:rPr lang="en"/>
              <a:t>THANKS!</a:t>
            </a:r>
            <a:endParaRPr/>
          </a:p>
        </p:txBody>
      </p:sp>
      <p:sp>
        <p:nvSpPr>
          <p:cNvPr id="795" name="Google Shape;795;g82eb9f9b71_1_1327"/>
          <p:cNvSpPr txBox="1"/>
          <p:nvPr>
            <p:ph idx="1" type="subTitle"/>
          </p:nvPr>
        </p:nvSpPr>
        <p:spPr>
          <a:xfrm>
            <a:off x="4987075" y="2834125"/>
            <a:ext cx="2820000" cy="68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Interdisciplinary Health Data Competition</a:t>
            </a:r>
            <a:endParaRPr/>
          </a:p>
        </p:txBody>
      </p:sp>
      <p:sp>
        <p:nvSpPr>
          <p:cNvPr id="796" name="Google Shape;796;g82eb9f9b71_1_1327"/>
          <p:cNvSpPr txBox="1"/>
          <p:nvPr>
            <p:ph idx="1" type="subTitle"/>
          </p:nvPr>
        </p:nvSpPr>
        <p:spPr>
          <a:xfrm>
            <a:off x="3675600" y="4561800"/>
            <a:ext cx="4546500" cy="443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lang="en"/>
              <a:t>B. Byun, P. Cho, L. Moore, B. Wei, &amp; W. Wu</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00" name="Shape 800"/>
        <p:cNvGrpSpPr/>
        <p:nvPr/>
      </p:nvGrpSpPr>
      <p:grpSpPr>
        <a:xfrm>
          <a:off x="0" y="0"/>
          <a:ext cx="0" cy="0"/>
          <a:chOff x="0" y="0"/>
          <a:chExt cx="0" cy="0"/>
        </a:xfrm>
      </p:grpSpPr>
      <p:sp>
        <p:nvSpPr>
          <p:cNvPr id="801" name="Google Shape;801;p25"/>
          <p:cNvSpPr txBox="1"/>
          <p:nvPr>
            <p:ph idx="2" type="body"/>
          </p:nvPr>
        </p:nvSpPr>
        <p:spPr>
          <a:xfrm>
            <a:off x="446250" y="892300"/>
            <a:ext cx="8327700" cy="324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t>[1]</a:t>
            </a:r>
            <a:r>
              <a:rPr lang="en" sz="1100" u="sng">
                <a:solidFill>
                  <a:schemeClr val="hlink"/>
                </a:solidFill>
                <a:hlinkClick r:id="rId3"/>
              </a:rPr>
              <a:t>Tejada-Vera B. Leading Causes of Death: United States, 1999–2017. National Center for Health Statistics. 2019. Designed by B Tejada-Vera, L Lu, E Arias, JM Keralis, and Y Chong: National Center for Health Statistics.</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b="1" lang="en" sz="1100"/>
              <a:t>[2]</a:t>
            </a:r>
            <a:r>
              <a:rPr lang="en" sz="1100" u="sng">
                <a:solidFill>
                  <a:schemeClr val="hlink"/>
                </a:solidFill>
                <a:hlinkClick r:id="rId4"/>
              </a:rPr>
              <a:t>National Center for Health Statistics. Vital statistics data available. Mortality multiple cause files. Hyattsville, MD: National Center for Health Statistics. </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rPr b="1" lang="en" sz="1100" u="sng"/>
              <a:t>[3]</a:t>
            </a:r>
            <a:r>
              <a:rPr lang="en" sz="1100" u="sng"/>
              <a:t>Afendulis, C. C., He, Y., Zaslavsky, A. M., &amp; Chernew, M. E. (2011). The Impact of Medicare Part D on Hospitalization Rates. Health Services Research, 46(4), 1022–1038. doi: 10.1111/j.1475-6773.2011.01244.x</a:t>
            </a:r>
            <a:endParaRPr sz="1100" u="sng"/>
          </a:p>
          <a:p>
            <a:pPr indent="0" lvl="0" marL="0" rtl="0" algn="l">
              <a:lnSpc>
                <a:spcPct val="115000"/>
              </a:lnSpc>
              <a:spcBef>
                <a:spcPts val="0"/>
              </a:spcBef>
              <a:spcAft>
                <a:spcPts val="0"/>
              </a:spcAft>
              <a:buNone/>
            </a:pPr>
            <a:r>
              <a:t/>
            </a:r>
            <a:endParaRPr sz="1100" u="sng"/>
          </a:p>
          <a:p>
            <a:pPr indent="0" lvl="0" marL="0" rtl="0" algn="l">
              <a:lnSpc>
                <a:spcPct val="115000"/>
              </a:lnSpc>
              <a:spcBef>
                <a:spcPts val="0"/>
              </a:spcBef>
              <a:spcAft>
                <a:spcPts val="0"/>
              </a:spcAft>
              <a:buNone/>
            </a:pPr>
            <a:r>
              <a:rPr b="1" lang="en" sz="1100"/>
              <a:t>[4]</a:t>
            </a:r>
            <a:r>
              <a:rPr lang="en" sz="1100" u="sng"/>
              <a:t>Heisler, M., Langa, K. M., Eby, E. L., Fendrick, A. M., Kabeto, M. U., &amp; Piette, J. D. (2004). The Health Effects of Restricting Prescription Medication Use Because of Cost. Medical Care, 42(7), 626–634. doi: 10.1097/01.mlr.0000129352.36733.cc</a:t>
            </a:r>
            <a:endParaRPr sz="1100" u="sng"/>
          </a:p>
          <a:p>
            <a:pPr indent="0" lvl="0" marL="0" rtl="0" algn="l">
              <a:lnSpc>
                <a:spcPct val="115000"/>
              </a:lnSpc>
              <a:spcBef>
                <a:spcPts val="0"/>
              </a:spcBef>
              <a:spcAft>
                <a:spcPts val="0"/>
              </a:spcAft>
              <a:buNone/>
            </a:pPr>
            <a:r>
              <a:t/>
            </a:r>
            <a:endParaRPr sz="1100" u="sng"/>
          </a:p>
          <a:p>
            <a:pPr indent="0" lvl="0" marL="0" rtl="0" algn="l">
              <a:spcBef>
                <a:spcPts val="0"/>
              </a:spcBef>
              <a:spcAft>
                <a:spcPts val="0"/>
              </a:spcAft>
              <a:buClr>
                <a:schemeClr val="dk1"/>
              </a:buClr>
              <a:buSzPts val="1100"/>
              <a:buFont typeface="Arial"/>
              <a:buNone/>
            </a:pPr>
            <a:r>
              <a:rPr b="1" lang="en" sz="1100" u="sng"/>
              <a:t>[5]</a:t>
            </a:r>
            <a:r>
              <a:rPr lang="en" sz="1100" u="sng">
                <a:solidFill>
                  <a:srgbClr val="333333"/>
                </a:solidFill>
              </a:rPr>
              <a:t>Kilgore, M., Patel, H., Kielhorn, A., Maya, J., &amp; Sharma, P. (2017). Economic burden of hospitalizations of Medicare beneficiaries with heart failure. </a:t>
            </a:r>
            <a:r>
              <a:rPr i="1" lang="en" sz="1100" u="sng">
                <a:solidFill>
                  <a:srgbClr val="333333"/>
                </a:solidFill>
              </a:rPr>
              <a:t>Risk Management and Healthcare Policy</a:t>
            </a:r>
            <a:r>
              <a:rPr lang="en" sz="1100" u="sng">
                <a:solidFill>
                  <a:srgbClr val="333333"/>
                </a:solidFill>
              </a:rPr>
              <a:t>, </a:t>
            </a:r>
            <a:r>
              <a:rPr i="1" lang="en" sz="1100" u="sng">
                <a:solidFill>
                  <a:srgbClr val="333333"/>
                </a:solidFill>
              </a:rPr>
              <a:t>Volume 10</a:t>
            </a:r>
            <a:r>
              <a:rPr lang="en" sz="1100" u="sng">
                <a:solidFill>
                  <a:srgbClr val="333333"/>
                </a:solidFill>
              </a:rPr>
              <a:t>, 63–70. doi: 10.2147/rmhp.s130341</a:t>
            </a:r>
            <a:endParaRPr sz="1100" u="sng">
              <a:solidFill>
                <a:srgbClr val="333333"/>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b="1" lang="en" sz="1100"/>
              <a:t>[6]</a:t>
            </a:r>
            <a:r>
              <a:rPr lang="en" sz="1100" u="sng">
                <a:solidFill>
                  <a:schemeClr val="hlink"/>
                </a:solidFill>
                <a:hlinkClick r:id="rId5"/>
              </a:rPr>
              <a:t>MN Hospital Uniform Billing (UB) Claims Data, Health Economics Program, MDH and Minnesota Hospital Association.</a:t>
            </a:r>
            <a:endParaRPr b="1" sz="1100"/>
          </a:p>
          <a:p>
            <a:pPr indent="0" lvl="0" marL="0" rtl="0" algn="l">
              <a:lnSpc>
                <a:spcPct val="115000"/>
              </a:lnSpc>
              <a:spcBef>
                <a:spcPts val="0"/>
              </a:spcBef>
              <a:spcAft>
                <a:spcPts val="0"/>
              </a:spcAft>
              <a:buNone/>
            </a:pPr>
            <a:r>
              <a:t/>
            </a:r>
            <a:endParaRPr sz="1200" u="sng"/>
          </a:p>
        </p:txBody>
      </p:sp>
      <p:sp>
        <p:nvSpPr>
          <p:cNvPr id="802" name="Google Shape;802;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3" name="Google Shape;803;p25"/>
          <p:cNvSpPr txBox="1"/>
          <p:nvPr>
            <p:ph type="title"/>
          </p:nvPr>
        </p:nvSpPr>
        <p:spPr>
          <a:xfrm>
            <a:off x="361050" y="383575"/>
            <a:ext cx="84981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2200"/>
              <a:t>REFERENCES</a:t>
            </a:r>
            <a:endParaRPr sz="2200"/>
          </a:p>
        </p:txBody>
      </p:sp>
      <p:cxnSp>
        <p:nvCxnSpPr>
          <p:cNvPr id="804" name="Google Shape;804;p25"/>
          <p:cNvCxnSpPr/>
          <p:nvPr/>
        </p:nvCxnSpPr>
        <p:spPr>
          <a:xfrm flipH="1" rot="10800000">
            <a:off x="459400" y="872650"/>
            <a:ext cx="2066400" cy="13200"/>
          </a:xfrm>
          <a:prstGeom prst="straightConnector1">
            <a:avLst/>
          </a:prstGeom>
          <a:noFill/>
          <a:ln cap="flat" cmpd="sng" w="19050">
            <a:solidFill>
              <a:schemeClr val="accent3"/>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ursing Capstone">
  <a:themeElements>
    <a:clrScheme name="Simple Light">
      <a:dk1>
        <a:srgbClr val="000000"/>
      </a:dk1>
      <a:lt1>
        <a:srgbClr val="FFFFFF"/>
      </a:lt1>
      <a:dk2>
        <a:srgbClr val="595959"/>
      </a:dk2>
      <a:lt2>
        <a:srgbClr val="EEEEEE"/>
      </a:lt2>
      <a:accent1>
        <a:srgbClr val="1F7444"/>
      </a:accent1>
      <a:accent2>
        <a:srgbClr val="434343"/>
      </a:accent2>
      <a:accent3>
        <a:srgbClr val="FBD76D"/>
      </a:accent3>
      <a:accent4>
        <a:srgbClr val="DA3030"/>
      </a:accent4>
      <a:accent5>
        <a:srgbClr val="52AC79"/>
      </a:accent5>
      <a:accent6>
        <a:srgbClr val="E0B945"/>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